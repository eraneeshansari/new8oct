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301" r:id="rId9"/>
    <p:sldId id="265" r:id="rId10"/>
    <p:sldId id="300"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278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yourself and the agenda. This deck covers VPA from concept to enterprise implementation. Estimated time: 45-60 minutes for a full workshop.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fundamental difference: HPA adds pods (scale out), VPA adjusts resources per pod (scale up/right). Both can coexist but need careful configuration to avoid conflicts, especially around CPU-based triggers.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VPA components: 1) Metrics Server gathers actual pod usage. 2) Recommender analyzes and suggests new resource values. 3) Updater evicts pods that need resource changes. 4) Admission Controller injects the new values when pods restart. This is why pods restart when VPA acts.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workload is deliberately extreme — an infinite loop reading from /dev/zero. The 50m CPU request will be completely overwhelmed. VPA will see near-100% CPU utilization vs. the requested 50m and recommend something like 500m-1000m within a few minutes.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VPA with updateMode: Auto will automatically evict and restart pods with new resource values. Show how Target recommendation of 500m CPU is 10x the original 50m request. Emphasize that VPA only controls requests — not limits unless you set them explicitly.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enterprise-grade VPA configuration. minAllowed prevents VPA from under-provisioning below safe thresholds. maxAllowed stops runaway resource usage. For production workloads, always define these bounds. Also consider containerName: '*' to apply to all containers, or list each one explicitly for granular control.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sequence: 1) Deploy cpu-app and VPA. 2) Show oc top pod — CPU usage will be near 100% of one core vs 50m request. 3) Wait 3-5 minutes for Recommender to gather data. 4) oc describe vpa shows recommendations. 5) The Updater evicts pods, Admission Controller injects new values. 6) New pods have higher CPU requests.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E65D9-2E99-2DAE-C132-EA7621686B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DDCFA-71E8-B2D5-9533-31FCEAE5E9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E74FD-F5F1-3AA8-6DD5-21418D05B5D7}"/>
              </a:ext>
            </a:extLst>
          </p:cNvPr>
          <p:cNvSpPr>
            <a:spLocks noGrp="1"/>
          </p:cNvSpPr>
          <p:nvPr>
            <p:ph type="body" idx="1"/>
          </p:nvPr>
        </p:nvSpPr>
        <p:spPr/>
        <p:txBody>
          <a:bodyPr/>
          <a:lstStyle/>
          <a:p>
            <a:r>
              <a:rPr lang="en-US" dirty="0"/>
              <a:t>Live demo sequence: 1) Deploy cpu-app and VPA. 2) Show oc top pod — CPU usage will be near 100% of one core vs 50m request. 3) Wait 3-5 minutes for Recommender to gather data. 4) oc describe vpa shows recommendations. 5) The Updater evicts pods, Admission Controller injects new values. 6) New pods have higher CPU requests.</a:t>
            </a:r>
          </a:p>
        </p:txBody>
      </p:sp>
      <p:sp>
        <p:nvSpPr>
          <p:cNvPr id="4" name="Slide Number Placeholder 3">
            <a:extLst>
              <a:ext uri="{FF2B5EF4-FFF2-40B4-BE49-F238E27FC236}">
                <a16:creationId xmlns:a16="http://schemas.microsoft.com/office/drawing/2014/main" id="{27D67087-B3FD-E8C5-52C4-F5D49F18F5D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75475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Invite questions. Offer to share the deck and YAML files. Suggest next steps: 1) Try VPA in Off mode in their own cluster. 2) Set up Prometheus metrics for VPA. 3) Review Cluster Autoscaler integration. 4) Explore VPA with StatefulSets and DaemonSets.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129406" y="1547531"/>
            <a:ext cx="6885189" cy="1107996"/>
          </a:xfrm>
        </p:spPr>
        <p:txBody>
          <a:bodyPr lIns="0" tIns="0" rIns="0" bIns="0"/>
          <a:lstStyle>
            <a:lvl1pPr>
              <a:defRPr sz="7200" b="1" i="0">
                <a:solidFill>
                  <a:schemeClr val="bg1"/>
                </a:solidFill>
                <a:latin typeface="Arial"/>
                <a:cs typeface="Arial"/>
              </a:defRPr>
            </a:lvl1pPr>
          </a:lstStyle>
          <a:p>
            <a:endParaRPr/>
          </a:p>
        </p:txBody>
      </p:sp>
      <p:sp>
        <p:nvSpPr>
          <p:cNvPr id="3" name="Holder 3"/>
          <p:cNvSpPr>
            <a:spLocks noGrp="1"/>
          </p:cNvSpPr>
          <p:nvPr>
            <p:ph sz="half" idx="2"/>
          </p:nvPr>
        </p:nvSpPr>
        <p:spPr>
          <a:xfrm>
            <a:off x="457200" y="1183006"/>
            <a:ext cx="397764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65288" y="1264028"/>
            <a:ext cx="3317875" cy="276999"/>
          </a:xfrm>
          <a:prstGeom prst="rect">
            <a:avLst/>
          </a:prstGeom>
        </p:spPr>
        <p:txBody>
          <a:bodyPr wrap="square" lIns="0" tIns="0" rIns="0" bIns="0">
            <a:spAutoFit/>
          </a:bodyPr>
          <a:lstStyle>
            <a:lvl1pPr>
              <a:defRPr sz="1800" b="0" i="0">
                <a:solidFill>
                  <a:srgbClr val="1154CC"/>
                </a:solidFill>
                <a:latin typeface="Courier New"/>
                <a:cs typeface="Courier New"/>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5/18/2026</a:t>
            </a:fld>
            <a:endParaRPr lang="en-US" dirty="0">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dirty="0">
              <a:solidFill>
                <a:prstClr val="black">
                  <a:tint val="75000"/>
                </a:prstClr>
              </a:solidFill>
            </a:endParaRPr>
          </a:p>
        </p:txBody>
      </p:sp>
    </p:spTree>
    <p:extLst>
      <p:ext uri="{BB962C8B-B14F-4D97-AF65-F5344CB8AC3E}">
        <p14:creationId xmlns:p14="http://schemas.microsoft.com/office/powerpoint/2010/main" val="27935829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5.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a:effectLst/>
      </p:bgPr>
    </p:bg>
    <p:spTree>
      <p:nvGrpSpPr>
        <p:cNvPr id="1" name=""/>
        <p:cNvGrpSpPr/>
        <p:nvPr/>
      </p:nvGrpSpPr>
      <p:grpSpPr>
        <a:xfrm>
          <a:off x="0" y="0"/>
          <a:ext cx="0" cy="0"/>
          <a:chOff x="0" y="0"/>
          <a:chExt cx="0" cy="0"/>
        </a:xfrm>
      </p:grpSpPr>
      <p:sp>
        <p:nvSpPr>
          <p:cNvPr id="2" name="Shape 0"/>
          <p:cNvSpPr/>
          <p:nvPr/>
        </p:nvSpPr>
        <p:spPr>
          <a:xfrm>
            <a:off x="0" y="0"/>
            <a:ext cx="5029200" cy="5143500"/>
          </a:xfrm>
          <a:prstGeom prst="rect">
            <a:avLst/>
          </a:prstGeom>
          <a:solidFill>
            <a:srgbClr val="111111"/>
          </a:solidFill>
          <a:ln/>
        </p:spPr>
        <p:txBody>
          <a:bodyPr/>
          <a:lstStyle/>
          <a:p>
            <a:endParaRPr lang="en-US"/>
          </a:p>
        </p:txBody>
      </p:sp>
      <p:sp>
        <p:nvSpPr>
          <p:cNvPr id="3" name="Shape 1"/>
          <p:cNvSpPr/>
          <p:nvPr/>
        </p:nvSpPr>
        <p:spPr>
          <a:xfrm>
            <a:off x="0" y="0"/>
            <a:ext cx="164592" cy="5143500"/>
          </a:xfrm>
          <a:prstGeom prst="rect">
            <a:avLst/>
          </a:prstGeom>
          <a:solidFill>
            <a:srgbClr val="CC0000"/>
          </a:solidFill>
          <a:ln/>
        </p:spPr>
        <p:txBody>
          <a:bodyPr/>
          <a:lstStyle/>
          <a:p>
            <a:endParaRPr lang="en-US"/>
          </a:p>
        </p:txBody>
      </p:sp>
      <p:sp>
        <p:nvSpPr>
          <p:cNvPr id="4" name="Shape 2"/>
          <p:cNvSpPr/>
          <p:nvPr/>
        </p:nvSpPr>
        <p:spPr>
          <a:xfrm>
            <a:off x="5303520" y="27432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5" name="Shape 3"/>
          <p:cNvSpPr/>
          <p:nvPr/>
        </p:nvSpPr>
        <p:spPr>
          <a:xfrm>
            <a:off x="5806440" y="27432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6" name="Shape 4"/>
          <p:cNvSpPr/>
          <p:nvPr/>
        </p:nvSpPr>
        <p:spPr>
          <a:xfrm>
            <a:off x="6309360" y="27432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7" name="Shape 5"/>
          <p:cNvSpPr/>
          <p:nvPr/>
        </p:nvSpPr>
        <p:spPr>
          <a:xfrm>
            <a:off x="6812280" y="27432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8" name="Shape 6"/>
          <p:cNvSpPr/>
          <p:nvPr/>
        </p:nvSpPr>
        <p:spPr>
          <a:xfrm>
            <a:off x="7315200" y="27432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9" name="Shape 7"/>
          <p:cNvSpPr/>
          <p:nvPr/>
        </p:nvSpPr>
        <p:spPr>
          <a:xfrm>
            <a:off x="7818120" y="27432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10" name="Shape 8"/>
          <p:cNvSpPr/>
          <p:nvPr/>
        </p:nvSpPr>
        <p:spPr>
          <a:xfrm>
            <a:off x="8321040" y="27432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11" name="Shape 9"/>
          <p:cNvSpPr/>
          <p:nvPr/>
        </p:nvSpPr>
        <p:spPr>
          <a:xfrm>
            <a:off x="8823960" y="27432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12" name="Shape 10"/>
          <p:cNvSpPr/>
          <p:nvPr/>
        </p:nvSpPr>
        <p:spPr>
          <a:xfrm>
            <a:off x="5303520" y="1078992"/>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13" name="Shape 11"/>
          <p:cNvSpPr/>
          <p:nvPr/>
        </p:nvSpPr>
        <p:spPr>
          <a:xfrm>
            <a:off x="5806440" y="1078992"/>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14" name="Shape 12"/>
          <p:cNvSpPr/>
          <p:nvPr/>
        </p:nvSpPr>
        <p:spPr>
          <a:xfrm>
            <a:off x="6309360" y="1078992"/>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15" name="Shape 13"/>
          <p:cNvSpPr/>
          <p:nvPr/>
        </p:nvSpPr>
        <p:spPr>
          <a:xfrm>
            <a:off x="6812280" y="1078992"/>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16" name="Shape 14"/>
          <p:cNvSpPr/>
          <p:nvPr/>
        </p:nvSpPr>
        <p:spPr>
          <a:xfrm>
            <a:off x="7315200" y="1078992"/>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17" name="Shape 15"/>
          <p:cNvSpPr/>
          <p:nvPr/>
        </p:nvSpPr>
        <p:spPr>
          <a:xfrm>
            <a:off x="7818120" y="1078992"/>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18" name="Shape 16"/>
          <p:cNvSpPr/>
          <p:nvPr/>
        </p:nvSpPr>
        <p:spPr>
          <a:xfrm>
            <a:off x="8321040" y="1078992"/>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19" name="Shape 17"/>
          <p:cNvSpPr/>
          <p:nvPr/>
        </p:nvSpPr>
        <p:spPr>
          <a:xfrm>
            <a:off x="8823960" y="1078992"/>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20" name="Shape 18"/>
          <p:cNvSpPr/>
          <p:nvPr/>
        </p:nvSpPr>
        <p:spPr>
          <a:xfrm>
            <a:off x="5303520" y="1883664"/>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21" name="Shape 19"/>
          <p:cNvSpPr/>
          <p:nvPr/>
        </p:nvSpPr>
        <p:spPr>
          <a:xfrm>
            <a:off x="5806440" y="1883664"/>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22" name="Shape 20"/>
          <p:cNvSpPr/>
          <p:nvPr/>
        </p:nvSpPr>
        <p:spPr>
          <a:xfrm>
            <a:off x="6309360" y="1883664"/>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23" name="Shape 21"/>
          <p:cNvSpPr/>
          <p:nvPr/>
        </p:nvSpPr>
        <p:spPr>
          <a:xfrm>
            <a:off x="6812280" y="1883664"/>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24" name="Shape 22"/>
          <p:cNvSpPr/>
          <p:nvPr/>
        </p:nvSpPr>
        <p:spPr>
          <a:xfrm>
            <a:off x="7315200" y="1883664"/>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25" name="Shape 23"/>
          <p:cNvSpPr/>
          <p:nvPr/>
        </p:nvSpPr>
        <p:spPr>
          <a:xfrm>
            <a:off x="7818120" y="1883664"/>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26" name="Shape 24"/>
          <p:cNvSpPr/>
          <p:nvPr/>
        </p:nvSpPr>
        <p:spPr>
          <a:xfrm>
            <a:off x="8321040" y="1883664"/>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27" name="Shape 25"/>
          <p:cNvSpPr/>
          <p:nvPr/>
        </p:nvSpPr>
        <p:spPr>
          <a:xfrm>
            <a:off x="8823960" y="1883664"/>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28" name="Shape 26"/>
          <p:cNvSpPr/>
          <p:nvPr/>
        </p:nvSpPr>
        <p:spPr>
          <a:xfrm>
            <a:off x="5303520" y="2688336"/>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29" name="Shape 27"/>
          <p:cNvSpPr/>
          <p:nvPr/>
        </p:nvSpPr>
        <p:spPr>
          <a:xfrm>
            <a:off x="5806440" y="2688336"/>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30" name="Shape 28"/>
          <p:cNvSpPr/>
          <p:nvPr/>
        </p:nvSpPr>
        <p:spPr>
          <a:xfrm>
            <a:off x="6309360" y="2688336"/>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31" name="Shape 29"/>
          <p:cNvSpPr/>
          <p:nvPr/>
        </p:nvSpPr>
        <p:spPr>
          <a:xfrm>
            <a:off x="6812280" y="2688336"/>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32" name="Shape 30"/>
          <p:cNvSpPr/>
          <p:nvPr/>
        </p:nvSpPr>
        <p:spPr>
          <a:xfrm>
            <a:off x="7315200" y="2688336"/>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33" name="Shape 31"/>
          <p:cNvSpPr/>
          <p:nvPr/>
        </p:nvSpPr>
        <p:spPr>
          <a:xfrm>
            <a:off x="7818120" y="2688336"/>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34" name="Shape 32"/>
          <p:cNvSpPr/>
          <p:nvPr/>
        </p:nvSpPr>
        <p:spPr>
          <a:xfrm>
            <a:off x="8321040" y="2688336"/>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35" name="Shape 33"/>
          <p:cNvSpPr/>
          <p:nvPr/>
        </p:nvSpPr>
        <p:spPr>
          <a:xfrm>
            <a:off x="8823960" y="2688336"/>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36" name="Shape 34"/>
          <p:cNvSpPr/>
          <p:nvPr/>
        </p:nvSpPr>
        <p:spPr>
          <a:xfrm>
            <a:off x="5303520" y="3493008"/>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37" name="Shape 35"/>
          <p:cNvSpPr/>
          <p:nvPr/>
        </p:nvSpPr>
        <p:spPr>
          <a:xfrm>
            <a:off x="5806440" y="3493008"/>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38" name="Shape 36"/>
          <p:cNvSpPr/>
          <p:nvPr/>
        </p:nvSpPr>
        <p:spPr>
          <a:xfrm>
            <a:off x="6309360" y="3493008"/>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39" name="Shape 37"/>
          <p:cNvSpPr/>
          <p:nvPr/>
        </p:nvSpPr>
        <p:spPr>
          <a:xfrm>
            <a:off x="6812280" y="3493008"/>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40" name="Shape 38"/>
          <p:cNvSpPr/>
          <p:nvPr/>
        </p:nvSpPr>
        <p:spPr>
          <a:xfrm>
            <a:off x="7315200" y="3493008"/>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41" name="Shape 39"/>
          <p:cNvSpPr/>
          <p:nvPr/>
        </p:nvSpPr>
        <p:spPr>
          <a:xfrm>
            <a:off x="7818120" y="3493008"/>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42" name="Shape 40"/>
          <p:cNvSpPr/>
          <p:nvPr/>
        </p:nvSpPr>
        <p:spPr>
          <a:xfrm>
            <a:off x="8321040" y="3493008"/>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43" name="Shape 41"/>
          <p:cNvSpPr/>
          <p:nvPr/>
        </p:nvSpPr>
        <p:spPr>
          <a:xfrm>
            <a:off x="8823960" y="3493008"/>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44" name="Shape 42"/>
          <p:cNvSpPr/>
          <p:nvPr/>
        </p:nvSpPr>
        <p:spPr>
          <a:xfrm>
            <a:off x="5303520" y="429768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45" name="Shape 43"/>
          <p:cNvSpPr/>
          <p:nvPr/>
        </p:nvSpPr>
        <p:spPr>
          <a:xfrm>
            <a:off x="5806440" y="429768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46" name="Shape 44"/>
          <p:cNvSpPr/>
          <p:nvPr/>
        </p:nvSpPr>
        <p:spPr>
          <a:xfrm>
            <a:off x="6309360" y="429768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47" name="Shape 45"/>
          <p:cNvSpPr/>
          <p:nvPr/>
        </p:nvSpPr>
        <p:spPr>
          <a:xfrm>
            <a:off x="6812280" y="429768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48" name="Shape 46"/>
          <p:cNvSpPr/>
          <p:nvPr/>
        </p:nvSpPr>
        <p:spPr>
          <a:xfrm>
            <a:off x="7315200" y="429768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49" name="Shape 47"/>
          <p:cNvSpPr/>
          <p:nvPr/>
        </p:nvSpPr>
        <p:spPr>
          <a:xfrm>
            <a:off x="7818120" y="429768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50" name="Shape 48"/>
          <p:cNvSpPr/>
          <p:nvPr/>
        </p:nvSpPr>
        <p:spPr>
          <a:xfrm>
            <a:off x="8321040" y="429768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51" name="Shape 49"/>
          <p:cNvSpPr/>
          <p:nvPr/>
        </p:nvSpPr>
        <p:spPr>
          <a:xfrm>
            <a:off x="8823960" y="4297680"/>
            <a:ext cx="54864" cy="54864"/>
          </a:xfrm>
          <a:prstGeom prst="ellipse">
            <a:avLst/>
          </a:prstGeom>
          <a:solidFill>
            <a:srgbClr val="CC0000">
              <a:alpha val="30000"/>
            </a:srgbClr>
          </a:solidFill>
          <a:ln w="12700">
            <a:solidFill>
              <a:srgbClr val="CC0000">
                <a:alpha val="30000"/>
              </a:srgbClr>
            </a:solidFill>
            <a:prstDash val="solid"/>
          </a:ln>
        </p:spPr>
        <p:txBody>
          <a:bodyPr/>
          <a:lstStyle/>
          <a:p>
            <a:endParaRPr lang="en-US"/>
          </a:p>
        </p:txBody>
      </p:sp>
      <p:sp>
        <p:nvSpPr>
          <p:cNvPr id="54" name="Text 51"/>
          <p:cNvSpPr/>
          <p:nvPr/>
        </p:nvSpPr>
        <p:spPr>
          <a:xfrm>
            <a:off x="256032" y="1005840"/>
            <a:ext cx="45720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Vertical Pod</a:t>
            </a:r>
            <a:endParaRPr lang="en-US" sz="3600" dirty="0"/>
          </a:p>
        </p:txBody>
      </p:sp>
      <p:sp>
        <p:nvSpPr>
          <p:cNvPr id="55" name="Text 52"/>
          <p:cNvSpPr/>
          <p:nvPr/>
        </p:nvSpPr>
        <p:spPr>
          <a:xfrm>
            <a:off x="256032" y="1645920"/>
            <a:ext cx="4572000" cy="685800"/>
          </a:xfrm>
          <a:prstGeom prst="rect">
            <a:avLst/>
          </a:prstGeom>
          <a:noFill/>
          <a:ln/>
        </p:spPr>
        <p:txBody>
          <a:bodyPr wrap="square" lIns="0" tIns="0" rIns="0" bIns="0" rtlCol="0" anchor="ctr"/>
          <a:lstStyle/>
          <a:p>
            <a:pPr marL="0" indent="0">
              <a:buNone/>
            </a:pPr>
            <a:r>
              <a:rPr lang="en-US" sz="3600" b="1" dirty="0">
                <a:solidFill>
                  <a:srgbClr val="CC0000"/>
                </a:solidFill>
                <a:latin typeface="Calibri" pitchFamily="34" charset="0"/>
                <a:ea typeface="Calibri" pitchFamily="34" charset="-122"/>
                <a:cs typeface="Calibri" pitchFamily="34" charset="-120"/>
              </a:rPr>
              <a:t>Autoscaler (VPA)</a:t>
            </a:r>
            <a:endParaRPr lang="en-US" sz="3600" dirty="0"/>
          </a:p>
        </p:txBody>
      </p:sp>
      <p:sp>
        <p:nvSpPr>
          <p:cNvPr id="56" name="Text 53"/>
          <p:cNvSpPr/>
          <p:nvPr/>
        </p:nvSpPr>
        <p:spPr>
          <a:xfrm>
            <a:off x="256032" y="2331720"/>
            <a:ext cx="4572000" cy="411480"/>
          </a:xfrm>
          <a:prstGeom prst="rect">
            <a:avLst/>
          </a:prstGeom>
          <a:noFill/>
          <a:ln/>
        </p:spPr>
        <p:txBody>
          <a:bodyPr wrap="square" lIns="0" tIns="0" rIns="0" bIns="0" rtlCol="0" anchor="ctr"/>
          <a:lstStyle/>
          <a:p>
            <a:pPr marL="0" indent="0">
              <a:buNone/>
            </a:pPr>
            <a:r>
              <a:rPr lang="en-US" sz="1600" dirty="0">
                <a:solidFill>
                  <a:srgbClr val="D8D8D8"/>
                </a:solidFill>
                <a:latin typeface="Calibri" pitchFamily="34" charset="0"/>
                <a:ea typeface="Calibri" pitchFamily="34" charset="-122"/>
                <a:cs typeface="Calibri" pitchFamily="34" charset="-120"/>
              </a:rPr>
              <a:t>Step-by-Step Implementation</a:t>
            </a:r>
            <a:endParaRPr lang="en-US" sz="1600" dirty="0"/>
          </a:p>
        </p:txBody>
      </p:sp>
      <p:sp>
        <p:nvSpPr>
          <p:cNvPr id="57" name="Shape 54"/>
          <p:cNvSpPr/>
          <p:nvPr/>
        </p:nvSpPr>
        <p:spPr>
          <a:xfrm>
            <a:off x="256032" y="2816352"/>
            <a:ext cx="1371600" cy="36576"/>
          </a:xfrm>
          <a:prstGeom prst="rect">
            <a:avLst/>
          </a:prstGeom>
          <a:solidFill>
            <a:srgbClr val="CC0000"/>
          </a:solidFill>
          <a:ln/>
        </p:spPr>
        <p:txBody>
          <a:bodyPr/>
          <a:lstStyle/>
          <a:p>
            <a:endParaRPr lang="en-US"/>
          </a:p>
        </p:txBody>
      </p:sp>
      <p:sp>
        <p:nvSpPr>
          <p:cNvPr id="58" name="Text 55"/>
          <p:cNvSpPr/>
          <p:nvPr/>
        </p:nvSpPr>
        <p:spPr>
          <a:xfrm>
            <a:off x="256032" y="2926080"/>
            <a:ext cx="4480560" cy="640080"/>
          </a:xfrm>
          <a:prstGeom prst="rect">
            <a:avLst/>
          </a:prstGeom>
          <a:noFill/>
          <a:ln/>
        </p:spPr>
        <p:txBody>
          <a:bodyPr wrap="square" lIns="0" tIns="0" rIns="0" bIns="0" rtlCol="0" anchor="ctr"/>
          <a:lstStyle/>
          <a:p>
            <a:pPr marL="0" indent="0">
              <a:buNone/>
            </a:pPr>
            <a:r>
              <a:rPr lang="en-US" sz="1200" dirty="0">
                <a:solidFill>
                  <a:srgbClr val="D8D8D8"/>
                </a:solidFill>
                <a:latin typeface="Calibri" pitchFamily="34" charset="0"/>
                <a:ea typeface="Calibri" pitchFamily="34" charset="-122"/>
                <a:cs typeface="Calibri" pitchFamily="34" charset="-120"/>
              </a:rPr>
              <a:t>Enterprise Resource Optimization</a:t>
            </a:r>
            <a:endParaRPr lang="en-US" sz="1200" dirty="0"/>
          </a:p>
          <a:p>
            <a:pPr marL="0" indent="0">
              <a:buNone/>
            </a:pPr>
            <a:r>
              <a:rPr lang="en-US" sz="1200" dirty="0">
                <a:solidFill>
                  <a:srgbClr val="D8D8D8"/>
                </a:solidFill>
                <a:latin typeface="Calibri" pitchFamily="34" charset="0"/>
                <a:ea typeface="Calibri" pitchFamily="34" charset="-122"/>
                <a:cs typeface="Calibri" pitchFamily="34" charset="-120"/>
              </a:rPr>
              <a:t>for OpenShift Workloads</a:t>
            </a:r>
            <a:endParaRPr lang="en-US" sz="1200" dirty="0"/>
          </a:p>
        </p:txBody>
      </p:sp>
      <p:pic>
        <p:nvPicPr>
          <p:cNvPr id="59" name="Image 1" descr="preencoded.png"/>
          <p:cNvPicPr>
            <a:picLocks noChangeAspect="1"/>
          </p:cNvPicPr>
          <p:nvPr/>
        </p:nvPicPr>
        <p:blipFill>
          <a:blip r:embed="rId3"/>
          <a:stretch>
            <a:fillRect/>
          </a:stretch>
        </p:blipFill>
        <p:spPr>
          <a:xfrm>
            <a:off x="256032" y="3794760"/>
            <a:ext cx="457200" cy="457200"/>
          </a:xfrm>
          <a:prstGeom prst="rect">
            <a:avLst/>
          </a:prstGeom>
        </p:spPr>
      </p:pic>
      <p:sp>
        <p:nvSpPr>
          <p:cNvPr id="60" name="Text 56"/>
          <p:cNvSpPr/>
          <p:nvPr/>
        </p:nvSpPr>
        <p:spPr>
          <a:xfrm>
            <a:off x="777240" y="3858768"/>
            <a:ext cx="3840480" cy="320040"/>
          </a:xfrm>
          <a:prstGeom prst="rect">
            <a:avLst/>
          </a:prstGeom>
          <a:noFill/>
          <a:ln/>
        </p:spPr>
        <p:txBody>
          <a:bodyPr wrap="square" lIns="0" tIns="0" rIns="0" bIns="0" rtlCol="0" anchor="ctr"/>
          <a:lstStyle/>
          <a:p>
            <a:pPr marL="0" indent="0">
              <a:buNone/>
            </a:pPr>
            <a:r>
              <a:rPr lang="en-US" sz="1000" dirty="0">
                <a:solidFill>
                  <a:srgbClr val="6B6B6B"/>
                </a:solidFill>
                <a:latin typeface="Calibri" pitchFamily="34" charset="0"/>
                <a:ea typeface="Calibri" pitchFamily="34" charset="-122"/>
                <a:cs typeface="Calibri" pitchFamily="34" charset="-120"/>
              </a:rPr>
              <a:t>OpenShift  |  Kubernetes  |  VPA</a:t>
            </a:r>
            <a:endParaRPr lang="en-US" sz="1000" dirty="0"/>
          </a:p>
        </p:txBody>
      </p:sp>
      <p:sp>
        <p:nvSpPr>
          <p:cNvPr id="61" name="Text 57"/>
          <p:cNvSpPr/>
          <p:nvPr/>
        </p:nvSpPr>
        <p:spPr>
          <a:xfrm>
            <a:off x="5303520" y="274320"/>
            <a:ext cx="3566160" cy="365760"/>
          </a:xfrm>
          <a:prstGeom prst="rect">
            <a:avLst/>
          </a:prstGeom>
          <a:noFill/>
          <a:ln/>
        </p:spPr>
        <p:txBody>
          <a:bodyPr wrap="square" lIns="0" tIns="0" rIns="0" bIns="0" rtlCol="0" anchor="ctr"/>
          <a:lstStyle/>
          <a:p>
            <a:pPr marL="0" indent="0">
              <a:buNone/>
            </a:pPr>
            <a:r>
              <a:rPr lang="en-US" sz="1300" b="1" kern="0" spc="300" dirty="0">
                <a:solidFill>
                  <a:srgbClr val="CC0000"/>
                </a:solidFill>
                <a:latin typeface="Calibri" pitchFamily="34" charset="0"/>
                <a:ea typeface="Calibri" pitchFamily="34" charset="-122"/>
                <a:cs typeface="Calibri" pitchFamily="34" charset="-120"/>
              </a:rPr>
              <a:t>AGENDA</a:t>
            </a:r>
            <a:endParaRPr lang="en-US" sz="1300" dirty="0"/>
          </a:p>
        </p:txBody>
      </p:sp>
      <p:sp>
        <p:nvSpPr>
          <p:cNvPr id="62" name="Shape 58"/>
          <p:cNvSpPr/>
          <p:nvPr/>
        </p:nvSpPr>
        <p:spPr>
          <a:xfrm>
            <a:off x="5303520" y="658368"/>
            <a:ext cx="3566160" cy="27432"/>
          </a:xfrm>
          <a:prstGeom prst="rect">
            <a:avLst/>
          </a:prstGeom>
          <a:solidFill>
            <a:srgbClr val="3A3A3A"/>
          </a:solidFill>
          <a:ln/>
        </p:spPr>
        <p:txBody>
          <a:bodyPr/>
          <a:lstStyle/>
          <a:p>
            <a:endParaRPr lang="en-US"/>
          </a:p>
        </p:txBody>
      </p:sp>
      <p:sp>
        <p:nvSpPr>
          <p:cNvPr id="63" name="Shape 59"/>
          <p:cNvSpPr/>
          <p:nvPr/>
        </p:nvSpPr>
        <p:spPr>
          <a:xfrm>
            <a:off x="5303520" y="777240"/>
            <a:ext cx="3566160" cy="475488"/>
          </a:xfrm>
          <a:prstGeom prst="rect">
            <a:avLst/>
          </a:prstGeom>
          <a:solidFill>
            <a:srgbClr val="252525"/>
          </a:solidFill>
          <a:ln w="6350">
            <a:solidFill>
              <a:srgbClr val="333333"/>
            </a:solidFill>
            <a:prstDash val="solid"/>
          </a:ln>
        </p:spPr>
        <p:txBody>
          <a:bodyPr/>
          <a:lstStyle/>
          <a:p>
            <a:endParaRPr lang="en-US"/>
          </a:p>
        </p:txBody>
      </p:sp>
      <p:sp>
        <p:nvSpPr>
          <p:cNvPr id="64" name="Shape 60"/>
          <p:cNvSpPr/>
          <p:nvPr/>
        </p:nvSpPr>
        <p:spPr>
          <a:xfrm>
            <a:off x="5303520" y="777240"/>
            <a:ext cx="54864" cy="475488"/>
          </a:xfrm>
          <a:prstGeom prst="rect">
            <a:avLst/>
          </a:prstGeom>
          <a:solidFill>
            <a:srgbClr val="CC0000"/>
          </a:solidFill>
          <a:ln/>
        </p:spPr>
        <p:txBody>
          <a:bodyPr/>
          <a:lstStyle/>
          <a:p>
            <a:endParaRPr lang="en-US"/>
          </a:p>
        </p:txBody>
      </p:sp>
      <p:sp>
        <p:nvSpPr>
          <p:cNvPr id="65" name="Text 61"/>
          <p:cNvSpPr/>
          <p:nvPr/>
        </p:nvSpPr>
        <p:spPr>
          <a:xfrm>
            <a:off x="5440680" y="822960"/>
            <a:ext cx="33375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01  What is VPA? HPA vs VPA</a:t>
            </a:r>
            <a:endParaRPr lang="en-US" sz="1050" dirty="0"/>
          </a:p>
        </p:txBody>
      </p:sp>
      <p:sp>
        <p:nvSpPr>
          <p:cNvPr id="66" name="Shape 62"/>
          <p:cNvSpPr/>
          <p:nvPr/>
        </p:nvSpPr>
        <p:spPr>
          <a:xfrm>
            <a:off x="5303520" y="1307592"/>
            <a:ext cx="3566160" cy="475488"/>
          </a:xfrm>
          <a:prstGeom prst="rect">
            <a:avLst/>
          </a:prstGeom>
          <a:solidFill>
            <a:srgbClr val="1E1E1E"/>
          </a:solidFill>
          <a:ln w="6350">
            <a:solidFill>
              <a:srgbClr val="333333"/>
            </a:solidFill>
            <a:prstDash val="solid"/>
          </a:ln>
        </p:spPr>
        <p:txBody>
          <a:bodyPr/>
          <a:lstStyle/>
          <a:p>
            <a:endParaRPr lang="en-US"/>
          </a:p>
        </p:txBody>
      </p:sp>
      <p:sp>
        <p:nvSpPr>
          <p:cNvPr id="67" name="Shape 63"/>
          <p:cNvSpPr/>
          <p:nvPr/>
        </p:nvSpPr>
        <p:spPr>
          <a:xfrm>
            <a:off x="5303520" y="1307592"/>
            <a:ext cx="54864" cy="475488"/>
          </a:xfrm>
          <a:prstGeom prst="rect">
            <a:avLst/>
          </a:prstGeom>
          <a:solidFill>
            <a:srgbClr val="CC0000"/>
          </a:solidFill>
          <a:ln/>
        </p:spPr>
        <p:txBody>
          <a:bodyPr/>
          <a:lstStyle/>
          <a:p>
            <a:endParaRPr lang="en-US"/>
          </a:p>
        </p:txBody>
      </p:sp>
      <p:sp>
        <p:nvSpPr>
          <p:cNvPr id="68" name="Text 64"/>
          <p:cNvSpPr/>
          <p:nvPr/>
        </p:nvSpPr>
        <p:spPr>
          <a:xfrm>
            <a:off x="5440680" y="1353312"/>
            <a:ext cx="33375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02  VPA Architecture &amp; Components</a:t>
            </a:r>
            <a:endParaRPr lang="en-US" sz="1050" dirty="0"/>
          </a:p>
        </p:txBody>
      </p:sp>
      <p:sp>
        <p:nvSpPr>
          <p:cNvPr id="69" name="Shape 65"/>
          <p:cNvSpPr/>
          <p:nvPr/>
        </p:nvSpPr>
        <p:spPr>
          <a:xfrm>
            <a:off x="5303520" y="1837944"/>
            <a:ext cx="3566160" cy="475488"/>
          </a:xfrm>
          <a:prstGeom prst="rect">
            <a:avLst/>
          </a:prstGeom>
          <a:solidFill>
            <a:srgbClr val="252525"/>
          </a:solidFill>
          <a:ln w="6350">
            <a:solidFill>
              <a:srgbClr val="333333"/>
            </a:solidFill>
            <a:prstDash val="solid"/>
          </a:ln>
        </p:spPr>
        <p:txBody>
          <a:bodyPr/>
          <a:lstStyle/>
          <a:p>
            <a:endParaRPr lang="en-US"/>
          </a:p>
        </p:txBody>
      </p:sp>
      <p:sp>
        <p:nvSpPr>
          <p:cNvPr id="70" name="Shape 66"/>
          <p:cNvSpPr/>
          <p:nvPr/>
        </p:nvSpPr>
        <p:spPr>
          <a:xfrm>
            <a:off x="5303520" y="1837944"/>
            <a:ext cx="54864" cy="475488"/>
          </a:xfrm>
          <a:prstGeom prst="rect">
            <a:avLst/>
          </a:prstGeom>
          <a:solidFill>
            <a:srgbClr val="CC0000"/>
          </a:solidFill>
          <a:ln/>
        </p:spPr>
        <p:txBody>
          <a:bodyPr/>
          <a:lstStyle/>
          <a:p>
            <a:endParaRPr lang="en-US"/>
          </a:p>
        </p:txBody>
      </p:sp>
      <p:sp>
        <p:nvSpPr>
          <p:cNvPr id="71" name="Text 67"/>
          <p:cNvSpPr/>
          <p:nvPr/>
        </p:nvSpPr>
        <p:spPr>
          <a:xfrm>
            <a:off x="5440680" y="1883664"/>
            <a:ext cx="33375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03  Demo Deployment YAML</a:t>
            </a:r>
            <a:endParaRPr lang="en-US" sz="1050" dirty="0"/>
          </a:p>
        </p:txBody>
      </p:sp>
      <p:sp>
        <p:nvSpPr>
          <p:cNvPr id="72" name="Shape 68"/>
          <p:cNvSpPr/>
          <p:nvPr/>
        </p:nvSpPr>
        <p:spPr>
          <a:xfrm>
            <a:off x="5303520" y="2368296"/>
            <a:ext cx="3566160" cy="475488"/>
          </a:xfrm>
          <a:prstGeom prst="rect">
            <a:avLst/>
          </a:prstGeom>
          <a:solidFill>
            <a:srgbClr val="1E1E1E"/>
          </a:solidFill>
          <a:ln w="6350">
            <a:solidFill>
              <a:srgbClr val="333333"/>
            </a:solidFill>
            <a:prstDash val="solid"/>
          </a:ln>
        </p:spPr>
        <p:txBody>
          <a:bodyPr/>
          <a:lstStyle/>
          <a:p>
            <a:endParaRPr lang="en-US"/>
          </a:p>
        </p:txBody>
      </p:sp>
      <p:sp>
        <p:nvSpPr>
          <p:cNvPr id="73" name="Shape 69"/>
          <p:cNvSpPr/>
          <p:nvPr/>
        </p:nvSpPr>
        <p:spPr>
          <a:xfrm>
            <a:off x="5303520" y="2368296"/>
            <a:ext cx="54864" cy="475488"/>
          </a:xfrm>
          <a:prstGeom prst="rect">
            <a:avLst/>
          </a:prstGeom>
          <a:solidFill>
            <a:srgbClr val="CC0000"/>
          </a:solidFill>
          <a:ln/>
        </p:spPr>
        <p:txBody>
          <a:bodyPr/>
          <a:lstStyle/>
          <a:p>
            <a:endParaRPr lang="en-US"/>
          </a:p>
        </p:txBody>
      </p:sp>
      <p:sp>
        <p:nvSpPr>
          <p:cNvPr id="74" name="Text 70"/>
          <p:cNvSpPr/>
          <p:nvPr/>
        </p:nvSpPr>
        <p:spPr>
          <a:xfrm>
            <a:off x="5440680" y="2414016"/>
            <a:ext cx="33375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04  Basic VPA Configuration</a:t>
            </a:r>
            <a:endParaRPr lang="en-US" sz="1050" dirty="0"/>
          </a:p>
        </p:txBody>
      </p:sp>
      <p:sp>
        <p:nvSpPr>
          <p:cNvPr id="75" name="Shape 71"/>
          <p:cNvSpPr/>
          <p:nvPr/>
        </p:nvSpPr>
        <p:spPr>
          <a:xfrm>
            <a:off x="5303520" y="2898648"/>
            <a:ext cx="3566160" cy="475488"/>
          </a:xfrm>
          <a:prstGeom prst="rect">
            <a:avLst/>
          </a:prstGeom>
          <a:solidFill>
            <a:srgbClr val="252525"/>
          </a:solidFill>
          <a:ln w="6350">
            <a:solidFill>
              <a:srgbClr val="333333"/>
            </a:solidFill>
            <a:prstDash val="solid"/>
          </a:ln>
        </p:spPr>
        <p:txBody>
          <a:bodyPr/>
          <a:lstStyle/>
          <a:p>
            <a:endParaRPr lang="en-US"/>
          </a:p>
        </p:txBody>
      </p:sp>
      <p:sp>
        <p:nvSpPr>
          <p:cNvPr id="76" name="Shape 72"/>
          <p:cNvSpPr/>
          <p:nvPr/>
        </p:nvSpPr>
        <p:spPr>
          <a:xfrm>
            <a:off x="5303520" y="2898648"/>
            <a:ext cx="54864" cy="475488"/>
          </a:xfrm>
          <a:prstGeom prst="rect">
            <a:avLst/>
          </a:prstGeom>
          <a:solidFill>
            <a:srgbClr val="CC0000"/>
          </a:solidFill>
          <a:ln/>
        </p:spPr>
        <p:txBody>
          <a:bodyPr/>
          <a:lstStyle/>
          <a:p>
            <a:endParaRPr lang="en-US"/>
          </a:p>
        </p:txBody>
      </p:sp>
      <p:sp>
        <p:nvSpPr>
          <p:cNvPr id="77" name="Text 73"/>
          <p:cNvSpPr/>
          <p:nvPr/>
        </p:nvSpPr>
        <p:spPr>
          <a:xfrm>
            <a:off x="5440680" y="2944368"/>
            <a:ext cx="33375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05  Advanced Resource Policy</a:t>
            </a:r>
            <a:endParaRPr lang="en-US" sz="1050" dirty="0"/>
          </a:p>
        </p:txBody>
      </p:sp>
      <p:sp>
        <p:nvSpPr>
          <p:cNvPr id="78" name="Shape 74"/>
          <p:cNvSpPr/>
          <p:nvPr/>
        </p:nvSpPr>
        <p:spPr>
          <a:xfrm>
            <a:off x="5303520" y="3429000"/>
            <a:ext cx="3566160" cy="475488"/>
          </a:xfrm>
          <a:prstGeom prst="rect">
            <a:avLst/>
          </a:prstGeom>
          <a:solidFill>
            <a:srgbClr val="1E1E1E"/>
          </a:solidFill>
          <a:ln w="6350">
            <a:solidFill>
              <a:srgbClr val="333333"/>
            </a:solidFill>
            <a:prstDash val="solid"/>
          </a:ln>
        </p:spPr>
        <p:txBody>
          <a:bodyPr/>
          <a:lstStyle/>
          <a:p>
            <a:endParaRPr lang="en-US"/>
          </a:p>
        </p:txBody>
      </p:sp>
      <p:sp>
        <p:nvSpPr>
          <p:cNvPr id="79" name="Shape 75"/>
          <p:cNvSpPr/>
          <p:nvPr/>
        </p:nvSpPr>
        <p:spPr>
          <a:xfrm>
            <a:off x="5303520" y="3429000"/>
            <a:ext cx="54864" cy="475488"/>
          </a:xfrm>
          <a:prstGeom prst="rect">
            <a:avLst/>
          </a:prstGeom>
          <a:solidFill>
            <a:srgbClr val="CC0000"/>
          </a:solidFill>
          <a:ln/>
        </p:spPr>
        <p:txBody>
          <a:bodyPr/>
          <a:lstStyle/>
          <a:p>
            <a:endParaRPr lang="en-US"/>
          </a:p>
        </p:txBody>
      </p:sp>
      <p:sp>
        <p:nvSpPr>
          <p:cNvPr id="80" name="Text 76"/>
          <p:cNvSpPr/>
          <p:nvPr/>
        </p:nvSpPr>
        <p:spPr>
          <a:xfrm>
            <a:off x="5440680" y="3474720"/>
            <a:ext cx="33375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06  Step-by-Step Demo Commands</a:t>
            </a:r>
            <a:endParaRPr lang="en-US" sz="1050" dirty="0"/>
          </a:p>
        </p:txBody>
      </p:sp>
      <p:sp>
        <p:nvSpPr>
          <p:cNvPr id="81" name="Shape 77"/>
          <p:cNvSpPr/>
          <p:nvPr/>
        </p:nvSpPr>
        <p:spPr>
          <a:xfrm>
            <a:off x="5303520" y="3959352"/>
            <a:ext cx="3566160" cy="475488"/>
          </a:xfrm>
          <a:prstGeom prst="rect">
            <a:avLst/>
          </a:prstGeom>
          <a:solidFill>
            <a:srgbClr val="252525"/>
          </a:solidFill>
          <a:ln w="6350">
            <a:solidFill>
              <a:srgbClr val="333333"/>
            </a:solidFill>
            <a:prstDash val="solid"/>
          </a:ln>
        </p:spPr>
        <p:txBody>
          <a:bodyPr/>
          <a:lstStyle/>
          <a:p>
            <a:endParaRPr lang="en-US"/>
          </a:p>
        </p:txBody>
      </p:sp>
      <p:sp>
        <p:nvSpPr>
          <p:cNvPr id="82" name="Shape 78"/>
          <p:cNvSpPr/>
          <p:nvPr/>
        </p:nvSpPr>
        <p:spPr>
          <a:xfrm>
            <a:off x="5303520" y="3959352"/>
            <a:ext cx="54864" cy="475488"/>
          </a:xfrm>
          <a:prstGeom prst="rect">
            <a:avLst/>
          </a:prstGeom>
          <a:solidFill>
            <a:srgbClr val="CC0000"/>
          </a:solidFill>
          <a:ln/>
        </p:spPr>
        <p:txBody>
          <a:bodyPr/>
          <a:lstStyle/>
          <a:p>
            <a:endParaRPr lang="en-US"/>
          </a:p>
        </p:txBody>
      </p:sp>
      <p:sp>
        <p:nvSpPr>
          <p:cNvPr id="83" name="Text 79"/>
          <p:cNvSpPr/>
          <p:nvPr/>
        </p:nvSpPr>
        <p:spPr>
          <a:xfrm>
            <a:off x="5440680" y="4005072"/>
            <a:ext cx="33375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07  Monitoring &amp; Best Practices</a:t>
            </a:r>
            <a:endParaRPr lang="en-US" sz="1050" dirty="0"/>
          </a:p>
        </p:txBody>
      </p:sp>
      <p:sp>
        <p:nvSpPr>
          <p:cNvPr id="84" name="Shape 80"/>
          <p:cNvSpPr/>
          <p:nvPr/>
        </p:nvSpPr>
        <p:spPr>
          <a:xfrm>
            <a:off x="5303520" y="4489704"/>
            <a:ext cx="3566160" cy="475488"/>
          </a:xfrm>
          <a:prstGeom prst="rect">
            <a:avLst/>
          </a:prstGeom>
          <a:solidFill>
            <a:srgbClr val="1E1E1E"/>
          </a:solidFill>
          <a:ln w="6350">
            <a:solidFill>
              <a:srgbClr val="333333"/>
            </a:solidFill>
            <a:prstDash val="solid"/>
          </a:ln>
        </p:spPr>
        <p:txBody>
          <a:bodyPr/>
          <a:lstStyle/>
          <a:p>
            <a:endParaRPr lang="en-US"/>
          </a:p>
        </p:txBody>
      </p:sp>
      <p:sp>
        <p:nvSpPr>
          <p:cNvPr id="85" name="Shape 81"/>
          <p:cNvSpPr/>
          <p:nvPr/>
        </p:nvSpPr>
        <p:spPr>
          <a:xfrm>
            <a:off x="5303520" y="4489704"/>
            <a:ext cx="54864" cy="475488"/>
          </a:xfrm>
          <a:prstGeom prst="rect">
            <a:avLst/>
          </a:prstGeom>
          <a:solidFill>
            <a:srgbClr val="CC0000"/>
          </a:solidFill>
          <a:ln/>
        </p:spPr>
        <p:txBody>
          <a:bodyPr/>
          <a:lstStyle/>
          <a:p>
            <a:endParaRPr lang="en-US"/>
          </a:p>
        </p:txBody>
      </p:sp>
      <p:sp>
        <p:nvSpPr>
          <p:cNvPr id="86" name="Text 82"/>
          <p:cNvSpPr/>
          <p:nvPr/>
        </p:nvSpPr>
        <p:spPr>
          <a:xfrm>
            <a:off x="5440680" y="4535424"/>
            <a:ext cx="33375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08  Enterprise Architecture &amp; Q&amp;A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E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11111"/>
          </a:solidFill>
          <a:ln/>
        </p:spPr>
        <p:txBody>
          <a:bodyPr/>
          <a:lstStyle/>
          <a:p>
            <a:endParaRPr lang="en-US"/>
          </a:p>
        </p:txBody>
      </p:sp>
      <p:sp>
        <p:nvSpPr>
          <p:cNvPr id="3" name="Shape 1"/>
          <p:cNvSpPr/>
          <p:nvPr/>
        </p:nvSpPr>
        <p:spPr>
          <a:xfrm>
            <a:off x="0" y="0"/>
            <a:ext cx="9144000" cy="54864"/>
          </a:xfrm>
          <a:prstGeom prst="rect">
            <a:avLst/>
          </a:prstGeom>
          <a:solidFill>
            <a:srgbClr val="CC0000"/>
          </a:solidFill>
          <a:ln/>
        </p:spPr>
        <p:txBody>
          <a:bodyPr/>
          <a:lstStyle/>
          <a:p>
            <a:endParaRPr lang="en-US"/>
          </a:p>
        </p:txBody>
      </p:sp>
      <p:sp>
        <p:nvSpPr>
          <p:cNvPr id="4" name="Text 2"/>
          <p:cNvSpPr/>
          <p:nvPr/>
        </p:nvSpPr>
        <p:spPr>
          <a:xfrm>
            <a:off x="274320" y="109728"/>
            <a:ext cx="5486400" cy="384048"/>
          </a:xfrm>
          <a:prstGeom prst="rect">
            <a:avLst/>
          </a:prstGeom>
          <a:noFill/>
          <a:ln/>
        </p:spPr>
        <p:txBody>
          <a:bodyPr wrap="square" lIns="0" tIns="0" rIns="0" bIns="0" rtlCol="0" anchor="ctr"/>
          <a:lstStyle/>
          <a:p>
            <a:pPr marL="0" indent="0">
              <a:buNone/>
            </a:pPr>
            <a:r>
              <a:rPr lang="en-US" sz="1800" b="1" kern="0" spc="200" dirty="0">
                <a:solidFill>
                  <a:srgbClr val="FFFFFF"/>
                </a:solidFill>
                <a:latin typeface="Calibri" pitchFamily="34" charset="0"/>
                <a:ea typeface="Calibri" pitchFamily="34" charset="-122"/>
                <a:cs typeface="Calibri" pitchFamily="34" charset="-120"/>
              </a:rPr>
              <a:t>WHAT IS VPA?</a:t>
            </a:r>
            <a:endParaRPr lang="en-US" sz="1800" dirty="0"/>
          </a:p>
        </p:txBody>
      </p:sp>
      <p:sp>
        <p:nvSpPr>
          <p:cNvPr id="5" name="Text 3"/>
          <p:cNvSpPr/>
          <p:nvPr/>
        </p:nvSpPr>
        <p:spPr>
          <a:xfrm>
            <a:off x="8321040" y="109728"/>
            <a:ext cx="640080" cy="384048"/>
          </a:xfrm>
          <a:prstGeom prst="rect">
            <a:avLst/>
          </a:prstGeom>
          <a:noFill/>
          <a:ln/>
        </p:spPr>
        <p:txBody>
          <a:bodyPr wrap="square" lIns="0" tIns="0" rIns="0" bIns="0" rtlCol="0" anchor="ctr"/>
          <a:lstStyle/>
          <a:p>
            <a:pPr marL="0" indent="0">
              <a:buNone/>
            </a:pPr>
            <a:r>
              <a:rPr lang="en-US" sz="2200" b="1" dirty="0">
                <a:solidFill>
                  <a:srgbClr val="CC0000"/>
                </a:solidFill>
                <a:latin typeface="Calibri" pitchFamily="34" charset="0"/>
                <a:ea typeface="Calibri" pitchFamily="34" charset="-122"/>
                <a:cs typeface="Calibri" pitchFamily="34" charset="-120"/>
              </a:rPr>
              <a:t>02</a:t>
            </a:r>
            <a:endParaRPr lang="en-US" sz="2200" dirty="0"/>
          </a:p>
        </p:txBody>
      </p:sp>
      <p:sp>
        <p:nvSpPr>
          <p:cNvPr id="6" name="Shape 4"/>
          <p:cNvSpPr/>
          <p:nvPr/>
        </p:nvSpPr>
        <p:spPr>
          <a:xfrm>
            <a:off x="274320" y="731520"/>
            <a:ext cx="8595360" cy="777240"/>
          </a:xfrm>
          <a:prstGeom prst="rect">
            <a:avLst/>
          </a:prstGeom>
          <a:solidFill>
            <a:srgbClr val="1A1A1A"/>
          </a:solidFill>
          <a:ln w="19050">
            <a:solidFill>
              <a:srgbClr val="CC000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11480" y="822960"/>
            <a:ext cx="502920" cy="502920"/>
          </a:xfrm>
          <a:prstGeom prst="rect">
            <a:avLst/>
          </a:prstGeom>
        </p:spPr>
      </p:pic>
      <p:sp>
        <p:nvSpPr>
          <p:cNvPr id="8" name="Text 5"/>
          <p:cNvSpPr/>
          <p:nvPr/>
        </p:nvSpPr>
        <p:spPr>
          <a:xfrm>
            <a:off x="1051560" y="804672"/>
            <a:ext cx="7680960" cy="65836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Vertical Pod Autoscaler (VPA) automatically sets CPU and memory requests/limits for containers based on actual usage — eliminating manual resource guessing and over/under-provisioning.</a:t>
            </a:r>
            <a:endParaRPr lang="en-US" sz="1200" dirty="0"/>
          </a:p>
        </p:txBody>
      </p:sp>
      <p:sp>
        <p:nvSpPr>
          <p:cNvPr id="9" name="Text 6"/>
          <p:cNvSpPr/>
          <p:nvPr/>
        </p:nvSpPr>
        <p:spPr>
          <a:xfrm>
            <a:off x="274320" y="1645920"/>
            <a:ext cx="8229600" cy="347472"/>
          </a:xfrm>
          <a:prstGeom prst="rect">
            <a:avLst/>
          </a:prstGeom>
          <a:noFill/>
          <a:ln/>
        </p:spPr>
        <p:txBody>
          <a:bodyPr wrap="square" lIns="0" tIns="0" rIns="0" bIns="0" rtlCol="0" anchor="ctr"/>
          <a:lstStyle/>
          <a:p>
            <a:pPr marL="0" indent="0">
              <a:buNone/>
            </a:pPr>
            <a:r>
              <a:rPr lang="en-US" sz="1400" b="1" dirty="0">
                <a:solidFill>
                  <a:srgbClr val="D8D8D8"/>
                </a:solidFill>
                <a:latin typeface="Calibri" pitchFamily="34" charset="0"/>
                <a:ea typeface="Calibri" pitchFamily="34" charset="-122"/>
                <a:cs typeface="Calibri" pitchFamily="34" charset="-120"/>
              </a:rPr>
              <a:t>HPA vs VPA – Key Differences</a:t>
            </a:r>
            <a:endParaRPr lang="en-US" sz="1400" dirty="0"/>
          </a:p>
        </p:txBody>
      </p:sp>
      <p:sp>
        <p:nvSpPr>
          <p:cNvPr id="10" name="Shape 7"/>
          <p:cNvSpPr/>
          <p:nvPr/>
        </p:nvSpPr>
        <p:spPr>
          <a:xfrm>
            <a:off x="274320" y="2029968"/>
            <a:ext cx="4023360" cy="2606040"/>
          </a:xfrm>
          <a:prstGeom prst="rect">
            <a:avLst/>
          </a:prstGeom>
          <a:solidFill>
            <a:srgbClr val="1E1E1E"/>
          </a:solidFill>
          <a:ln w="9525">
            <a:solidFill>
              <a:srgbClr val="444444"/>
            </a:solidFill>
            <a:prstDash val="solid"/>
          </a:ln>
          <a:effectLst>
            <a:outerShdw blurRad="101600" dist="38100" dir="8100000" algn="bl" rotWithShape="0">
              <a:srgbClr val="000000">
                <a:alpha val="25000"/>
              </a:srgbClr>
            </a:outerShdw>
          </a:effectLst>
        </p:spPr>
        <p:txBody>
          <a:bodyPr/>
          <a:lstStyle/>
          <a:p>
            <a:endParaRPr lang="en-US"/>
          </a:p>
        </p:txBody>
      </p:sp>
      <p:sp>
        <p:nvSpPr>
          <p:cNvPr id="11" name="Shape 8"/>
          <p:cNvSpPr/>
          <p:nvPr/>
        </p:nvSpPr>
        <p:spPr>
          <a:xfrm>
            <a:off x="274320" y="2029968"/>
            <a:ext cx="4023360" cy="438912"/>
          </a:xfrm>
          <a:prstGeom prst="rect">
            <a:avLst/>
          </a:prstGeom>
          <a:solidFill>
            <a:srgbClr val="1565C0"/>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11480" y="2084832"/>
            <a:ext cx="347472" cy="347472"/>
          </a:xfrm>
          <a:prstGeom prst="rect">
            <a:avLst/>
          </a:prstGeom>
        </p:spPr>
      </p:pic>
      <p:sp>
        <p:nvSpPr>
          <p:cNvPr id="13" name="Text 9"/>
          <p:cNvSpPr/>
          <p:nvPr/>
        </p:nvSpPr>
        <p:spPr>
          <a:xfrm>
            <a:off x="822960" y="2103120"/>
            <a:ext cx="3337560" cy="32918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HPA – Horizontal Pod Autoscaler</a:t>
            </a:r>
            <a:endParaRPr lang="en-US" sz="1150" dirty="0"/>
          </a:p>
        </p:txBody>
      </p:sp>
      <p:sp>
        <p:nvSpPr>
          <p:cNvPr id="14" name="Shape 10"/>
          <p:cNvSpPr/>
          <p:nvPr/>
        </p:nvSpPr>
        <p:spPr>
          <a:xfrm>
            <a:off x="411480" y="2596896"/>
            <a:ext cx="91440" cy="91440"/>
          </a:xfrm>
          <a:prstGeom prst="ellipse">
            <a:avLst/>
          </a:prstGeom>
          <a:solidFill>
            <a:srgbClr val="1565C0"/>
          </a:solidFill>
          <a:ln w="12700">
            <a:solidFill>
              <a:srgbClr val="1565C0"/>
            </a:solidFill>
            <a:prstDash val="solid"/>
          </a:ln>
        </p:spPr>
        <p:txBody>
          <a:bodyPr/>
          <a:lstStyle/>
          <a:p>
            <a:endParaRPr lang="en-US"/>
          </a:p>
        </p:txBody>
      </p:sp>
      <p:sp>
        <p:nvSpPr>
          <p:cNvPr id="15" name="Text 11"/>
          <p:cNvSpPr/>
          <p:nvPr/>
        </p:nvSpPr>
        <p:spPr>
          <a:xfrm>
            <a:off x="566928" y="2542032"/>
            <a:ext cx="35661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Scales the number of pod replicas</a:t>
            </a:r>
            <a:endParaRPr lang="en-US" sz="1050" dirty="0"/>
          </a:p>
        </p:txBody>
      </p:sp>
      <p:sp>
        <p:nvSpPr>
          <p:cNvPr id="16" name="Shape 12"/>
          <p:cNvSpPr/>
          <p:nvPr/>
        </p:nvSpPr>
        <p:spPr>
          <a:xfrm>
            <a:off x="411480" y="3017520"/>
            <a:ext cx="91440" cy="91440"/>
          </a:xfrm>
          <a:prstGeom prst="ellipse">
            <a:avLst/>
          </a:prstGeom>
          <a:solidFill>
            <a:srgbClr val="1565C0"/>
          </a:solidFill>
          <a:ln w="12700">
            <a:solidFill>
              <a:srgbClr val="1565C0"/>
            </a:solidFill>
            <a:prstDash val="solid"/>
          </a:ln>
        </p:spPr>
        <p:txBody>
          <a:bodyPr/>
          <a:lstStyle/>
          <a:p>
            <a:endParaRPr lang="en-US"/>
          </a:p>
        </p:txBody>
      </p:sp>
      <p:sp>
        <p:nvSpPr>
          <p:cNvPr id="17" name="Text 13"/>
          <p:cNvSpPr/>
          <p:nvPr/>
        </p:nvSpPr>
        <p:spPr>
          <a:xfrm>
            <a:off x="566928" y="2962656"/>
            <a:ext cx="35661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Reacts to CPU/memory metrics</a:t>
            </a:r>
            <a:endParaRPr lang="en-US" sz="1050" dirty="0"/>
          </a:p>
        </p:txBody>
      </p:sp>
      <p:sp>
        <p:nvSpPr>
          <p:cNvPr id="18" name="Shape 14"/>
          <p:cNvSpPr/>
          <p:nvPr/>
        </p:nvSpPr>
        <p:spPr>
          <a:xfrm>
            <a:off x="411480" y="3438144"/>
            <a:ext cx="91440" cy="91440"/>
          </a:xfrm>
          <a:prstGeom prst="ellipse">
            <a:avLst/>
          </a:prstGeom>
          <a:solidFill>
            <a:srgbClr val="1565C0"/>
          </a:solidFill>
          <a:ln w="12700">
            <a:solidFill>
              <a:srgbClr val="1565C0"/>
            </a:solidFill>
            <a:prstDash val="solid"/>
          </a:ln>
        </p:spPr>
        <p:txBody>
          <a:bodyPr/>
          <a:lstStyle/>
          <a:p>
            <a:endParaRPr lang="en-US"/>
          </a:p>
        </p:txBody>
      </p:sp>
      <p:sp>
        <p:nvSpPr>
          <p:cNvPr id="19" name="Text 15"/>
          <p:cNvSpPr/>
          <p:nvPr/>
        </p:nvSpPr>
        <p:spPr>
          <a:xfrm>
            <a:off x="566928" y="3383280"/>
            <a:ext cx="35661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Best for stateless, traffic-driven apps</a:t>
            </a:r>
            <a:endParaRPr lang="en-US" sz="1050" dirty="0"/>
          </a:p>
        </p:txBody>
      </p:sp>
      <p:sp>
        <p:nvSpPr>
          <p:cNvPr id="20" name="Shape 16"/>
          <p:cNvSpPr/>
          <p:nvPr/>
        </p:nvSpPr>
        <p:spPr>
          <a:xfrm>
            <a:off x="411480" y="3858768"/>
            <a:ext cx="91440" cy="91440"/>
          </a:xfrm>
          <a:prstGeom prst="ellipse">
            <a:avLst/>
          </a:prstGeom>
          <a:solidFill>
            <a:srgbClr val="1565C0"/>
          </a:solidFill>
          <a:ln w="12700">
            <a:solidFill>
              <a:srgbClr val="1565C0"/>
            </a:solidFill>
            <a:prstDash val="solid"/>
          </a:ln>
        </p:spPr>
        <p:txBody>
          <a:bodyPr/>
          <a:lstStyle/>
          <a:p>
            <a:endParaRPr lang="en-US"/>
          </a:p>
        </p:txBody>
      </p:sp>
      <p:sp>
        <p:nvSpPr>
          <p:cNvPr id="21" name="Text 17"/>
          <p:cNvSpPr/>
          <p:nvPr/>
        </p:nvSpPr>
        <p:spPr>
          <a:xfrm>
            <a:off x="566928" y="3803904"/>
            <a:ext cx="35661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Does NOT change resource requests</a:t>
            </a:r>
            <a:endParaRPr lang="en-US" sz="1050" dirty="0"/>
          </a:p>
        </p:txBody>
      </p:sp>
      <p:sp>
        <p:nvSpPr>
          <p:cNvPr id="22" name="Shape 18"/>
          <p:cNvSpPr/>
          <p:nvPr/>
        </p:nvSpPr>
        <p:spPr>
          <a:xfrm>
            <a:off x="411480" y="4279392"/>
            <a:ext cx="91440" cy="91440"/>
          </a:xfrm>
          <a:prstGeom prst="ellipse">
            <a:avLst/>
          </a:prstGeom>
          <a:solidFill>
            <a:srgbClr val="1565C0"/>
          </a:solidFill>
          <a:ln w="12700">
            <a:solidFill>
              <a:srgbClr val="1565C0"/>
            </a:solidFill>
            <a:prstDash val="solid"/>
          </a:ln>
        </p:spPr>
        <p:txBody>
          <a:bodyPr/>
          <a:lstStyle/>
          <a:p>
            <a:endParaRPr lang="en-US"/>
          </a:p>
        </p:txBody>
      </p:sp>
      <p:sp>
        <p:nvSpPr>
          <p:cNvPr id="23" name="Text 19"/>
          <p:cNvSpPr/>
          <p:nvPr/>
        </p:nvSpPr>
        <p:spPr>
          <a:xfrm>
            <a:off x="566928" y="4224528"/>
            <a:ext cx="356616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Adds more pods horizontally</a:t>
            </a:r>
            <a:endParaRPr lang="en-US" sz="1050" dirty="0"/>
          </a:p>
        </p:txBody>
      </p:sp>
      <p:sp>
        <p:nvSpPr>
          <p:cNvPr id="24" name="Shape 20"/>
          <p:cNvSpPr/>
          <p:nvPr/>
        </p:nvSpPr>
        <p:spPr>
          <a:xfrm>
            <a:off x="4572000" y="2029968"/>
            <a:ext cx="4297680" cy="2606040"/>
          </a:xfrm>
          <a:prstGeom prst="rect">
            <a:avLst/>
          </a:prstGeom>
          <a:solidFill>
            <a:srgbClr val="1E1E1E"/>
          </a:solidFill>
          <a:ln w="9525">
            <a:solidFill>
              <a:srgbClr val="444444"/>
            </a:solidFill>
            <a:prstDash val="solid"/>
          </a:ln>
          <a:effectLst>
            <a:outerShdw blurRad="101600" dist="38100" dir="8100000" algn="bl" rotWithShape="0">
              <a:srgbClr val="000000">
                <a:alpha val="25000"/>
              </a:srgbClr>
            </a:outerShdw>
          </a:effectLst>
        </p:spPr>
        <p:txBody>
          <a:bodyPr/>
          <a:lstStyle/>
          <a:p>
            <a:endParaRPr lang="en-US"/>
          </a:p>
        </p:txBody>
      </p:sp>
      <p:sp>
        <p:nvSpPr>
          <p:cNvPr id="25" name="Shape 21"/>
          <p:cNvSpPr/>
          <p:nvPr/>
        </p:nvSpPr>
        <p:spPr>
          <a:xfrm>
            <a:off x="4572000" y="2029968"/>
            <a:ext cx="4297680" cy="438912"/>
          </a:xfrm>
          <a:prstGeom prst="rect">
            <a:avLst/>
          </a:prstGeom>
          <a:solidFill>
            <a:srgbClr val="CC0000"/>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4709160" y="2084832"/>
            <a:ext cx="347472" cy="347472"/>
          </a:xfrm>
          <a:prstGeom prst="rect">
            <a:avLst/>
          </a:prstGeom>
        </p:spPr>
      </p:pic>
      <p:sp>
        <p:nvSpPr>
          <p:cNvPr id="27" name="Text 22"/>
          <p:cNvSpPr/>
          <p:nvPr/>
        </p:nvSpPr>
        <p:spPr>
          <a:xfrm>
            <a:off x="5120640" y="2103120"/>
            <a:ext cx="3611880" cy="32918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VPA – Vertical Pod Autoscaler</a:t>
            </a:r>
            <a:endParaRPr lang="en-US" sz="1150" dirty="0"/>
          </a:p>
        </p:txBody>
      </p:sp>
      <p:sp>
        <p:nvSpPr>
          <p:cNvPr id="28" name="Shape 23"/>
          <p:cNvSpPr/>
          <p:nvPr/>
        </p:nvSpPr>
        <p:spPr>
          <a:xfrm>
            <a:off x="4709160" y="2596896"/>
            <a:ext cx="91440" cy="91440"/>
          </a:xfrm>
          <a:prstGeom prst="ellipse">
            <a:avLst/>
          </a:prstGeom>
          <a:solidFill>
            <a:srgbClr val="CC0000"/>
          </a:solidFill>
          <a:ln w="12700">
            <a:solidFill>
              <a:srgbClr val="CC0000"/>
            </a:solidFill>
            <a:prstDash val="solid"/>
          </a:ln>
        </p:spPr>
        <p:txBody>
          <a:bodyPr/>
          <a:lstStyle/>
          <a:p>
            <a:endParaRPr lang="en-US"/>
          </a:p>
        </p:txBody>
      </p:sp>
      <p:sp>
        <p:nvSpPr>
          <p:cNvPr id="29" name="Text 24"/>
          <p:cNvSpPr/>
          <p:nvPr/>
        </p:nvSpPr>
        <p:spPr>
          <a:xfrm>
            <a:off x="4864608" y="2542032"/>
            <a:ext cx="384048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Adjusts CPU/memory per container</a:t>
            </a:r>
            <a:endParaRPr lang="en-US" sz="1050" dirty="0"/>
          </a:p>
        </p:txBody>
      </p:sp>
      <p:sp>
        <p:nvSpPr>
          <p:cNvPr id="30" name="Shape 25"/>
          <p:cNvSpPr/>
          <p:nvPr/>
        </p:nvSpPr>
        <p:spPr>
          <a:xfrm>
            <a:off x="4709160" y="3017520"/>
            <a:ext cx="91440" cy="91440"/>
          </a:xfrm>
          <a:prstGeom prst="ellipse">
            <a:avLst/>
          </a:prstGeom>
          <a:solidFill>
            <a:srgbClr val="CC0000"/>
          </a:solidFill>
          <a:ln w="12700">
            <a:solidFill>
              <a:srgbClr val="CC0000"/>
            </a:solidFill>
            <a:prstDash val="solid"/>
          </a:ln>
        </p:spPr>
        <p:txBody>
          <a:bodyPr/>
          <a:lstStyle/>
          <a:p>
            <a:endParaRPr lang="en-US"/>
          </a:p>
        </p:txBody>
      </p:sp>
      <p:sp>
        <p:nvSpPr>
          <p:cNvPr id="31" name="Text 26"/>
          <p:cNvSpPr/>
          <p:nvPr/>
        </p:nvSpPr>
        <p:spPr>
          <a:xfrm>
            <a:off x="4864608" y="2962656"/>
            <a:ext cx="384048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Analyzes historical usage patterns</a:t>
            </a:r>
            <a:endParaRPr lang="en-US" sz="1050" dirty="0"/>
          </a:p>
        </p:txBody>
      </p:sp>
      <p:sp>
        <p:nvSpPr>
          <p:cNvPr id="32" name="Shape 27"/>
          <p:cNvSpPr/>
          <p:nvPr/>
        </p:nvSpPr>
        <p:spPr>
          <a:xfrm>
            <a:off x="4709160" y="3438144"/>
            <a:ext cx="91440" cy="91440"/>
          </a:xfrm>
          <a:prstGeom prst="ellipse">
            <a:avLst/>
          </a:prstGeom>
          <a:solidFill>
            <a:srgbClr val="CC0000"/>
          </a:solidFill>
          <a:ln w="12700">
            <a:solidFill>
              <a:srgbClr val="CC0000"/>
            </a:solidFill>
            <a:prstDash val="solid"/>
          </a:ln>
        </p:spPr>
        <p:txBody>
          <a:bodyPr/>
          <a:lstStyle/>
          <a:p>
            <a:endParaRPr lang="en-US"/>
          </a:p>
        </p:txBody>
      </p:sp>
      <p:sp>
        <p:nvSpPr>
          <p:cNvPr id="33" name="Text 28"/>
          <p:cNvSpPr/>
          <p:nvPr/>
        </p:nvSpPr>
        <p:spPr>
          <a:xfrm>
            <a:off x="4864608" y="3383280"/>
            <a:ext cx="384048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Best for stateful, batch workloads</a:t>
            </a:r>
            <a:endParaRPr lang="en-US" sz="1050" dirty="0"/>
          </a:p>
        </p:txBody>
      </p:sp>
      <p:sp>
        <p:nvSpPr>
          <p:cNvPr id="34" name="Shape 29"/>
          <p:cNvSpPr/>
          <p:nvPr/>
        </p:nvSpPr>
        <p:spPr>
          <a:xfrm>
            <a:off x="4709160" y="3858768"/>
            <a:ext cx="91440" cy="91440"/>
          </a:xfrm>
          <a:prstGeom prst="ellipse">
            <a:avLst/>
          </a:prstGeom>
          <a:solidFill>
            <a:srgbClr val="CC0000"/>
          </a:solidFill>
          <a:ln w="12700">
            <a:solidFill>
              <a:srgbClr val="CC0000"/>
            </a:solidFill>
            <a:prstDash val="solid"/>
          </a:ln>
        </p:spPr>
        <p:txBody>
          <a:bodyPr/>
          <a:lstStyle/>
          <a:p>
            <a:endParaRPr lang="en-US"/>
          </a:p>
        </p:txBody>
      </p:sp>
      <p:sp>
        <p:nvSpPr>
          <p:cNvPr id="35" name="Text 30"/>
          <p:cNvSpPr/>
          <p:nvPr/>
        </p:nvSpPr>
        <p:spPr>
          <a:xfrm>
            <a:off x="4864608" y="3803904"/>
            <a:ext cx="384048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Modifies resource requests/limits</a:t>
            </a:r>
            <a:endParaRPr lang="en-US" sz="1050" dirty="0"/>
          </a:p>
        </p:txBody>
      </p:sp>
      <p:sp>
        <p:nvSpPr>
          <p:cNvPr id="36" name="Shape 31"/>
          <p:cNvSpPr/>
          <p:nvPr/>
        </p:nvSpPr>
        <p:spPr>
          <a:xfrm>
            <a:off x="4709160" y="4279392"/>
            <a:ext cx="91440" cy="91440"/>
          </a:xfrm>
          <a:prstGeom prst="ellipse">
            <a:avLst/>
          </a:prstGeom>
          <a:solidFill>
            <a:srgbClr val="CC0000"/>
          </a:solidFill>
          <a:ln w="12700">
            <a:solidFill>
              <a:srgbClr val="CC0000"/>
            </a:solidFill>
            <a:prstDash val="solid"/>
          </a:ln>
        </p:spPr>
        <p:txBody>
          <a:bodyPr/>
          <a:lstStyle/>
          <a:p>
            <a:endParaRPr lang="en-US"/>
          </a:p>
        </p:txBody>
      </p:sp>
      <p:sp>
        <p:nvSpPr>
          <p:cNvPr id="37" name="Text 32"/>
          <p:cNvSpPr/>
          <p:nvPr/>
        </p:nvSpPr>
        <p:spPr>
          <a:xfrm>
            <a:off x="4864608" y="4224528"/>
            <a:ext cx="3840480" cy="347472"/>
          </a:xfrm>
          <a:prstGeom prst="rect">
            <a:avLst/>
          </a:prstGeom>
          <a:noFill/>
          <a:ln/>
        </p:spPr>
        <p:txBody>
          <a:bodyPr wrap="square" lIns="0" tIns="0" rIns="0" bIns="0" rtlCol="0" anchor="ctr"/>
          <a:lstStyle/>
          <a:p>
            <a:pPr marL="0" indent="0">
              <a:buNone/>
            </a:pPr>
            <a:r>
              <a:rPr lang="en-US" sz="1050" dirty="0">
                <a:solidFill>
                  <a:srgbClr val="D8D8D8"/>
                </a:solidFill>
                <a:latin typeface="Calibri" pitchFamily="34" charset="0"/>
                <a:ea typeface="Calibri" pitchFamily="34" charset="-122"/>
                <a:cs typeface="Calibri" pitchFamily="34" charset="-120"/>
              </a:rPr>
              <a:t>Optimizes resources vertically</a:t>
            </a:r>
            <a:endParaRPr lang="en-US" sz="1050" dirty="0"/>
          </a:p>
        </p:txBody>
      </p:sp>
      <p:pic>
        <p:nvPicPr>
          <p:cNvPr id="38" name="Image 3" descr="preencoded.png"/>
          <p:cNvPicPr>
            <a:picLocks noChangeAspect="1"/>
          </p:cNvPicPr>
          <p:nvPr/>
        </p:nvPicPr>
        <p:blipFill>
          <a:blip r:embed="rId6"/>
          <a:stretch>
            <a:fillRect/>
          </a:stretch>
        </p:blipFill>
        <p:spPr>
          <a:xfrm>
            <a:off x="4334256" y="3090672"/>
            <a:ext cx="201168" cy="201168"/>
          </a:xfrm>
          <a:prstGeom prst="rect">
            <a:avLst/>
          </a:prstGeom>
        </p:spPr>
      </p:pic>
      <p:sp>
        <p:nvSpPr>
          <p:cNvPr id="39" name="Shape 33"/>
          <p:cNvSpPr/>
          <p:nvPr/>
        </p:nvSpPr>
        <p:spPr>
          <a:xfrm>
            <a:off x="274320" y="4736592"/>
            <a:ext cx="8595360" cy="228600"/>
          </a:xfrm>
          <a:prstGeom prst="rect">
            <a:avLst/>
          </a:prstGeom>
          <a:solidFill>
            <a:srgbClr val="151515"/>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E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11111"/>
          </a:solidFill>
          <a:ln/>
        </p:spPr>
        <p:txBody>
          <a:bodyPr/>
          <a:lstStyle/>
          <a:p>
            <a:endParaRPr lang="en-US"/>
          </a:p>
        </p:txBody>
      </p:sp>
      <p:sp>
        <p:nvSpPr>
          <p:cNvPr id="3" name="Shape 1"/>
          <p:cNvSpPr/>
          <p:nvPr/>
        </p:nvSpPr>
        <p:spPr>
          <a:xfrm>
            <a:off x="0" y="0"/>
            <a:ext cx="9144000" cy="54864"/>
          </a:xfrm>
          <a:prstGeom prst="rect">
            <a:avLst/>
          </a:prstGeom>
          <a:solidFill>
            <a:srgbClr val="CC0000"/>
          </a:solidFill>
          <a:ln/>
        </p:spPr>
        <p:txBody>
          <a:bodyPr/>
          <a:lstStyle/>
          <a:p>
            <a:endParaRPr lang="en-US"/>
          </a:p>
        </p:txBody>
      </p:sp>
      <p:sp>
        <p:nvSpPr>
          <p:cNvPr id="4" name="Text 2"/>
          <p:cNvSpPr/>
          <p:nvPr/>
        </p:nvSpPr>
        <p:spPr>
          <a:xfrm>
            <a:off x="274320" y="109728"/>
            <a:ext cx="7315200" cy="384048"/>
          </a:xfrm>
          <a:prstGeom prst="rect">
            <a:avLst/>
          </a:prstGeom>
          <a:noFill/>
          <a:ln/>
        </p:spPr>
        <p:txBody>
          <a:bodyPr wrap="square" lIns="0" tIns="0" rIns="0" bIns="0" rtlCol="0" anchor="ctr"/>
          <a:lstStyle/>
          <a:p>
            <a:pPr marL="0" indent="0">
              <a:buNone/>
            </a:pPr>
            <a:r>
              <a:rPr lang="en-US" sz="1800" b="1" kern="0" spc="200" dirty="0">
                <a:solidFill>
                  <a:srgbClr val="FFFFFF"/>
                </a:solidFill>
                <a:latin typeface="Calibri" pitchFamily="34" charset="0"/>
                <a:ea typeface="Calibri" pitchFamily="34" charset="-122"/>
                <a:cs typeface="Calibri" pitchFamily="34" charset="-120"/>
              </a:rPr>
              <a:t>VPA ARCHITECTURE</a:t>
            </a:r>
            <a:endParaRPr lang="en-US" sz="1800" dirty="0"/>
          </a:p>
        </p:txBody>
      </p:sp>
      <p:sp>
        <p:nvSpPr>
          <p:cNvPr id="5" name="Text 3"/>
          <p:cNvSpPr/>
          <p:nvPr/>
        </p:nvSpPr>
        <p:spPr>
          <a:xfrm>
            <a:off x="8321040" y="109728"/>
            <a:ext cx="640080" cy="384048"/>
          </a:xfrm>
          <a:prstGeom prst="rect">
            <a:avLst/>
          </a:prstGeom>
          <a:noFill/>
          <a:ln/>
        </p:spPr>
        <p:txBody>
          <a:bodyPr wrap="square" lIns="0" tIns="0" rIns="0" bIns="0" rtlCol="0" anchor="ctr"/>
          <a:lstStyle/>
          <a:p>
            <a:pPr marL="0" indent="0">
              <a:buNone/>
            </a:pPr>
            <a:r>
              <a:rPr lang="en-US" sz="2200" b="1" dirty="0">
                <a:solidFill>
                  <a:srgbClr val="CC0000"/>
                </a:solidFill>
                <a:latin typeface="Calibri" pitchFamily="34" charset="0"/>
                <a:ea typeface="Calibri" pitchFamily="34" charset="-122"/>
                <a:cs typeface="Calibri" pitchFamily="34" charset="-120"/>
              </a:rPr>
              <a:t>03</a:t>
            </a:r>
            <a:endParaRPr lang="en-US" sz="2200" dirty="0"/>
          </a:p>
        </p:txBody>
      </p:sp>
      <p:sp>
        <p:nvSpPr>
          <p:cNvPr id="6" name="Shape 4"/>
          <p:cNvSpPr/>
          <p:nvPr/>
        </p:nvSpPr>
        <p:spPr>
          <a:xfrm>
            <a:off x="182880" y="731520"/>
            <a:ext cx="1965960" cy="1417320"/>
          </a:xfrm>
          <a:prstGeom prst="rect">
            <a:avLst/>
          </a:prstGeom>
          <a:solidFill>
            <a:srgbClr val="1A1A1A"/>
          </a:solidFill>
          <a:ln w="19050">
            <a:solidFill>
              <a:srgbClr val="006064"/>
            </a:solidFill>
            <a:prstDash val="solid"/>
          </a:ln>
          <a:effectLst>
            <a:outerShdw blurRad="101600" dist="38100" dir="8100000" algn="bl" rotWithShape="0">
              <a:srgbClr val="000000">
                <a:alpha val="25000"/>
              </a:srgbClr>
            </a:outerShdw>
          </a:effectLst>
        </p:spPr>
        <p:txBody>
          <a:bodyPr/>
          <a:lstStyle/>
          <a:p>
            <a:endParaRPr lang="en-US"/>
          </a:p>
        </p:txBody>
      </p:sp>
      <p:sp>
        <p:nvSpPr>
          <p:cNvPr id="7" name="Shape 5"/>
          <p:cNvSpPr/>
          <p:nvPr/>
        </p:nvSpPr>
        <p:spPr>
          <a:xfrm>
            <a:off x="182880" y="731520"/>
            <a:ext cx="1965960" cy="457200"/>
          </a:xfrm>
          <a:prstGeom prst="rect">
            <a:avLst/>
          </a:prstGeom>
          <a:solidFill>
            <a:srgbClr val="00606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292608" y="795528"/>
            <a:ext cx="320040" cy="320040"/>
          </a:xfrm>
          <a:prstGeom prst="rect">
            <a:avLst/>
          </a:prstGeom>
        </p:spPr>
      </p:pic>
      <p:sp>
        <p:nvSpPr>
          <p:cNvPr id="9" name="Text 6"/>
          <p:cNvSpPr/>
          <p:nvPr/>
        </p:nvSpPr>
        <p:spPr>
          <a:xfrm>
            <a:off x="658368" y="822960"/>
            <a:ext cx="141732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Metrics Server</a:t>
            </a:r>
            <a:endParaRPr lang="en-US" sz="1000" dirty="0"/>
          </a:p>
        </p:txBody>
      </p:sp>
      <p:sp>
        <p:nvSpPr>
          <p:cNvPr id="10" name="Text 7"/>
          <p:cNvSpPr/>
          <p:nvPr/>
        </p:nvSpPr>
        <p:spPr>
          <a:xfrm>
            <a:off x="292608" y="1280160"/>
            <a:ext cx="1737360" cy="822960"/>
          </a:xfrm>
          <a:prstGeom prst="rect">
            <a:avLst/>
          </a:prstGeom>
          <a:noFill/>
          <a:ln/>
        </p:spPr>
        <p:txBody>
          <a:bodyPr wrap="square" lIns="0" tIns="0" rIns="0" bIns="0" rtlCol="0" anchor="ctr"/>
          <a:lstStyle/>
          <a:p>
            <a:pPr marL="0" indent="0">
              <a:buNone/>
            </a:pPr>
            <a:r>
              <a:rPr lang="en-US" sz="950" dirty="0">
                <a:solidFill>
                  <a:srgbClr val="D8D8D8"/>
                </a:solidFill>
                <a:latin typeface="Calibri" pitchFamily="34" charset="0"/>
                <a:ea typeface="Calibri" pitchFamily="34" charset="-122"/>
                <a:cs typeface="Calibri" pitchFamily="34" charset="-120"/>
              </a:rPr>
              <a:t>Collects real-time</a:t>
            </a:r>
            <a:endParaRPr lang="en-US" sz="950" dirty="0"/>
          </a:p>
          <a:p>
            <a:pPr marL="0" indent="0">
              <a:buNone/>
            </a:pPr>
            <a:r>
              <a:rPr lang="en-US" sz="950" dirty="0">
                <a:solidFill>
                  <a:srgbClr val="D8D8D8"/>
                </a:solidFill>
                <a:latin typeface="Calibri" pitchFamily="34" charset="0"/>
                <a:ea typeface="Calibri" pitchFamily="34" charset="-122"/>
                <a:cs typeface="Calibri" pitchFamily="34" charset="-120"/>
              </a:rPr>
              <a:t>CPU &amp; memory data</a:t>
            </a:r>
            <a:endParaRPr lang="en-US" sz="950" dirty="0"/>
          </a:p>
        </p:txBody>
      </p:sp>
      <p:sp>
        <p:nvSpPr>
          <p:cNvPr id="11" name="Shape 8"/>
          <p:cNvSpPr/>
          <p:nvPr/>
        </p:nvSpPr>
        <p:spPr>
          <a:xfrm>
            <a:off x="2286000" y="731520"/>
            <a:ext cx="1965960" cy="1417320"/>
          </a:xfrm>
          <a:prstGeom prst="rect">
            <a:avLst/>
          </a:prstGeom>
          <a:solidFill>
            <a:srgbClr val="1A1A1A"/>
          </a:solidFill>
          <a:ln w="19050">
            <a:solidFill>
              <a:srgbClr val="CC0000"/>
            </a:solidFill>
            <a:prstDash val="solid"/>
          </a:ln>
          <a:effectLst>
            <a:outerShdw blurRad="101600" dist="38100" dir="8100000" algn="bl" rotWithShape="0">
              <a:srgbClr val="000000">
                <a:alpha val="25000"/>
              </a:srgbClr>
            </a:outerShdw>
          </a:effectLst>
        </p:spPr>
        <p:txBody>
          <a:bodyPr/>
          <a:lstStyle/>
          <a:p>
            <a:endParaRPr lang="en-US"/>
          </a:p>
        </p:txBody>
      </p:sp>
      <p:sp>
        <p:nvSpPr>
          <p:cNvPr id="12" name="Shape 9"/>
          <p:cNvSpPr/>
          <p:nvPr/>
        </p:nvSpPr>
        <p:spPr>
          <a:xfrm>
            <a:off x="2286000" y="731520"/>
            <a:ext cx="1965960" cy="457200"/>
          </a:xfrm>
          <a:prstGeom prst="rect">
            <a:avLst/>
          </a:prstGeom>
          <a:solidFill>
            <a:srgbClr val="CC000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2395728" y="795528"/>
            <a:ext cx="320040" cy="320040"/>
          </a:xfrm>
          <a:prstGeom prst="rect">
            <a:avLst/>
          </a:prstGeom>
        </p:spPr>
      </p:pic>
      <p:sp>
        <p:nvSpPr>
          <p:cNvPr id="14" name="Text 10"/>
          <p:cNvSpPr/>
          <p:nvPr/>
        </p:nvSpPr>
        <p:spPr>
          <a:xfrm>
            <a:off x="2761488" y="822960"/>
            <a:ext cx="141732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VPA Recommender</a:t>
            </a:r>
            <a:endParaRPr lang="en-US" sz="1000" dirty="0"/>
          </a:p>
        </p:txBody>
      </p:sp>
      <p:sp>
        <p:nvSpPr>
          <p:cNvPr id="15" name="Text 11"/>
          <p:cNvSpPr/>
          <p:nvPr/>
        </p:nvSpPr>
        <p:spPr>
          <a:xfrm>
            <a:off x="2395728" y="1280160"/>
            <a:ext cx="1737360" cy="822960"/>
          </a:xfrm>
          <a:prstGeom prst="rect">
            <a:avLst/>
          </a:prstGeom>
          <a:noFill/>
          <a:ln/>
        </p:spPr>
        <p:txBody>
          <a:bodyPr wrap="square" lIns="0" tIns="0" rIns="0" bIns="0" rtlCol="0" anchor="ctr"/>
          <a:lstStyle/>
          <a:p>
            <a:pPr marL="0" indent="0">
              <a:buNone/>
            </a:pPr>
            <a:r>
              <a:rPr lang="en-US" sz="950" dirty="0">
                <a:solidFill>
                  <a:srgbClr val="D8D8D8"/>
                </a:solidFill>
                <a:latin typeface="Calibri" pitchFamily="34" charset="0"/>
                <a:ea typeface="Calibri" pitchFamily="34" charset="-122"/>
                <a:cs typeface="Calibri" pitchFamily="34" charset="-120"/>
              </a:rPr>
              <a:t>Analyzes historical</a:t>
            </a:r>
            <a:endParaRPr lang="en-US" sz="950" dirty="0"/>
          </a:p>
          <a:p>
            <a:pPr marL="0" indent="0">
              <a:buNone/>
            </a:pPr>
            <a:r>
              <a:rPr lang="en-US" sz="950" dirty="0">
                <a:solidFill>
                  <a:srgbClr val="D8D8D8"/>
                </a:solidFill>
                <a:latin typeface="Calibri" pitchFamily="34" charset="0"/>
                <a:ea typeface="Calibri" pitchFamily="34" charset="-122"/>
                <a:cs typeface="Calibri" pitchFamily="34" charset="-120"/>
              </a:rPr>
              <a:t>metrics &amp; suggests</a:t>
            </a:r>
            <a:endParaRPr lang="en-US" sz="950" dirty="0"/>
          </a:p>
        </p:txBody>
      </p:sp>
      <p:sp>
        <p:nvSpPr>
          <p:cNvPr id="16" name="Shape 12"/>
          <p:cNvSpPr/>
          <p:nvPr/>
        </p:nvSpPr>
        <p:spPr>
          <a:xfrm>
            <a:off x="4389120" y="731520"/>
            <a:ext cx="1965960" cy="1417320"/>
          </a:xfrm>
          <a:prstGeom prst="rect">
            <a:avLst/>
          </a:prstGeom>
          <a:solidFill>
            <a:srgbClr val="1A1A1A"/>
          </a:solidFill>
          <a:ln w="19050">
            <a:solidFill>
              <a:srgbClr val="4A148C"/>
            </a:solidFill>
            <a:prstDash val="solid"/>
          </a:ln>
          <a:effectLst>
            <a:outerShdw blurRad="101600" dist="38100" dir="8100000" algn="bl" rotWithShape="0">
              <a:srgbClr val="000000">
                <a:alpha val="25000"/>
              </a:srgbClr>
            </a:outerShdw>
          </a:effectLst>
        </p:spPr>
        <p:txBody>
          <a:bodyPr/>
          <a:lstStyle/>
          <a:p>
            <a:endParaRPr lang="en-US"/>
          </a:p>
        </p:txBody>
      </p:sp>
      <p:sp>
        <p:nvSpPr>
          <p:cNvPr id="17" name="Shape 13"/>
          <p:cNvSpPr/>
          <p:nvPr/>
        </p:nvSpPr>
        <p:spPr>
          <a:xfrm>
            <a:off x="4389120" y="731520"/>
            <a:ext cx="1965960" cy="457200"/>
          </a:xfrm>
          <a:prstGeom prst="rect">
            <a:avLst/>
          </a:prstGeom>
          <a:solidFill>
            <a:srgbClr val="4A148C"/>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4498848" y="795528"/>
            <a:ext cx="320040" cy="320040"/>
          </a:xfrm>
          <a:prstGeom prst="rect">
            <a:avLst/>
          </a:prstGeom>
        </p:spPr>
      </p:pic>
      <p:sp>
        <p:nvSpPr>
          <p:cNvPr id="19" name="Text 14"/>
          <p:cNvSpPr/>
          <p:nvPr/>
        </p:nvSpPr>
        <p:spPr>
          <a:xfrm>
            <a:off x="4864608" y="822960"/>
            <a:ext cx="141732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VPA Updater</a:t>
            </a:r>
            <a:endParaRPr lang="en-US" sz="1000" dirty="0"/>
          </a:p>
        </p:txBody>
      </p:sp>
      <p:sp>
        <p:nvSpPr>
          <p:cNvPr id="20" name="Text 15"/>
          <p:cNvSpPr/>
          <p:nvPr/>
        </p:nvSpPr>
        <p:spPr>
          <a:xfrm>
            <a:off x="4498848" y="1280160"/>
            <a:ext cx="1737360" cy="822960"/>
          </a:xfrm>
          <a:prstGeom prst="rect">
            <a:avLst/>
          </a:prstGeom>
          <a:noFill/>
          <a:ln/>
        </p:spPr>
        <p:txBody>
          <a:bodyPr wrap="square" lIns="0" tIns="0" rIns="0" bIns="0" rtlCol="0" anchor="ctr"/>
          <a:lstStyle/>
          <a:p>
            <a:pPr marL="0" indent="0">
              <a:buNone/>
            </a:pPr>
            <a:r>
              <a:rPr lang="en-US" sz="950" dirty="0">
                <a:solidFill>
                  <a:srgbClr val="D8D8D8"/>
                </a:solidFill>
                <a:latin typeface="Calibri" pitchFamily="34" charset="0"/>
                <a:ea typeface="Calibri" pitchFamily="34" charset="-122"/>
                <a:cs typeface="Calibri" pitchFamily="34" charset="-120"/>
              </a:rPr>
              <a:t>Evicts pods needing</a:t>
            </a:r>
            <a:endParaRPr lang="en-US" sz="950" dirty="0"/>
          </a:p>
          <a:p>
            <a:pPr marL="0" indent="0">
              <a:buNone/>
            </a:pPr>
            <a:r>
              <a:rPr lang="en-US" sz="950" dirty="0">
                <a:solidFill>
                  <a:srgbClr val="D8D8D8"/>
                </a:solidFill>
                <a:latin typeface="Calibri" pitchFamily="34" charset="0"/>
                <a:ea typeface="Calibri" pitchFamily="34" charset="-122"/>
                <a:cs typeface="Calibri" pitchFamily="34" charset="-120"/>
              </a:rPr>
              <a:t>resource adjustment</a:t>
            </a:r>
            <a:endParaRPr lang="en-US" sz="950" dirty="0"/>
          </a:p>
        </p:txBody>
      </p:sp>
      <p:sp>
        <p:nvSpPr>
          <p:cNvPr id="21" name="Shape 16"/>
          <p:cNvSpPr/>
          <p:nvPr/>
        </p:nvSpPr>
        <p:spPr>
          <a:xfrm>
            <a:off x="6492240" y="731520"/>
            <a:ext cx="1965960" cy="1417320"/>
          </a:xfrm>
          <a:prstGeom prst="rect">
            <a:avLst/>
          </a:prstGeom>
          <a:solidFill>
            <a:srgbClr val="1A1A1A"/>
          </a:solidFill>
          <a:ln w="19050">
            <a:solidFill>
              <a:srgbClr val="1B5E20"/>
            </a:solidFill>
            <a:prstDash val="solid"/>
          </a:ln>
          <a:effectLst>
            <a:outerShdw blurRad="101600" dist="38100" dir="8100000" algn="bl" rotWithShape="0">
              <a:srgbClr val="000000">
                <a:alpha val="25000"/>
              </a:srgbClr>
            </a:outerShdw>
          </a:effectLst>
        </p:spPr>
        <p:txBody>
          <a:bodyPr/>
          <a:lstStyle/>
          <a:p>
            <a:endParaRPr lang="en-US"/>
          </a:p>
        </p:txBody>
      </p:sp>
      <p:sp>
        <p:nvSpPr>
          <p:cNvPr id="22" name="Shape 17"/>
          <p:cNvSpPr/>
          <p:nvPr/>
        </p:nvSpPr>
        <p:spPr>
          <a:xfrm>
            <a:off x="6492240" y="731520"/>
            <a:ext cx="1965960" cy="457200"/>
          </a:xfrm>
          <a:prstGeom prst="rect">
            <a:avLst/>
          </a:prstGeom>
          <a:solidFill>
            <a:srgbClr val="1B5E20"/>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6601968" y="795528"/>
            <a:ext cx="320040" cy="320040"/>
          </a:xfrm>
          <a:prstGeom prst="rect">
            <a:avLst/>
          </a:prstGeom>
        </p:spPr>
      </p:pic>
      <p:sp>
        <p:nvSpPr>
          <p:cNvPr id="24" name="Text 18"/>
          <p:cNvSpPr/>
          <p:nvPr/>
        </p:nvSpPr>
        <p:spPr>
          <a:xfrm>
            <a:off x="6967728" y="822960"/>
            <a:ext cx="141732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Admission Controller</a:t>
            </a:r>
            <a:endParaRPr lang="en-US" sz="1000" dirty="0"/>
          </a:p>
        </p:txBody>
      </p:sp>
      <p:sp>
        <p:nvSpPr>
          <p:cNvPr id="25" name="Text 19"/>
          <p:cNvSpPr/>
          <p:nvPr/>
        </p:nvSpPr>
        <p:spPr>
          <a:xfrm>
            <a:off x="6601968" y="1280160"/>
            <a:ext cx="1737360" cy="822960"/>
          </a:xfrm>
          <a:prstGeom prst="rect">
            <a:avLst/>
          </a:prstGeom>
          <a:noFill/>
          <a:ln/>
        </p:spPr>
        <p:txBody>
          <a:bodyPr wrap="square" lIns="0" tIns="0" rIns="0" bIns="0" rtlCol="0" anchor="ctr"/>
          <a:lstStyle/>
          <a:p>
            <a:pPr marL="0" indent="0">
              <a:buNone/>
            </a:pPr>
            <a:r>
              <a:rPr lang="en-US" sz="950" dirty="0">
                <a:solidFill>
                  <a:srgbClr val="D8D8D8"/>
                </a:solidFill>
                <a:latin typeface="Calibri" pitchFamily="34" charset="0"/>
                <a:ea typeface="Calibri" pitchFamily="34" charset="-122"/>
                <a:cs typeface="Calibri" pitchFamily="34" charset="-120"/>
              </a:rPr>
              <a:t>Mutates pod spec</a:t>
            </a:r>
            <a:endParaRPr lang="en-US" sz="950" dirty="0"/>
          </a:p>
          <a:p>
            <a:pPr marL="0" indent="0">
              <a:buNone/>
            </a:pPr>
            <a:r>
              <a:rPr lang="en-US" sz="950" dirty="0">
                <a:solidFill>
                  <a:srgbClr val="D8D8D8"/>
                </a:solidFill>
                <a:latin typeface="Calibri" pitchFamily="34" charset="0"/>
                <a:ea typeface="Calibri" pitchFamily="34" charset="-122"/>
                <a:cs typeface="Calibri" pitchFamily="34" charset="-120"/>
              </a:rPr>
              <a:t>on creation/restart</a:t>
            </a:r>
            <a:endParaRPr lang="en-US" sz="950" dirty="0"/>
          </a:p>
        </p:txBody>
      </p:sp>
      <p:sp>
        <p:nvSpPr>
          <p:cNvPr id="26" name="Shape 20"/>
          <p:cNvSpPr/>
          <p:nvPr/>
        </p:nvSpPr>
        <p:spPr>
          <a:xfrm>
            <a:off x="2148840" y="1426464"/>
            <a:ext cx="137160" cy="36576"/>
          </a:xfrm>
          <a:prstGeom prst="rect">
            <a:avLst/>
          </a:prstGeom>
          <a:solidFill>
            <a:srgbClr val="CC0000"/>
          </a:solidFill>
          <a:ln/>
        </p:spPr>
        <p:txBody>
          <a:bodyPr/>
          <a:lstStyle/>
          <a:p>
            <a:endParaRPr lang="en-US"/>
          </a:p>
        </p:txBody>
      </p:sp>
      <p:sp>
        <p:nvSpPr>
          <p:cNvPr id="27" name="Shape 21"/>
          <p:cNvSpPr/>
          <p:nvPr/>
        </p:nvSpPr>
        <p:spPr>
          <a:xfrm>
            <a:off x="2221992" y="1371600"/>
            <a:ext cx="64008" cy="146304"/>
          </a:xfrm>
          <a:prstGeom prst="rect">
            <a:avLst/>
          </a:prstGeom>
          <a:solidFill>
            <a:srgbClr val="CC0000"/>
          </a:solidFill>
          <a:ln/>
        </p:spPr>
        <p:txBody>
          <a:bodyPr/>
          <a:lstStyle/>
          <a:p>
            <a:endParaRPr lang="en-US"/>
          </a:p>
        </p:txBody>
      </p:sp>
      <p:sp>
        <p:nvSpPr>
          <p:cNvPr id="28" name="Shape 22"/>
          <p:cNvSpPr/>
          <p:nvPr/>
        </p:nvSpPr>
        <p:spPr>
          <a:xfrm>
            <a:off x="4251960" y="1426464"/>
            <a:ext cx="137160" cy="36576"/>
          </a:xfrm>
          <a:prstGeom prst="rect">
            <a:avLst/>
          </a:prstGeom>
          <a:solidFill>
            <a:srgbClr val="CC0000"/>
          </a:solidFill>
          <a:ln/>
        </p:spPr>
        <p:txBody>
          <a:bodyPr/>
          <a:lstStyle/>
          <a:p>
            <a:endParaRPr lang="en-US"/>
          </a:p>
        </p:txBody>
      </p:sp>
      <p:sp>
        <p:nvSpPr>
          <p:cNvPr id="29" name="Shape 23"/>
          <p:cNvSpPr/>
          <p:nvPr/>
        </p:nvSpPr>
        <p:spPr>
          <a:xfrm>
            <a:off x="4325112" y="1371600"/>
            <a:ext cx="64008" cy="146304"/>
          </a:xfrm>
          <a:prstGeom prst="rect">
            <a:avLst/>
          </a:prstGeom>
          <a:solidFill>
            <a:srgbClr val="CC0000"/>
          </a:solidFill>
          <a:ln/>
        </p:spPr>
        <p:txBody>
          <a:bodyPr/>
          <a:lstStyle/>
          <a:p>
            <a:endParaRPr lang="en-US"/>
          </a:p>
        </p:txBody>
      </p:sp>
      <p:sp>
        <p:nvSpPr>
          <p:cNvPr id="30" name="Shape 24"/>
          <p:cNvSpPr/>
          <p:nvPr/>
        </p:nvSpPr>
        <p:spPr>
          <a:xfrm>
            <a:off x="6355080" y="1426464"/>
            <a:ext cx="137160" cy="36576"/>
          </a:xfrm>
          <a:prstGeom prst="rect">
            <a:avLst/>
          </a:prstGeom>
          <a:solidFill>
            <a:srgbClr val="CC0000"/>
          </a:solidFill>
          <a:ln/>
        </p:spPr>
        <p:txBody>
          <a:bodyPr/>
          <a:lstStyle/>
          <a:p>
            <a:endParaRPr lang="en-US"/>
          </a:p>
        </p:txBody>
      </p:sp>
      <p:sp>
        <p:nvSpPr>
          <p:cNvPr id="31" name="Shape 25"/>
          <p:cNvSpPr/>
          <p:nvPr/>
        </p:nvSpPr>
        <p:spPr>
          <a:xfrm>
            <a:off x="6428232" y="1371600"/>
            <a:ext cx="64008" cy="146304"/>
          </a:xfrm>
          <a:prstGeom prst="rect">
            <a:avLst/>
          </a:prstGeom>
          <a:solidFill>
            <a:srgbClr val="CC0000"/>
          </a:solidFill>
          <a:ln/>
        </p:spPr>
        <p:txBody>
          <a:bodyPr/>
          <a:lstStyle/>
          <a:p>
            <a:endParaRPr lang="en-US"/>
          </a:p>
        </p:txBody>
      </p:sp>
      <p:sp>
        <p:nvSpPr>
          <p:cNvPr id="32" name="Shape 26"/>
          <p:cNvSpPr/>
          <p:nvPr/>
        </p:nvSpPr>
        <p:spPr>
          <a:xfrm>
            <a:off x="2743200" y="2743200"/>
            <a:ext cx="3657600" cy="1508760"/>
          </a:xfrm>
          <a:prstGeom prst="rect">
            <a:avLst/>
          </a:prstGeom>
          <a:solidFill>
            <a:srgbClr val="0D1B2A"/>
          </a:solidFill>
          <a:ln w="25400">
            <a:solidFill>
              <a:srgbClr val="F5A623"/>
            </a:solidFill>
            <a:prstDash val="solid"/>
          </a:ln>
          <a:effectLst>
            <a:outerShdw blurRad="101600" dist="38100" dir="8100000" algn="bl" rotWithShape="0">
              <a:srgbClr val="000000">
                <a:alpha val="25000"/>
              </a:srgbClr>
            </a:outerShdw>
          </a:effectLst>
        </p:spPr>
        <p:txBody>
          <a:bodyPr/>
          <a:lstStyle/>
          <a:p>
            <a:endParaRPr lang="en-US"/>
          </a:p>
        </p:txBody>
      </p:sp>
      <p:sp>
        <p:nvSpPr>
          <p:cNvPr id="33" name="Shape 27"/>
          <p:cNvSpPr/>
          <p:nvPr/>
        </p:nvSpPr>
        <p:spPr>
          <a:xfrm>
            <a:off x="2743200" y="2743200"/>
            <a:ext cx="3657600" cy="457200"/>
          </a:xfrm>
          <a:prstGeom prst="rect">
            <a:avLst/>
          </a:prstGeom>
          <a:solidFill>
            <a:srgbClr val="1A2A3A"/>
          </a:solidFill>
          <a:ln/>
        </p:spPr>
        <p:txBody>
          <a:bodyPr/>
          <a:lstStyle/>
          <a:p>
            <a:endParaRPr lang="en-US"/>
          </a:p>
        </p:txBody>
      </p:sp>
      <p:pic>
        <p:nvPicPr>
          <p:cNvPr id="34" name="Image 4" descr="preencoded.png"/>
          <p:cNvPicPr>
            <a:picLocks noChangeAspect="1"/>
          </p:cNvPicPr>
          <p:nvPr/>
        </p:nvPicPr>
        <p:blipFill>
          <a:blip r:embed="rId7"/>
          <a:stretch>
            <a:fillRect/>
          </a:stretch>
        </p:blipFill>
        <p:spPr>
          <a:xfrm>
            <a:off x="2852928" y="2798064"/>
            <a:ext cx="347472" cy="347472"/>
          </a:xfrm>
          <a:prstGeom prst="rect">
            <a:avLst/>
          </a:prstGeom>
        </p:spPr>
      </p:pic>
      <p:sp>
        <p:nvSpPr>
          <p:cNvPr id="35" name="Text 28"/>
          <p:cNvSpPr/>
          <p:nvPr/>
        </p:nvSpPr>
        <p:spPr>
          <a:xfrm>
            <a:off x="3273552" y="2825496"/>
            <a:ext cx="2926080" cy="329184"/>
          </a:xfrm>
          <a:prstGeom prst="rect">
            <a:avLst/>
          </a:prstGeom>
          <a:noFill/>
          <a:ln/>
        </p:spPr>
        <p:txBody>
          <a:bodyPr wrap="square" lIns="0" tIns="0" rIns="0" bIns="0" rtlCol="0" anchor="ctr"/>
          <a:lstStyle/>
          <a:p>
            <a:pPr marL="0" indent="0">
              <a:buNone/>
            </a:pPr>
            <a:r>
              <a:rPr lang="en-US" sz="1150" b="1" dirty="0">
                <a:solidFill>
                  <a:srgbClr val="F5A623"/>
                </a:solidFill>
                <a:latin typeface="Calibri" pitchFamily="34" charset="0"/>
                <a:ea typeface="Calibri" pitchFamily="34" charset="-122"/>
                <a:cs typeface="Calibri" pitchFamily="34" charset="-120"/>
              </a:rPr>
              <a:t>cpu-app Deployment</a:t>
            </a:r>
            <a:endParaRPr lang="en-US" sz="1150" dirty="0"/>
          </a:p>
        </p:txBody>
      </p:sp>
      <p:sp>
        <p:nvSpPr>
          <p:cNvPr id="36" name="Text 29"/>
          <p:cNvSpPr/>
          <p:nvPr/>
        </p:nvSpPr>
        <p:spPr>
          <a:xfrm>
            <a:off x="2852928" y="3246120"/>
            <a:ext cx="3429000" cy="274320"/>
          </a:xfrm>
          <a:prstGeom prst="rect">
            <a:avLst/>
          </a:prstGeom>
          <a:noFill/>
          <a:ln/>
        </p:spPr>
        <p:txBody>
          <a:bodyPr wrap="square" lIns="0" tIns="0" rIns="0" bIns="0" rtlCol="0" anchor="ctr"/>
          <a:lstStyle/>
          <a:p>
            <a:pPr marL="0" indent="0">
              <a:buNone/>
            </a:pPr>
            <a:r>
              <a:rPr lang="en-US" sz="1000" dirty="0">
                <a:solidFill>
                  <a:srgbClr val="6B6B6B"/>
                </a:solidFill>
                <a:latin typeface="Consolas" pitchFamily="34" charset="0"/>
                <a:ea typeface="Consolas" pitchFamily="34" charset="-122"/>
                <a:cs typeface="Consolas" pitchFamily="34" charset="-120"/>
              </a:rPr>
              <a:t>Replicas: </a:t>
            </a:r>
            <a:r>
              <a:rPr lang="en-US" sz="1000" dirty="0">
                <a:solidFill>
                  <a:srgbClr val="61AFEF"/>
                </a:solidFill>
                <a:latin typeface="Consolas" pitchFamily="34" charset="0"/>
                <a:ea typeface="Consolas" pitchFamily="34" charset="-122"/>
                <a:cs typeface="Consolas" pitchFamily="34" charset="-120"/>
              </a:rPr>
              <a:t>2   </a:t>
            </a:r>
            <a:r>
              <a:rPr lang="en-US" sz="1000" dirty="0">
                <a:solidFill>
                  <a:srgbClr val="6B6B6B"/>
                </a:solidFill>
                <a:latin typeface="Consolas" pitchFamily="34" charset="0"/>
                <a:ea typeface="Consolas" pitchFamily="34" charset="-122"/>
                <a:cs typeface="Consolas" pitchFamily="34" charset="-120"/>
              </a:rPr>
              <a:t>CPU request: </a:t>
            </a:r>
            <a:r>
              <a:rPr lang="en-US" sz="1000" b="1" dirty="0">
                <a:solidFill>
                  <a:srgbClr val="98C379"/>
                </a:solidFill>
                <a:latin typeface="Consolas" pitchFamily="34" charset="0"/>
                <a:ea typeface="Consolas" pitchFamily="34" charset="-122"/>
                <a:cs typeface="Consolas" pitchFamily="34" charset="-120"/>
              </a:rPr>
              <a:t>50m → 500m</a:t>
            </a:r>
            <a:endParaRPr lang="en-US" sz="1000" dirty="0"/>
          </a:p>
        </p:txBody>
      </p:sp>
      <p:sp>
        <p:nvSpPr>
          <p:cNvPr id="37" name="Text 30"/>
          <p:cNvSpPr/>
          <p:nvPr/>
        </p:nvSpPr>
        <p:spPr>
          <a:xfrm>
            <a:off x="2852928" y="3547872"/>
            <a:ext cx="3429000" cy="274320"/>
          </a:xfrm>
          <a:prstGeom prst="rect">
            <a:avLst/>
          </a:prstGeom>
          <a:noFill/>
          <a:ln/>
        </p:spPr>
        <p:txBody>
          <a:bodyPr wrap="square" lIns="0" tIns="0" rIns="0" bIns="0" rtlCol="0" anchor="ctr"/>
          <a:lstStyle/>
          <a:p>
            <a:pPr marL="0" indent="0">
              <a:buNone/>
            </a:pPr>
            <a:r>
              <a:rPr lang="en-US" sz="1000" dirty="0">
                <a:solidFill>
                  <a:srgbClr val="6B6B6B"/>
                </a:solidFill>
                <a:latin typeface="Consolas" pitchFamily="34" charset="0"/>
                <a:ea typeface="Consolas" pitchFamily="34" charset="-122"/>
                <a:cs typeface="Consolas" pitchFamily="34" charset="-120"/>
              </a:rPr>
              <a:t>Image: </a:t>
            </a:r>
            <a:r>
              <a:rPr lang="en-US" sz="1000" dirty="0">
                <a:solidFill>
                  <a:srgbClr val="E5C07B"/>
                </a:solidFill>
                <a:latin typeface="Consolas" pitchFamily="34" charset="0"/>
                <a:ea typeface="Consolas" pitchFamily="34" charset="-122"/>
                <a:cs typeface="Consolas" pitchFamily="34" charset="-120"/>
              </a:rPr>
              <a:t>ubi9/ubi  </a:t>
            </a:r>
            <a:r>
              <a:rPr lang="en-US" sz="1000" dirty="0">
                <a:solidFill>
                  <a:srgbClr val="6B6B6B"/>
                </a:solidFill>
                <a:latin typeface="Consolas" pitchFamily="34" charset="0"/>
                <a:ea typeface="Consolas" pitchFamily="34" charset="-122"/>
                <a:cs typeface="Consolas" pitchFamily="34" charset="-120"/>
              </a:rPr>
              <a:t>Memory: </a:t>
            </a:r>
            <a:r>
              <a:rPr lang="en-US" sz="1000" b="1" dirty="0">
                <a:solidFill>
                  <a:srgbClr val="98C379"/>
                </a:solidFill>
                <a:latin typeface="Consolas" pitchFamily="34" charset="0"/>
                <a:ea typeface="Consolas" pitchFamily="34" charset="-122"/>
                <a:cs typeface="Consolas" pitchFamily="34" charset="-120"/>
              </a:rPr>
              <a:t>100Mi → 256Mi</a:t>
            </a:r>
            <a:endParaRPr lang="en-US" sz="1000" dirty="0"/>
          </a:p>
        </p:txBody>
      </p:sp>
      <p:sp>
        <p:nvSpPr>
          <p:cNvPr id="38" name="Text 31"/>
          <p:cNvSpPr/>
          <p:nvPr/>
        </p:nvSpPr>
        <p:spPr>
          <a:xfrm>
            <a:off x="2852928" y="3858768"/>
            <a:ext cx="3429000" cy="256032"/>
          </a:xfrm>
          <a:prstGeom prst="rect">
            <a:avLst/>
          </a:prstGeom>
          <a:noFill/>
          <a:ln/>
        </p:spPr>
        <p:txBody>
          <a:bodyPr wrap="square" lIns="0" tIns="0" rIns="0" bIns="0" rtlCol="0" anchor="ctr"/>
          <a:lstStyle/>
          <a:p>
            <a:pPr marL="0" indent="0">
              <a:buNone/>
            </a:pPr>
            <a:r>
              <a:rPr lang="en-US" sz="850" i="1" dirty="0">
                <a:solidFill>
                  <a:srgbClr val="F5A623"/>
                </a:solidFill>
                <a:latin typeface="Calibri" pitchFamily="34" charset="0"/>
                <a:ea typeface="Calibri" pitchFamily="34" charset="-122"/>
                <a:cs typeface="Calibri" pitchFamily="34" charset="-120"/>
              </a:rPr>
              <a:t>⬆  VPA applies recommendations on pod restart</a:t>
            </a:r>
            <a:endParaRPr lang="en-US" sz="850" dirty="0"/>
          </a:p>
        </p:txBody>
      </p:sp>
      <p:sp>
        <p:nvSpPr>
          <p:cNvPr id="39" name="Shape 32"/>
          <p:cNvSpPr/>
          <p:nvPr/>
        </p:nvSpPr>
        <p:spPr>
          <a:xfrm>
            <a:off x="3273552" y="2148840"/>
            <a:ext cx="36576" cy="594360"/>
          </a:xfrm>
          <a:prstGeom prst="rect">
            <a:avLst/>
          </a:prstGeom>
          <a:solidFill>
            <a:srgbClr val="CC0000"/>
          </a:solidFill>
          <a:ln/>
        </p:spPr>
        <p:txBody>
          <a:bodyPr/>
          <a:lstStyle/>
          <a:p>
            <a:endParaRPr lang="en-US"/>
          </a:p>
        </p:txBody>
      </p:sp>
      <p:sp>
        <p:nvSpPr>
          <p:cNvPr id="40" name="Shape 33"/>
          <p:cNvSpPr/>
          <p:nvPr/>
        </p:nvSpPr>
        <p:spPr>
          <a:xfrm>
            <a:off x="5385816" y="2148840"/>
            <a:ext cx="36576" cy="594360"/>
          </a:xfrm>
          <a:prstGeom prst="rect">
            <a:avLst/>
          </a:prstGeom>
          <a:solidFill>
            <a:srgbClr val="4A148C"/>
          </a:solidFill>
          <a:ln/>
        </p:spPr>
        <p:txBody>
          <a:bodyPr/>
          <a:lstStyle/>
          <a:p>
            <a:endParaRPr lang="en-US"/>
          </a:p>
        </p:txBody>
      </p:sp>
      <p:sp>
        <p:nvSpPr>
          <p:cNvPr id="41" name="Shape 34"/>
          <p:cNvSpPr/>
          <p:nvPr/>
        </p:nvSpPr>
        <p:spPr>
          <a:xfrm>
            <a:off x="6858000" y="2148840"/>
            <a:ext cx="0" cy="594360"/>
          </a:xfrm>
          <a:prstGeom prst="line">
            <a:avLst/>
          </a:prstGeom>
          <a:noFill/>
          <a:ln w="25400">
            <a:solidFill>
              <a:srgbClr val="1B5E20"/>
            </a:solidFill>
            <a:prstDash val="dash"/>
          </a:ln>
        </p:spPr>
        <p:txBody>
          <a:bodyPr/>
          <a:lstStyle/>
          <a:p>
            <a:endParaRPr lang="en-US"/>
          </a:p>
        </p:txBody>
      </p:sp>
      <p:sp>
        <p:nvSpPr>
          <p:cNvPr id="42" name="Text 35"/>
          <p:cNvSpPr/>
          <p:nvPr/>
        </p:nvSpPr>
        <p:spPr>
          <a:xfrm>
            <a:off x="3310128" y="2286000"/>
            <a:ext cx="1097280" cy="228600"/>
          </a:xfrm>
          <a:prstGeom prst="rect">
            <a:avLst/>
          </a:prstGeom>
          <a:noFill/>
          <a:ln/>
        </p:spPr>
        <p:txBody>
          <a:bodyPr wrap="square" lIns="0" tIns="0" rIns="0" bIns="0" rtlCol="0" anchor="ctr"/>
          <a:lstStyle/>
          <a:p>
            <a:pPr marL="0" indent="0">
              <a:buNone/>
            </a:pPr>
            <a:r>
              <a:rPr lang="en-US" sz="800" dirty="0">
                <a:solidFill>
                  <a:srgbClr val="CC0000"/>
                </a:solidFill>
                <a:latin typeface="Calibri" pitchFamily="34" charset="0"/>
                <a:ea typeface="Calibri" pitchFamily="34" charset="-122"/>
                <a:cs typeface="Calibri" pitchFamily="34" charset="-120"/>
              </a:rPr>
              <a:t>Recommend</a:t>
            </a:r>
            <a:endParaRPr lang="en-US" sz="800" dirty="0"/>
          </a:p>
        </p:txBody>
      </p:sp>
      <p:sp>
        <p:nvSpPr>
          <p:cNvPr id="43" name="Text 36"/>
          <p:cNvSpPr/>
          <p:nvPr/>
        </p:nvSpPr>
        <p:spPr>
          <a:xfrm>
            <a:off x="5422392" y="2286000"/>
            <a:ext cx="731520" cy="228600"/>
          </a:xfrm>
          <a:prstGeom prst="rect">
            <a:avLst/>
          </a:prstGeom>
          <a:noFill/>
          <a:ln/>
        </p:spPr>
        <p:txBody>
          <a:bodyPr wrap="square" lIns="0" tIns="0" rIns="0" bIns="0" rtlCol="0" anchor="ctr"/>
          <a:lstStyle/>
          <a:p>
            <a:pPr marL="0" indent="0">
              <a:buNone/>
            </a:pPr>
            <a:r>
              <a:rPr lang="en-US" sz="800" dirty="0">
                <a:solidFill>
                  <a:srgbClr val="9C27B0"/>
                </a:solidFill>
                <a:latin typeface="Calibri" pitchFamily="34" charset="0"/>
                <a:ea typeface="Calibri" pitchFamily="34" charset="-122"/>
                <a:cs typeface="Calibri" pitchFamily="34" charset="-120"/>
              </a:rPr>
              <a:t>Evict</a:t>
            </a:r>
            <a:endParaRPr lang="en-US" sz="800" dirty="0"/>
          </a:p>
        </p:txBody>
      </p:sp>
      <p:sp>
        <p:nvSpPr>
          <p:cNvPr id="44" name="Text 37"/>
          <p:cNvSpPr/>
          <p:nvPr/>
        </p:nvSpPr>
        <p:spPr>
          <a:xfrm>
            <a:off x="6894576" y="2286000"/>
            <a:ext cx="731520" cy="228600"/>
          </a:xfrm>
          <a:prstGeom prst="rect">
            <a:avLst/>
          </a:prstGeom>
          <a:noFill/>
          <a:ln/>
        </p:spPr>
        <p:txBody>
          <a:bodyPr wrap="square" lIns="0" tIns="0" rIns="0" bIns="0" rtlCol="0" anchor="ctr"/>
          <a:lstStyle/>
          <a:p>
            <a:pPr marL="0" indent="0">
              <a:buNone/>
            </a:pPr>
            <a:r>
              <a:rPr lang="en-US" sz="800" dirty="0">
                <a:solidFill>
                  <a:srgbClr val="4CAF50"/>
                </a:solidFill>
                <a:latin typeface="Calibri" pitchFamily="34" charset="0"/>
                <a:ea typeface="Calibri" pitchFamily="34" charset="-122"/>
                <a:cs typeface="Calibri" pitchFamily="34" charset="-120"/>
              </a:rPr>
              <a:t>Mutate</a:t>
            </a:r>
            <a:endParaRPr lang="en-US" sz="800" dirty="0"/>
          </a:p>
        </p:txBody>
      </p:sp>
      <p:sp>
        <p:nvSpPr>
          <p:cNvPr id="45" name="Shape 38"/>
          <p:cNvSpPr/>
          <p:nvPr/>
        </p:nvSpPr>
        <p:spPr>
          <a:xfrm>
            <a:off x="1133856" y="2148840"/>
            <a:ext cx="36576" cy="594360"/>
          </a:xfrm>
          <a:prstGeom prst="rect">
            <a:avLst/>
          </a:prstGeom>
          <a:solidFill>
            <a:srgbClr val="006064"/>
          </a:solidFill>
          <a:ln/>
        </p:spPr>
        <p:txBody>
          <a:bodyPr/>
          <a:lstStyle/>
          <a:p>
            <a:endParaRPr lang="en-US"/>
          </a:p>
        </p:txBody>
      </p:sp>
      <p:sp>
        <p:nvSpPr>
          <p:cNvPr id="46" name="Text 39"/>
          <p:cNvSpPr/>
          <p:nvPr/>
        </p:nvSpPr>
        <p:spPr>
          <a:xfrm>
            <a:off x="1170432" y="2286000"/>
            <a:ext cx="731520" cy="228600"/>
          </a:xfrm>
          <a:prstGeom prst="rect">
            <a:avLst/>
          </a:prstGeom>
          <a:noFill/>
          <a:ln/>
        </p:spPr>
        <p:txBody>
          <a:bodyPr wrap="square" lIns="0" tIns="0" rIns="0" bIns="0" rtlCol="0" anchor="ctr"/>
          <a:lstStyle/>
          <a:p>
            <a:pPr marL="0" indent="0">
              <a:buNone/>
            </a:pPr>
            <a:r>
              <a:rPr lang="en-US" sz="800" dirty="0">
                <a:solidFill>
                  <a:srgbClr val="00ACC1"/>
                </a:solidFill>
                <a:latin typeface="Calibri" pitchFamily="34" charset="0"/>
                <a:ea typeface="Calibri" pitchFamily="34" charset="-122"/>
                <a:cs typeface="Calibri" pitchFamily="34" charset="-120"/>
              </a:rPr>
              <a:t>Metrics</a:t>
            </a:r>
            <a:endParaRPr lang="en-US" sz="800" dirty="0"/>
          </a:p>
        </p:txBody>
      </p:sp>
      <p:sp>
        <p:nvSpPr>
          <p:cNvPr id="47" name="Text 40"/>
          <p:cNvSpPr/>
          <p:nvPr/>
        </p:nvSpPr>
        <p:spPr>
          <a:xfrm>
            <a:off x="6858000" y="2834640"/>
            <a:ext cx="2103120" cy="274320"/>
          </a:xfrm>
          <a:prstGeom prst="rect">
            <a:avLst/>
          </a:prstGeom>
          <a:noFill/>
          <a:ln/>
        </p:spPr>
        <p:txBody>
          <a:bodyPr wrap="square" lIns="0" tIns="0" rIns="0" bIns="0" rtlCol="0" anchor="ctr"/>
          <a:lstStyle/>
          <a:p>
            <a:pPr marL="0" indent="0">
              <a:buNone/>
            </a:pPr>
            <a:r>
              <a:rPr lang="en-US" sz="900" b="1" kern="0" spc="200" dirty="0">
                <a:solidFill>
                  <a:srgbClr val="CC0000"/>
                </a:solidFill>
                <a:latin typeface="Calibri" pitchFamily="34" charset="0"/>
                <a:ea typeface="Calibri" pitchFamily="34" charset="-122"/>
                <a:cs typeface="Calibri" pitchFamily="34" charset="-120"/>
              </a:rPr>
              <a:t>DATA FLOW</a:t>
            </a:r>
            <a:endParaRPr lang="en-US" sz="900" dirty="0"/>
          </a:p>
        </p:txBody>
      </p:sp>
      <p:sp>
        <p:nvSpPr>
          <p:cNvPr id="48" name="Shape 41"/>
          <p:cNvSpPr/>
          <p:nvPr/>
        </p:nvSpPr>
        <p:spPr>
          <a:xfrm>
            <a:off x="6858000" y="3200400"/>
            <a:ext cx="182880" cy="91440"/>
          </a:xfrm>
          <a:prstGeom prst="rect">
            <a:avLst/>
          </a:prstGeom>
          <a:solidFill>
            <a:srgbClr val="CC0000"/>
          </a:solidFill>
          <a:ln/>
        </p:spPr>
        <p:txBody>
          <a:bodyPr/>
          <a:lstStyle/>
          <a:p>
            <a:endParaRPr lang="en-US"/>
          </a:p>
        </p:txBody>
      </p:sp>
      <p:sp>
        <p:nvSpPr>
          <p:cNvPr id="49" name="Text 42"/>
          <p:cNvSpPr/>
          <p:nvPr/>
        </p:nvSpPr>
        <p:spPr>
          <a:xfrm>
            <a:off x="7086600" y="3145536"/>
            <a:ext cx="1828800" cy="228600"/>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Recommendation flow</a:t>
            </a:r>
            <a:endParaRPr lang="en-US" sz="900" dirty="0"/>
          </a:p>
        </p:txBody>
      </p:sp>
      <p:sp>
        <p:nvSpPr>
          <p:cNvPr id="50" name="Shape 43"/>
          <p:cNvSpPr/>
          <p:nvPr/>
        </p:nvSpPr>
        <p:spPr>
          <a:xfrm>
            <a:off x="6858000" y="3566160"/>
            <a:ext cx="182880" cy="91440"/>
          </a:xfrm>
          <a:prstGeom prst="rect">
            <a:avLst/>
          </a:prstGeom>
          <a:solidFill>
            <a:srgbClr val="9C27B0"/>
          </a:solidFill>
          <a:ln/>
        </p:spPr>
        <p:txBody>
          <a:bodyPr/>
          <a:lstStyle/>
          <a:p>
            <a:endParaRPr lang="en-US"/>
          </a:p>
        </p:txBody>
      </p:sp>
      <p:sp>
        <p:nvSpPr>
          <p:cNvPr id="51" name="Text 44"/>
          <p:cNvSpPr/>
          <p:nvPr/>
        </p:nvSpPr>
        <p:spPr>
          <a:xfrm>
            <a:off x="7086600" y="3511296"/>
            <a:ext cx="1828800" cy="228600"/>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Pod eviction trigger</a:t>
            </a:r>
            <a:endParaRPr lang="en-US" sz="900" dirty="0"/>
          </a:p>
        </p:txBody>
      </p:sp>
      <p:sp>
        <p:nvSpPr>
          <p:cNvPr id="52" name="Shape 45"/>
          <p:cNvSpPr/>
          <p:nvPr/>
        </p:nvSpPr>
        <p:spPr>
          <a:xfrm>
            <a:off x="6858000" y="3931920"/>
            <a:ext cx="182880" cy="91440"/>
          </a:xfrm>
          <a:prstGeom prst="rect">
            <a:avLst/>
          </a:prstGeom>
          <a:solidFill>
            <a:srgbClr val="4CAF50"/>
          </a:solidFill>
          <a:ln/>
        </p:spPr>
        <p:txBody>
          <a:bodyPr/>
          <a:lstStyle/>
          <a:p>
            <a:endParaRPr lang="en-US"/>
          </a:p>
        </p:txBody>
      </p:sp>
      <p:sp>
        <p:nvSpPr>
          <p:cNvPr id="53" name="Text 46"/>
          <p:cNvSpPr/>
          <p:nvPr/>
        </p:nvSpPr>
        <p:spPr>
          <a:xfrm>
            <a:off x="7086600" y="3877056"/>
            <a:ext cx="1828800" cy="228600"/>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Spec mutation</a:t>
            </a:r>
            <a:endParaRPr lang="en-US" sz="900" dirty="0"/>
          </a:p>
        </p:txBody>
      </p:sp>
      <p:sp>
        <p:nvSpPr>
          <p:cNvPr id="54" name="Shape 47"/>
          <p:cNvSpPr/>
          <p:nvPr/>
        </p:nvSpPr>
        <p:spPr>
          <a:xfrm>
            <a:off x="6858000" y="4297680"/>
            <a:ext cx="182880" cy="91440"/>
          </a:xfrm>
          <a:prstGeom prst="rect">
            <a:avLst/>
          </a:prstGeom>
          <a:solidFill>
            <a:srgbClr val="00ACC1"/>
          </a:solidFill>
          <a:ln/>
        </p:spPr>
        <p:txBody>
          <a:bodyPr/>
          <a:lstStyle/>
          <a:p>
            <a:endParaRPr lang="en-US"/>
          </a:p>
        </p:txBody>
      </p:sp>
      <p:sp>
        <p:nvSpPr>
          <p:cNvPr id="55" name="Text 48"/>
          <p:cNvSpPr/>
          <p:nvPr/>
        </p:nvSpPr>
        <p:spPr>
          <a:xfrm>
            <a:off x="7086600" y="4242816"/>
            <a:ext cx="1828800" cy="228600"/>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Metrics collection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E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11111"/>
          </a:solidFill>
          <a:ln/>
        </p:spPr>
        <p:txBody>
          <a:bodyPr/>
          <a:lstStyle/>
          <a:p>
            <a:endParaRPr lang="en-US"/>
          </a:p>
        </p:txBody>
      </p:sp>
      <p:sp>
        <p:nvSpPr>
          <p:cNvPr id="3" name="Shape 1"/>
          <p:cNvSpPr/>
          <p:nvPr/>
        </p:nvSpPr>
        <p:spPr>
          <a:xfrm>
            <a:off x="0" y="0"/>
            <a:ext cx="9144000" cy="54864"/>
          </a:xfrm>
          <a:prstGeom prst="rect">
            <a:avLst/>
          </a:prstGeom>
          <a:solidFill>
            <a:srgbClr val="CC0000"/>
          </a:solidFill>
          <a:ln/>
        </p:spPr>
        <p:txBody>
          <a:bodyPr/>
          <a:lstStyle/>
          <a:p>
            <a:endParaRPr lang="en-US"/>
          </a:p>
        </p:txBody>
      </p:sp>
      <p:sp>
        <p:nvSpPr>
          <p:cNvPr id="4" name="Text 2"/>
          <p:cNvSpPr/>
          <p:nvPr/>
        </p:nvSpPr>
        <p:spPr>
          <a:xfrm>
            <a:off x="274320" y="109728"/>
            <a:ext cx="7772400" cy="384048"/>
          </a:xfrm>
          <a:prstGeom prst="rect">
            <a:avLst/>
          </a:prstGeom>
          <a:noFill/>
          <a:ln/>
        </p:spPr>
        <p:txBody>
          <a:bodyPr wrap="square" lIns="0" tIns="0" rIns="0" bIns="0" rtlCol="0" anchor="ctr"/>
          <a:lstStyle/>
          <a:p>
            <a:pPr marL="0" indent="0">
              <a:buNone/>
            </a:pPr>
            <a:r>
              <a:rPr lang="en-US" sz="1800" b="1" kern="0" spc="200" dirty="0">
                <a:solidFill>
                  <a:srgbClr val="FFFFFF"/>
                </a:solidFill>
                <a:latin typeface="Calibri" pitchFamily="34" charset="0"/>
                <a:ea typeface="Calibri" pitchFamily="34" charset="-122"/>
                <a:cs typeface="Calibri" pitchFamily="34" charset="-120"/>
              </a:rPr>
              <a:t>DEMO WORKLOAD – cpu-app DEPLOYMENT</a:t>
            </a:r>
            <a:endParaRPr lang="en-US" sz="1800" dirty="0"/>
          </a:p>
        </p:txBody>
      </p:sp>
      <p:sp>
        <p:nvSpPr>
          <p:cNvPr id="5" name="Text 3"/>
          <p:cNvSpPr/>
          <p:nvPr/>
        </p:nvSpPr>
        <p:spPr>
          <a:xfrm>
            <a:off x="8321040" y="109728"/>
            <a:ext cx="640080" cy="384048"/>
          </a:xfrm>
          <a:prstGeom prst="rect">
            <a:avLst/>
          </a:prstGeom>
          <a:noFill/>
          <a:ln/>
        </p:spPr>
        <p:txBody>
          <a:bodyPr wrap="square" lIns="0" tIns="0" rIns="0" bIns="0" rtlCol="0" anchor="ctr"/>
          <a:lstStyle/>
          <a:p>
            <a:pPr marL="0" indent="0">
              <a:buNone/>
            </a:pPr>
            <a:r>
              <a:rPr lang="en-US" sz="2200" b="1" dirty="0">
                <a:solidFill>
                  <a:srgbClr val="CC0000"/>
                </a:solidFill>
                <a:latin typeface="Calibri" pitchFamily="34" charset="0"/>
                <a:ea typeface="Calibri" pitchFamily="34" charset="-122"/>
                <a:cs typeface="Calibri" pitchFamily="34" charset="-120"/>
              </a:rPr>
              <a:t>04</a:t>
            </a:r>
            <a:endParaRPr lang="en-US" sz="2200" dirty="0"/>
          </a:p>
        </p:txBody>
      </p:sp>
      <p:sp>
        <p:nvSpPr>
          <p:cNvPr id="6" name="Shape 4"/>
          <p:cNvSpPr/>
          <p:nvPr/>
        </p:nvSpPr>
        <p:spPr>
          <a:xfrm>
            <a:off x="274320" y="688965"/>
            <a:ext cx="5029200" cy="4430268"/>
          </a:xfrm>
          <a:prstGeom prst="rect">
            <a:avLst/>
          </a:prstGeom>
          <a:solidFill>
            <a:srgbClr val="1A1A2E"/>
          </a:solidFill>
          <a:ln w="12700">
            <a:solidFill>
              <a:srgbClr val="333344"/>
            </a:solidFill>
            <a:prstDash val="solid"/>
          </a:ln>
          <a:effectLst>
            <a:outerShdw blurRad="101600" dist="38100" dir="8100000" algn="bl" rotWithShape="0">
              <a:srgbClr val="000000">
                <a:alpha val="25000"/>
              </a:srgbClr>
            </a:outerShdw>
          </a:effectLst>
        </p:spPr>
        <p:txBody>
          <a:bodyPr/>
          <a:lstStyle/>
          <a:p>
            <a:endParaRPr lang="en-US"/>
          </a:p>
        </p:txBody>
      </p:sp>
      <p:sp>
        <p:nvSpPr>
          <p:cNvPr id="7" name="Shape 5"/>
          <p:cNvSpPr/>
          <p:nvPr/>
        </p:nvSpPr>
        <p:spPr>
          <a:xfrm>
            <a:off x="274320" y="713232"/>
            <a:ext cx="5029200" cy="292608"/>
          </a:xfrm>
          <a:prstGeom prst="rect">
            <a:avLst/>
          </a:prstGeom>
          <a:solidFill>
            <a:srgbClr val="2A2A3E"/>
          </a:solidFill>
          <a:ln/>
        </p:spPr>
        <p:txBody>
          <a:bodyPr/>
          <a:lstStyle/>
          <a:p>
            <a:endParaRPr lang="en-US"/>
          </a:p>
        </p:txBody>
      </p:sp>
      <p:sp>
        <p:nvSpPr>
          <p:cNvPr id="8" name="Shape 6"/>
          <p:cNvSpPr/>
          <p:nvPr/>
        </p:nvSpPr>
        <p:spPr>
          <a:xfrm>
            <a:off x="411480" y="804672"/>
            <a:ext cx="109728" cy="109728"/>
          </a:xfrm>
          <a:prstGeom prst="ellipse">
            <a:avLst/>
          </a:prstGeom>
          <a:solidFill>
            <a:srgbClr val="FF5F56"/>
          </a:solidFill>
          <a:ln w="12700">
            <a:solidFill>
              <a:srgbClr val="FF5F56"/>
            </a:solidFill>
            <a:prstDash val="solid"/>
          </a:ln>
        </p:spPr>
        <p:txBody>
          <a:bodyPr/>
          <a:lstStyle/>
          <a:p>
            <a:endParaRPr lang="en-US"/>
          </a:p>
        </p:txBody>
      </p:sp>
      <p:sp>
        <p:nvSpPr>
          <p:cNvPr id="9" name="Shape 7"/>
          <p:cNvSpPr/>
          <p:nvPr/>
        </p:nvSpPr>
        <p:spPr>
          <a:xfrm>
            <a:off x="566928" y="804672"/>
            <a:ext cx="109728" cy="109728"/>
          </a:xfrm>
          <a:prstGeom prst="ellipse">
            <a:avLst/>
          </a:prstGeom>
          <a:solidFill>
            <a:srgbClr val="FFBD2E"/>
          </a:solidFill>
          <a:ln w="12700">
            <a:solidFill>
              <a:srgbClr val="FFBD2E"/>
            </a:solidFill>
            <a:prstDash val="solid"/>
          </a:ln>
        </p:spPr>
        <p:txBody>
          <a:bodyPr/>
          <a:lstStyle/>
          <a:p>
            <a:endParaRPr lang="en-US"/>
          </a:p>
        </p:txBody>
      </p:sp>
      <p:sp>
        <p:nvSpPr>
          <p:cNvPr id="10" name="Shape 8"/>
          <p:cNvSpPr/>
          <p:nvPr/>
        </p:nvSpPr>
        <p:spPr>
          <a:xfrm>
            <a:off x="722376" y="804672"/>
            <a:ext cx="109728" cy="109728"/>
          </a:xfrm>
          <a:prstGeom prst="ellipse">
            <a:avLst/>
          </a:prstGeom>
          <a:solidFill>
            <a:srgbClr val="27C93F"/>
          </a:solidFill>
          <a:ln w="12700">
            <a:solidFill>
              <a:srgbClr val="27C93F"/>
            </a:solidFill>
            <a:prstDash val="solid"/>
          </a:ln>
        </p:spPr>
        <p:txBody>
          <a:bodyPr/>
          <a:lstStyle/>
          <a:p>
            <a:endParaRPr lang="en-US"/>
          </a:p>
        </p:txBody>
      </p:sp>
      <p:sp>
        <p:nvSpPr>
          <p:cNvPr id="11" name="Text 9"/>
          <p:cNvSpPr/>
          <p:nvPr/>
        </p:nvSpPr>
        <p:spPr>
          <a:xfrm>
            <a:off x="2834640" y="758952"/>
            <a:ext cx="2286000" cy="201168"/>
          </a:xfrm>
          <a:prstGeom prst="rect">
            <a:avLst/>
          </a:prstGeom>
          <a:noFill/>
          <a:ln/>
        </p:spPr>
        <p:txBody>
          <a:bodyPr wrap="square" lIns="0" tIns="0" rIns="0" bIns="0" rtlCol="0" anchor="ctr"/>
          <a:lstStyle/>
          <a:p>
            <a:pPr marL="0" indent="0" algn="ctr">
              <a:buNone/>
            </a:pPr>
            <a:r>
              <a:rPr lang="en-US" sz="900" dirty="0">
                <a:solidFill>
                  <a:srgbClr val="8888AA"/>
                </a:solidFill>
                <a:latin typeface="Consolas" pitchFamily="34" charset="0"/>
                <a:ea typeface="Consolas" pitchFamily="34" charset="-122"/>
                <a:cs typeface="Consolas" pitchFamily="34" charset="-120"/>
              </a:rPr>
              <a:t>cpu-app.yaml</a:t>
            </a:r>
            <a:endParaRPr lang="en-US" sz="900" dirty="0"/>
          </a:p>
        </p:txBody>
      </p:sp>
      <p:sp>
        <p:nvSpPr>
          <p:cNvPr id="12" name="Text 10"/>
          <p:cNvSpPr/>
          <p:nvPr/>
        </p:nvSpPr>
        <p:spPr>
          <a:xfrm>
            <a:off x="384048" y="1115568"/>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apiVersion</a:t>
            </a:r>
            <a:r>
              <a:rPr lang="en-US" sz="850" dirty="0">
                <a:solidFill>
                  <a:srgbClr val="FFFFFF"/>
                </a:solidFill>
                <a:latin typeface="Consolas" pitchFamily="34" charset="0"/>
                <a:ea typeface="Consolas" pitchFamily="34" charset="-122"/>
                <a:cs typeface="Consolas" pitchFamily="34" charset="-120"/>
              </a:rPr>
              <a:t>: apps/v1</a:t>
            </a:r>
            <a:endParaRPr lang="en-US" sz="850" dirty="0"/>
          </a:p>
        </p:txBody>
      </p:sp>
      <p:sp>
        <p:nvSpPr>
          <p:cNvPr id="13" name="Text 11"/>
          <p:cNvSpPr/>
          <p:nvPr/>
        </p:nvSpPr>
        <p:spPr>
          <a:xfrm>
            <a:off x="384048" y="1293876"/>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kind</a:t>
            </a:r>
            <a:r>
              <a:rPr lang="en-US" sz="850" dirty="0">
                <a:solidFill>
                  <a:srgbClr val="61AFEF"/>
                </a:solidFill>
                <a:latin typeface="Consolas" pitchFamily="34" charset="0"/>
                <a:ea typeface="Consolas" pitchFamily="34" charset="-122"/>
                <a:cs typeface="Consolas" pitchFamily="34" charset="-120"/>
              </a:rPr>
              <a:t>: Deployment</a:t>
            </a:r>
            <a:endParaRPr lang="en-US" sz="850" dirty="0"/>
          </a:p>
        </p:txBody>
      </p:sp>
      <p:sp>
        <p:nvSpPr>
          <p:cNvPr id="14" name="Text 12"/>
          <p:cNvSpPr/>
          <p:nvPr/>
        </p:nvSpPr>
        <p:spPr>
          <a:xfrm>
            <a:off x="384048" y="1472184"/>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metadata</a:t>
            </a: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15" name="Text 13"/>
          <p:cNvSpPr/>
          <p:nvPr/>
        </p:nvSpPr>
        <p:spPr>
          <a:xfrm>
            <a:off x="384048" y="1650492"/>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name</a:t>
            </a:r>
            <a:r>
              <a:rPr lang="en-US" sz="850" dirty="0">
                <a:solidFill>
                  <a:srgbClr val="E5C07B"/>
                </a:solidFill>
                <a:latin typeface="Consolas" pitchFamily="34" charset="0"/>
                <a:ea typeface="Consolas" pitchFamily="34" charset="-122"/>
                <a:cs typeface="Consolas" pitchFamily="34" charset="-120"/>
              </a:rPr>
              <a:t>: cpu-app</a:t>
            </a:r>
            <a:endParaRPr lang="en-US" sz="850" dirty="0"/>
          </a:p>
        </p:txBody>
      </p:sp>
      <p:sp>
        <p:nvSpPr>
          <p:cNvPr id="16" name="Text 14"/>
          <p:cNvSpPr/>
          <p:nvPr/>
        </p:nvSpPr>
        <p:spPr>
          <a:xfrm>
            <a:off x="384048" y="1828800"/>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spec</a:t>
            </a: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17" name="Text 15"/>
          <p:cNvSpPr/>
          <p:nvPr/>
        </p:nvSpPr>
        <p:spPr>
          <a:xfrm>
            <a:off x="384048" y="2007108"/>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replicas</a:t>
            </a:r>
            <a:r>
              <a:rPr lang="en-US" sz="850" dirty="0">
                <a:solidFill>
                  <a:srgbClr val="61AFEF"/>
                </a:solidFill>
                <a:latin typeface="Consolas" pitchFamily="34" charset="0"/>
                <a:ea typeface="Consolas" pitchFamily="34" charset="-122"/>
                <a:cs typeface="Consolas" pitchFamily="34" charset="-120"/>
              </a:rPr>
              <a:t>: 2</a:t>
            </a:r>
            <a:endParaRPr lang="en-US" sz="850" dirty="0"/>
          </a:p>
        </p:txBody>
      </p:sp>
      <p:sp>
        <p:nvSpPr>
          <p:cNvPr id="18" name="Text 16"/>
          <p:cNvSpPr/>
          <p:nvPr/>
        </p:nvSpPr>
        <p:spPr>
          <a:xfrm>
            <a:off x="384048" y="2185416"/>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selector</a:t>
            </a: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19" name="Text 17"/>
          <p:cNvSpPr/>
          <p:nvPr/>
        </p:nvSpPr>
        <p:spPr>
          <a:xfrm>
            <a:off x="384048" y="2363724"/>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matchLabels</a:t>
            </a: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20" name="Text 18"/>
          <p:cNvSpPr/>
          <p:nvPr/>
        </p:nvSpPr>
        <p:spPr>
          <a:xfrm>
            <a:off x="384048" y="2542032"/>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app</a:t>
            </a:r>
            <a:r>
              <a:rPr lang="en-US" sz="850" dirty="0">
                <a:solidFill>
                  <a:srgbClr val="E5C07B"/>
                </a:solidFill>
                <a:latin typeface="Consolas" pitchFamily="34" charset="0"/>
                <a:ea typeface="Consolas" pitchFamily="34" charset="-122"/>
                <a:cs typeface="Consolas" pitchFamily="34" charset="-120"/>
              </a:rPr>
              <a:t>: cpu-app</a:t>
            </a:r>
            <a:endParaRPr lang="en-US" sz="850" dirty="0"/>
          </a:p>
        </p:txBody>
      </p:sp>
      <p:sp>
        <p:nvSpPr>
          <p:cNvPr id="21" name="Text 19"/>
          <p:cNvSpPr/>
          <p:nvPr/>
        </p:nvSpPr>
        <p:spPr>
          <a:xfrm>
            <a:off x="384048" y="2720340"/>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template</a:t>
            </a: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22" name="Text 20"/>
          <p:cNvSpPr/>
          <p:nvPr/>
        </p:nvSpPr>
        <p:spPr>
          <a:xfrm>
            <a:off x="384048" y="2898648"/>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spec</a:t>
            </a: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23" name="Text 21"/>
          <p:cNvSpPr/>
          <p:nvPr/>
        </p:nvSpPr>
        <p:spPr>
          <a:xfrm>
            <a:off x="384048" y="3076956"/>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containers</a:t>
            </a: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24" name="Text 22"/>
          <p:cNvSpPr/>
          <p:nvPr/>
        </p:nvSpPr>
        <p:spPr>
          <a:xfrm>
            <a:off x="384048" y="3255264"/>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 name</a:t>
            </a:r>
            <a:r>
              <a:rPr lang="en-US" sz="850" dirty="0">
                <a:solidFill>
                  <a:srgbClr val="E5C07B"/>
                </a:solidFill>
                <a:latin typeface="Consolas" pitchFamily="34" charset="0"/>
                <a:ea typeface="Consolas" pitchFamily="34" charset="-122"/>
                <a:cs typeface="Consolas" pitchFamily="34" charset="-120"/>
              </a:rPr>
              <a:t>: app</a:t>
            </a:r>
            <a:endParaRPr lang="en-US" sz="850" dirty="0"/>
          </a:p>
        </p:txBody>
      </p:sp>
      <p:sp>
        <p:nvSpPr>
          <p:cNvPr id="25" name="Text 23"/>
          <p:cNvSpPr/>
          <p:nvPr/>
        </p:nvSpPr>
        <p:spPr>
          <a:xfrm>
            <a:off x="384048" y="3433572"/>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image</a:t>
            </a:r>
            <a:r>
              <a:rPr lang="en-US" sz="850" dirty="0">
                <a:solidFill>
                  <a:srgbClr val="E5C07B"/>
                </a:solidFill>
                <a:latin typeface="Consolas" pitchFamily="34" charset="0"/>
                <a:ea typeface="Consolas" pitchFamily="34" charset="-122"/>
                <a:cs typeface="Consolas" pitchFamily="34" charset="-120"/>
              </a:rPr>
              <a:t>: ubi9/ubi</a:t>
            </a:r>
            <a:endParaRPr lang="en-US" sz="850" dirty="0"/>
          </a:p>
        </p:txBody>
      </p:sp>
      <p:sp>
        <p:nvSpPr>
          <p:cNvPr id="26" name="Text 24"/>
          <p:cNvSpPr/>
          <p:nvPr/>
        </p:nvSpPr>
        <p:spPr>
          <a:xfrm>
            <a:off x="384048" y="3611880"/>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command</a:t>
            </a:r>
            <a:r>
              <a:rPr lang="en-US" sz="850" dirty="0">
                <a:solidFill>
                  <a:srgbClr val="FFFFFF"/>
                </a:solidFill>
                <a:latin typeface="Consolas" pitchFamily="34" charset="0"/>
                <a:ea typeface="Consolas" pitchFamily="34" charset="-122"/>
                <a:cs typeface="Consolas" pitchFamily="34" charset="-120"/>
              </a:rPr>
              <a:t>: ["/bin/bash","-c"]</a:t>
            </a:r>
            <a:endParaRPr lang="en-US" sz="850" dirty="0"/>
          </a:p>
        </p:txBody>
      </p:sp>
      <p:sp>
        <p:nvSpPr>
          <p:cNvPr id="27" name="Text 25"/>
          <p:cNvSpPr/>
          <p:nvPr/>
        </p:nvSpPr>
        <p:spPr>
          <a:xfrm>
            <a:off x="384048" y="3790188"/>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args</a:t>
            </a: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28" name="Text 26"/>
          <p:cNvSpPr/>
          <p:nvPr/>
        </p:nvSpPr>
        <p:spPr>
          <a:xfrm>
            <a:off x="384048" y="3968496"/>
            <a:ext cx="4846320" cy="182880"/>
          </a:xfrm>
          <a:prstGeom prst="rect">
            <a:avLst/>
          </a:prstGeom>
          <a:noFill/>
          <a:ln/>
        </p:spPr>
        <p:txBody>
          <a:bodyPr wrap="square" lIns="0" tIns="0" rIns="0" bIns="0" rtlCol="0" anchor="ctr"/>
          <a:lstStyle/>
          <a:p>
            <a:pPr marL="0" indent="0">
              <a:buNone/>
            </a:pPr>
            <a:r>
              <a:rPr lang="en-US" sz="850" dirty="0">
                <a:solidFill>
                  <a:srgbClr val="E06C75"/>
                </a:solidFill>
                <a:latin typeface="Consolas" pitchFamily="34" charset="0"/>
                <a:ea typeface="Consolas" pitchFamily="34" charset="-122"/>
                <a:cs typeface="Consolas" pitchFamily="34" charset="-120"/>
              </a:rPr>
              <a:t>        - "while true; do dd if=/dev/zero</a:t>
            </a:r>
            <a:endParaRPr lang="en-US" sz="850" dirty="0"/>
          </a:p>
        </p:txBody>
      </p:sp>
      <p:sp>
        <p:nvSpPr>
          <p:cNvPr id="29" name="Text 27"/>
          <p:cNvSpPr/>
          <p:nvPr/>
        </p:nvSpPr>
        <p:spPr>
          <a:xfrm>
            <a:off x="384048" y="4146804"/>
            <a:ext cx="4846320" cy="182880"/>
          </a:xfrm>
          <a:prstGeom prst="rect">
            <a:avLst/>
          </a:prstGeom>
          <a:noFill/>
          <a:ln/>
        </p:spPr>
        <p:txBody>
          <a:bodyPr wrap="square" lIns="0" tIns="0" rIns="0" bIns="0" rtlCol="0" anchor="ctr"/>
          <a:lstStyle/>
          <a:p>
            <a:pPr marL="0" indent="0">
              <a:buNone/>
            </a:pPr>
            <a:r>
              <a:rPr lang="en-US" sz="850" dirty="0">
                <a:solidFill>
                  <a:srgbClr val="E06C75"/>
                </a:solidFill>
                <a:latin typeface="Consolas" pitchFamily="34" charset="0"/>
                <a:ea typeface="Consolas" pitchFamily="34" charset="-122"/>
                <a:cs typeface="Consolas" pitchFamily="34" charset="-120"/>
              </a:rPr>
              <a:t>             of=/dev/null; done"</a:t>
            </a:r>
            <a:endParaRPr lang="en-US" sz="850" dirty="0"/>
          </a:p>
        </p:txBody>
      </p:sp>
      <p:sp>
        <p:nvSpPr>
          <p:cNvPr id="30" name="Text 28"/>
          <p:cNvSpPr/>
          <p:nvPr/>
        </p:nvSpPr>
        <p:spPr>
          <a:xfrm>
            <a:off x="384048" y="4325112"/>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resources</a:t>
            </a: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31" name="Text 29"/>
          <p:cNvSpPr/>
          <p:nvPr/>
        </p:nvSpPr>
        <p:spPr>
          <a:xfrm>
            <a:off x="384048" y="4503420"/>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requests</a:t>
            </a: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32" name="Text 30"/>
          <p:cNvSpPr/>
          <p:nvPr/>
        </p:nvSpPr>
        <p:spPr>
          <a:xfrm>
            <a:off x="384048" y="4681728"/>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cpu</a:t>
            </a:r>
            <a:r>
              <a:rPr lang="en-US" sz="850" dirty="0">
                <a:solidFill>
                  <a:srgbClr val="F5A623"/>
                </a:solidFill>
                <a:latin typeface="Consolas" pitchFamily="34" charset="0"/>
                <a:ea typeface="Consolas" pitchFamily="34" charset="-122"/>
                <a:cs typeface="Consolas" pitchFamily="34" charset="-120"/>
              </a:rPr>
              <a:t>: "50m"   </a:t>
            </a:r>
            <a:r>
              <a:rPr lang="en-US" sz="850" dirty="0">
                <a:solidFill>
                  <a:srgbClr val="555577"/>
                </a:solidFill>
                <a:latin typeface="Consolas" pitchFamily="34" charset="0"/>
                <a:ea typeface="Consolas" pitchFamily="34" charset="-122"/>
                <a:cs typeface="Consolas" pitchFamily="34" charset="-120"/>
              </a:rPr>
              <a:t># ← intentionally low!</a:t>
            </a:r>
            <a:endParaRPr lang="en-US" sz="850" dirty="0"/>
          </a:p>
        </p:txBody>
      </p:sp>
      <p:sp>
        <p:nvSpPr>
          <p:cNvPr id="33" name="Text 31"/>
          <p:cNvSpPr/>
          <p:nvPr/>
        </p:nvSpPr>
        <p:spPr>
          <a:xfrm>
            <a:off x="384048" y="4860036"/>
            <a:ext cx="4846320" cy="182880"/>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memory</a:t>
            </a:r>
            <a:r>
              <a:rPr lang="en-US" sz="850" dirty="0">
                <a:solidFill>
                  <a:srgbClr val="61AFEF"/>
                </a:solidFill>
                <a:latin typeface="Consolas" pitchFamily="34" charset="0"/>
                <a:ea typeface="Consolas" pitchFamily="34" charset="-122"/>
                <a:cs typeface="Consolas" pitchFamily="34" charset="-120"/>
              </a:rPr>
              <a:t>: "100Mi"</a:t>
            </a:r>
            <a:endParaRPr lang="en-US" sz="850" dirty="0"/>
          </a:p>
        </p:txBody>
      </p:sp>
      <p:sp>
        <p:nvSpPr>
          <p:cNvPr id="34" name="Shape 32"/>
          <p:cNvSpPr/>
          <p:nvPr/>
        </p:nvSpPr>
        <p:spPr>
          <a:xfrm>
            <a:off x="5440680" y="749808"/>
            <a:ext cx="3383280" cy="1261872"/>
          </a:xfrm>
          <a:prstGeom prst="rect">
            <a:avLst/>
          </a:prstGeom>
          <a:solidFill>
            <a:srgbClr val="1A1A1A"/>
          </a:solidFill>
          <a:ln w="19050">
            <a:solidFill>
              <a:srgbClr val="CC0000"/>
            </a:solidFill>
            <a:prstDash val="solid"/>
          </a:ln>
          <a:effectLst>
            <a:outerShdw blurRad="101600" dist="38100" dir="8100000" algn="bl" rotWithShape="0">
              <a:srgbClr val="000000">
                <a:alpha val="25000"/>
              </a:srgbClr>
            </a:outerShdw>
          </a:effectLst>
        </p:spPr>
        <p:txBody>
          <a:bodyPr/>
          <a:lstStyle/>
          <a:p>
            <a:endParaRPr lang="en-US"/>
          </a:p>
        </p:txBody>
      </p:sp>
      <p:sp>
        <p:nvSpPr>
          <p:cNvPr id="35" name="Shape 33"/>
          <p:cNvSpPr/>
          <p:nvPr/>
        </p:nvSpPr>
        <p:spPr>
          <a:xfrm>
            <a:off x="5440680" y="749808"/>
            <a:ext cx="73152" cy="1261872"/>
          </a:xfrm>
          <a:prstGeom prst="rect">
            <a:avLst/>
          </a:prstGeom>
          <a:solidFill>
            <a:srgbClr val="CC0000"/>
          </a:solidFill>
          <a:ln/>
        </p:spPr>
        <p:txBody>
          <a:bodyPr/>
          <a:lstStyle/>
          <a:p>
            <a:endParaRPr lang="en-US"/>
          </a:p>
        </p:txBody>
      </p:sp>
      <p:sp>
        <p:nvSpPr>
          <p:cNvPr id="36" name="Text 34"/>
          <p:cNvSpPr/>
          <p:nvPr/>
        </p:nvSpPr>
        <p:spPr>
          <a:xfrm>
            <a:off x="5577840" y="841248"/>
            <a:ext cx="315468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CPU Stress Command</a:t>
            </a:r>
            <a:endParaRPr lang="en-US" sz="1100" dirty="0"/>
          </a:p>
        </p:txBody>
      </p:sp>
      <p:sp>
        <p:nvSpPr>
          <p:cNvPr id="37" name="Text 35"/>
          <p:cNvSpPr/>
          <p:nvPr/>
        </p:nvSpPr>
        <p:spPr>
          <a:xfrm>
            <a:off x="5577840" y="1170432"/>
            <a:ext cx="3154680" cy="749808"/>
          </a:xfrm>
          <a:prstGeom prst="rect">
            <a:avLst/>
          </a:prstGeom>
          <a:noFill/>
          <a:ln/>
        </p:spPr>
        <p:txBody>
          <a:bodyPr wrap="square" lIns="0" tIns="0" rIns="0" bIns="0" rtlCol="0" anchor="ctr"/>
          <a:lstStyle/>
          <a:p>
            <a:pPr marL="0" indent="0">
              <a:buNone/>
            </a:pPr>
            <a:r>
              <a:rPr lang="en-US" sz="950" dirty="0">
                <a:solidFill>
                  <a:srgbClr val="D8D8D8"/>
                </a:solidFill>
                <a:latin typeface="Calibri" pitchFamily="34" charset="0"/>
                <a:ea typeface="Calibri" pitchFamily="34" charset="-122"/>
                <a:cs typeface="Calibri" pitchFamily="34" charset="-120"/>
              </a:rPr>
              <a:t>`dd if=/dev/zero of=/dev/null` generates maximal CPU load continuously. This simulates a real compute-intensive workload.</a:t>
            </a:r>
            <a:endParaRPr lang="en-US" sz="950" dirty="0"/>
          </a:p>
        </p:txBody>
      </p:sp>
      <p:sp>
        <p:nvSpPr>
          <p:cNvPr id="38" name="Shape 36"/>
          <p:cNvSpPr/>
          <p:nvPr/>
        </p:nvSpPr>
        <p:spPr>
          <a:xfrm>
            <a:off x="5440680" y="2103120"/>
            <a:ext cx="3383280" cy="1261872"/>
          </a:xfrm>
          <a:prstGeom prst="rect">
            <a:avLst/>
          </a:prstGeom>
          <a:solidFill>
            <a:srgbClr val="1A1A1A"/>
          </a:solidFill>
          <a:ln w="19050">
            <a:solidFill>
              <a:srgbClr val="F5A623"/>
            </a:solidFill>
            <a:prstDash val="solid"/>
          </a:ln>
          <a:effectLst>
            <a:outerShdw blurRad="101600" dist="38100" dir="8100000" algn="bl" rotWithShape="0">
              <a:srgbClr val="000000">
                <a:alpha val="25000"/>
              </a:srgbClr>
            </a:outerShdw>
          </a:effectLst>
        </p:spPr>
        <p:txBody>
          <a:bodyPr/>
          <a:lstStyle/>
          <a:p>
            <a:endParaRPr lang="en-US"/>
          </a:p>
        </p:txBody>
      </p:sp>
      <p:sp>
        <p:nvSpPr>
          <p:cNvPr id="39" name="Shape 37"/>
          <p:cNvSpPr/>
          <p:nvPr/>
        </p:nvSpPr>
        <p:spPr>
          <a:xfrm>
            <a:off x="5440680" y="2103120"/>
            <a:ext cx="73152" cy="1261872"/>
          </a:xfrm>
          <a:prstGeom prst="rect">
            <a:avLst/>
          </a:prstGeom>
          <a:solidFill>
            <a:srgbClr val="F5A623"/>
          </a:solidFill>
          <a:ln/>
        </p:spPr>
        <p:txBody>
          <a:bodyPr/>
          <a:lstStyle/>
          <a:p>
            <a:endParaRPr lang="en-US"/>
          </a:p>
        </p:txBody>
      </p:sp>
      <p:sp>
        <p:nvSpPr>
          <p:cNvPr id="40" name="Text 38"/>
          <p:cNvSpPr/>
          <p:nvPr/>
        </p:nvSpPr>
        <p:spPr>
          <a:xfrm>
            <a:off x="5577840" y="2194560"/>
            <a:ext cx="315468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Under-Provisioned</a:t>
            </a:r>
            <a:endParaRPr lang="en-US" sz="1100" dirty="0"/>
          </a:p>
        </p:txBody>
      </p:sp>
      <p:sp>
        <p:nvSpPr>
          <p:cNvPr id="41" name="Text 39"/>
          <p:cNvSpPr/>
          <p:nvPr/>
        </p:nvSpPr>
        <p:spPr>
          <a:xfrm>
            <a:off x="5577840" y="2523744"/>
            <a:ext cx="3154680" cy="749808"/>
          </a:xfrm>
          <a:prstGeom prst="rect">
            <a:avLst/>
          </a:prstGeom>
          <a:noFill/>
          <a:ln/>
        </p:spPr>
        <p:txBody>
          <a:bodyPr wrap="square" lIns="0" tIns="0" rIns="0" bIns="0" rtlCol="0" anchor="ctr"/>
          <a:lstStyle/>
          <a:p>
            <a:pPr marL="0" indent="0">
              <a:buNone/>
            </a:pPr>
            <a:r>
              <a:rPr lang="en-US" sz="950" dirty="0">
                <a:solidFill>
                  <a:srgbClr val="D8D8D8"/>
                </a:solidFill>
                <a:latin typeface="Calibri" pitchFamily="34" charset="0"/>
                <a:ea typeface="Calibri" pitchFamily="34" charset="-122"/>
                <a:cs typeface="Calibri" pitchFamily="34" charset="-120"/>
              </a:rPr>
              <a:t>CPU request of 50m is intentionally too low for a busy loop. Actual consumption will be 10–20× higher.</a:t>
            </a:r>
            <a:endParaRPr lang="en-US" sz="950" dirty="0"/>
          </a:p>
        </p:txBody>
      </p:sp>
      <p:sp>
        <p:nvSpPr>
          <p:cNvPr id="42" name="Shape 40"/>
          <p:cNvSpPr/>
          <p:nvPr/>
        </p:nvSpPr>
        <p:spPr>
          <a:xfrm>
            <a:off x="5440680" y="3456432"/>
            <a:ext cx="3383280" cy="1261872"/>
          </a:xfrm>
          <a:prstGeom prst="rect">
            <a:avLst/>
          </a:prstGeom>
          <a:solidFill>
            <a:srgbClr val="1A1A1A"/>
          </a:solidFill>
          <a:ln w="19050">
            <a:solidFill>
              <a:srgbClr val="2E7D32"/>
            </a:solidFill>
            <a:prstDash val="solid"/>
          </a:ln>
          <a:effectLst>
            <a:outerShdw blurRad="101600" dist="38100" dir="8100000" algn="bl" rotWithShape="0">
              <a:srgbClr val="000000">
                <a:alpha val="25000"/>
              </a:srgbClr>
            </a:outerShdw>
          </a:effectLst>
        </p:spPr>
        <p:txBody>
          <a:bodyPr/>
          <a:lstStyle/>
          <a:p>
            <a:endParaRPr lang="en-US"/>
          </a:p>
        </p:txBody>
      </p:sp>
      <p:sp>
        <p:nvSpPr>
          <p:cNvPr id="43" name="Shape 41"/>
          <p:cNvSpPr/>
          <p:nvPr/>
        </p:nvSpPr>
        <p:spPr>
          <a:xfrm>
            <a:off x="5440680" y="3456432"/>
            <a:ext cx="73152" cy="1261872"/>
          </a:xfrm>
          <a:prstGeom prst="rect">
            <a:avLst/>
          </a:prstGeom>
          <a:solidFill>
            <a:srgbClr val="2E7D32"/>
          </a:solidFill>
          <a:ln/>
        </p:spPr>
        <p:txBody>
          <a:bodyPr/>
          <a:lstStyle/>
          <a:p>
            <a:endParaRPr lang="en-US"/>
          </a:p>
        </p:txBody>
      </p:sp>
      <p:sp>
        <p:nvSpPr>
          <p:cNvPr id="44" name="Text 42"/>
          <p:cNvSpPr/>
          <p:nvPr/>
        </p:nvSpPr>
        <p:spPr>
          <a:xfrm>
            <a:off x="5577840" y="3547872"/>
            <a:ext cx="315468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Ideal VPA Target</a:t>
            </a:r>
            <a:endParaRPr lang="en-US" sz="1100" dirty="0"/>
          </a:p>
        </p:txBody>
      </p:sp>
      <p:sp>
        <p:nvSpPr>
          <p:cNvPr id="45" name="Text 43"/>
          <p:cNvSpPr/>
          <p:nvPr/>
        </p:nvSpPr>
        <p:spPr>
          <a:xfrm>
            <a:off x="5577840" y="3877056"/>
            <a:ext cx="3154680" cy="749808"/>
          </a:xfrm>
          <a:prstGeom prst="rect">
            <a:avLst/>
          </a:prstGeom>
          <a:noFill/>
          <a:ln/>
        </p:spPr>
        <p:txBody>
          <a:bodyPr wrap="square" lIns="0" tIns="0" rIns="0" bIns="0" rtlCol="0" anchor="ctr"/>
          <a:lstStyle/>
          <a:p>
            <a:pPr marL="0" indent="0">
              <a:buNone/>
            </a:pPr>
            <a:r>
              <a:rPr lang="en-US" sz="950" dirty="0">
                <a:solidFill>
                  <a:srgbClr val="D8D8D8"/>
                </a:solidFill>
                <a:latin typeface="Calibri" pitchFamily="34" charset="0"/>
                <a:ea typeface="Calibri" pitchFamily="34" charset="-122"/>
                <a:cs typeface="Calibri" pitchFamily="34" charset="-120"/>
              </a:rPr>
              <a:t>Predictable high-CPU pattern is exactly what VPA Recommender is designed to detect and right-size automatically.</a:t>
            </a:r>
            <a:endParaRPr lang="en-US" sz="950" dirty="0"/>
          </a:p>
        </p:txBody>
      </p:sp>
      <p:sp>
        <p:nvSpPr>
          <p:cNvPr id="46" name="Shape 44"/>
          <p:cNvSpPr/>
          <p:nvPr/>
        </p:nvSpPr>
        <p:spPr>
          <a:xfrm>
            <a:off x="292608" y="5014077"/>
            <a:ext cx="5029200" cy="100584"/>
          </a:xfrm>
          <a:prstGeom prst="rect">
            <a:avLst/>
          </a:prstGeom>
          <a:solidFill>
            <a:srgbClr val="F5A623">
              <a:alpha val="25000"/>
            </a:srgbClr>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1E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11111"/>
          </a:solidFill>
          <a:ln/>
        </p:spPr>
        <p:txBody>
          <a:bodyPr/>
          <a:lstStyle/>
          <a:p>
            <a:endParaRPr lang="en-US"/>
          </a:p>
        </p:txBody>
      </p:sp>
      <p:sp>
        <p:nvSpPr>
          <p:cNvPr id="3" name="Shape 1"/>
          <p:cNvSpPr/>
          <p:nvPr/>
        </p:nvSpPr>
        <p:spPr>
          <a:xfrm>
            <a:off x="0" y="0"/>
            <a:ext cx="9144000" cy="54864"/>
          </a:xfrm>
          <a:prstGeom prst="rect">
            <a:avLst/>
          </a:prstGeom>
          <a:solidFill>
            <a:srgbClr val="CC0000"/>
          </a:solidFill>
          <a:ln/>
        </p:spPr>
        <p:txBody>
          <a:bodyPr/>
          <a:lstStyle/>
          <a:p>
            <a:endParaRPr lang="en-US"/>
          </a:p>
        </p:txBody>
      </p:sp>
      <p:sp>
        <p:nvSpPr>
          <p:cNvPr id="4" name="Text 2"/>
          <p:cNvSpPr/>
          <p:nvPr/>
        </p:nvSpPr>
        <p:spPr>
          <a:xfrm>
            <a:off x="274320" y="109728"/>
            <a:ext cx="7772400" cy="384048"/>
          </a:xfrm>
          <a:prstGeom prst="rect">
            <a:avLst/>
          </a:prstGeom>
          <a:noFill/>
          <a:ln/>
        </p:spPr>
        <p:txBody>
          <a:bodyPr wrap="square" lIns="0" tIns="0" rIns="0" bIns="0" rtlCol="0" anchor="ctr"/>
          <a:lstStyle/>
          <a:p>
            <a:pPr marL="0" indent="0">
              <a:buNone/>
            </a:pPr>
            <a:r>
              <a:rPr lang="en-US" sz="1800" b="1" kern="0" spc="200" dirty="0">
                <a:solidFill>
                  <a:srgbClr val="FFFFFF"/>
                </a:solidFill>
                <a:latin typeface="Calibri" pitchFamily="34" charset="0"/>
                <a:ea typeface="Calibri" pitchFamily="34" charset="-122"/>
                <a:cs typeface="Calibri" pitchFamily="34" charset="-120"/>
              </a:rPr>
              <a:t>BASIC VPA CONFIGURATION</a:t>
            </a:r>
            <a:endParaRPr lang="en-US" sz="1800" dirty="0"/>
          </a:p>
        </p:txBody>
      </p:sp>
      <p:sp>
        <p:nvSpPr>
          <p:cNvPr id="5" name="Text 3"/>
          <p:cNvSpPr/>
          <p:nvPr/>
        </p:nvSpPr>
        <p:spPr>
          <a:xfrm>
            <a:off x="8321040" y="109728"/>
            <a:ext cx="640080" cy="384048"/>
          </a:xfrm>
          <a:prstGeom prst="rect">
            <a:avLst/>
          </a:prstGeom>
          <a:noFill/>
          <a:ln/>
        </p:spPr>
        <p:txBody>
          <a:bodyPr wrap="square" lIns="0" tIns="0" rIns="0" bIns="0" rtlCol="0" anchor="ctr"/>
          <a:lstStyle/>
          <a:p>
            <a:pPr marL="0" indent="0">
              <a:buNone/>
            </a:pPr>
            <a:r>
              <a:rPr lang="en-US" sz="2200" b="1" dirty="0">
                <a:solidFill>
                  <a:srgbClr val="CC0000"/>
                </a:solidFill>
                <a:latin typeface="Calibri" pitchFamily="34" charset="0"/>
                <a:ea typeface="Calibri" pitchFamily="34" charset="-122"/>
                <a:cs typeface="Calibri" pitchFamily="34" charset="-120"/>
              </a:rPr>
              <a:t>05</a:t>
            </a:r>
            <a:endParaRPr lang="en-US" sz="2200" dirty="0"/>
          </a:p>
        </p:txBody>
      </p:sp>
      <p:sp>
        <p:nvSpPr>
          <p:cNvPr id="6" name="Shape 4"/>
          <p:cNvSpPr/>
          <p:nvPr/>
        </p:nvSpPr>
        <p:spPr>
          <a:xfrm>
            <a:off x="274320" y="713232"/>
            <a:ext cx="4206240" cy="3108960"/>
          </a:xfrm>
          <a:prstGeom prst="rect">
            <a:avLst/>
          </a:prstGeom>
          <a:solidFill>
            <a:srgbClr val="1A1A2E"/>
          </a:solidFill>
          <a:ln w="12700">
            <a:solidFill>
              <a:srgbClr val="333344"/>
            </a:solidFill>
            <a:prstDash val="solid"/>
          </a:ln>
          <a:effectLst>
            <a:outerShdw blurRad="101600" dist="38100" dir="8100000" algn="bl" rotWithShape="0">
              <a:srgbClr val="000000">
                <a:alpha val="25000"/>
              </a:srgbClr>
            </a:outerShdw>
          </a:effectLst>
        </p:spPr>
        <p:txBody>
          <a:bodyPr/>
          <a:lstStyle/>
          <a:p>
            <a:endParaRPr lang="en-US"/>
          </a:p>
        </p:txBody>
      </p:sp>
      <p:sp>
        <p:nvSpPr>
          <p:cNvPr id="7" name="Shape 5"/>
          <p:cNvSpPr/>
          <p:nvPr/>
        </p:nvSpPr>
        <p:spPr>
          <a:xfrm>
            <a:off x="274320" y="713232"/>
            <a:ext cx="4206240" cy="292608"/>
          </a:xfrm>
          <a:prstGeom prst="rect">
            <a:avLst/>
          </a:prstGeom>
          <a:solidFill>
            <a:srgbClr val="2A2A3E"/>
          </a:solidFill>
          <a:ln/>
        </p:spPr>
        <p:txBody>
          <a:bodyPr/>
          <a:lstStyle/>
          <a:p>
            <a:endParaRPr lang="en-US"/>
          </a:p>
        </p:txBody>
      </p:sp>
      <p:sp>
        <p:nvSpPr>
          <p:cNvPr id="8" name="Shape 6"/>
          <p:cNvSpPr/>
          <p:nvPr/>
        </p:nvSpPr>
        <p:spPr>
          <a:xfrm>
            <a:off x="411480" y="804672"/>
            <a:ext cx="109728" cy="109728"/>
          </a:xfrm>
          <a:prstGeom prst="ellipse">
            <a:avLst/>
          </a:prstGeom>
          <a:solidFill>
            <a:srgbClr val="FF5F56"/>
          </a:solidFill>
          <a:ln w="12700">
            <a:solidFill>
              <a:srgbClr val="FF5F56"/>
            </a:solidFill>
            <a:prstDash val="solid"/>
          </a:ln>
        </p:spPr>
        <p:txBody>
          <a:bodyPr/>
          <a:lstStyle/>
          <a:p>
            <a:endParaRPr lang="en-US"/>
          </a:p>
        </p:txBody>
      </p:sp>
      <p:sp>
        <p:nvSpPr>
          <p:cNvPr id="9" name="Shape 7"/>
          <p:cNvSpPr/>
          <p:nvPr/>
        </p:nvSpPr>
        <p:spPr>
          <a:xfrm>
            <a:off x="566928" y="804672"/>
            <a:ext cx="109728" cy="109728"/>
          </a:xfrm>
          <a:prstGeom prst="ellipse">
            <a:avLst/>
          </a:prstGeom>
          <a:solidFill>
            <a:srgbClr val="FFBD2E"/>
          </a:solidFill>
          <a:ln w="12700">
            <a:solidFill>
              <a:srgbClr val="FFBD2E"/>
            </a:solidFill>
            <a:prstDash val="solid"/>
          </a:ln>
        </p:spPr>
        <p:txBody>
          <a:bodyPr/>
          <a:lstStyle/>
          <a:p>
            <a:endParaRPr lang="en-US"/>
          </a:p>
        </p:txBody>
      </p:sp>
      <p:sp>
        <p:nvSpPr>
          <p:cNvPr id="10" name="Shape 8"/>
          <p:cNvSpPr/>
          <p:nvPr/>
        </p:nvSpPr>
        <p:spPr>
          <a:xfrm>
            <a:off x="722376" y="804672"/>
            <a:ext cx="109728" cy="109728"/>
          </a:xfrm>
          <a:prstGeom prst="ellipse">
            <a:avLst/>
          </a:prstGeom>
          <a:solidFill>
            <a:srgbClr val="27C93F"/>
          </a:solidFill>
          <a:ln w="12700">
            <a:solidFill>
              <a:srgbClr val="27C93F"/>
            </a:solidFill>
            <a:prstDash val="solid"/>
          </a:ln>
        </p:spPr>
        <p:txBody>
          <a:bodyPr/>
          <a:lstStyle/>
          <a:p>
            <a:endParaRPr lang="en-US"/>
          </a:p>
        </p:txBody>
      </p:sp>
      <p:sp>
        <p:nvSpPr>
          <p:cNvPr id="11" name="Text 9"/>
          <p:cNvSpPr/>
          <p:nvPr/>
        </p:nvSpPr>
        <p:spPr>
          <a:xfrm>
            <a:off x="2286000" y="758952"/>
            <a:ext cx="2011680" cy="201168"/>
          </a:xfrm>
          <a:prstGeom prst="rect">
            <a:avLst/>
          </a:prstGeom>
          <a:noFill/>
          <a:ln/>
        </p:spPr>
        <p:txBody>
          <a:bodyPr wrap="square" lIns="0" tIns="0" rIns="0" bIns="0" rtlCol="0" anchor="ctr"/>
          <a:lstStyle/>
          <a:p>
            <a:pPr marL="0" indent="0" algn="ctr">
              <a:buNone/>
            </a:pPr>
            <a:r>
              <a:rPr lang="en-US" sz="900" dirty="0">
                <a:solidFill>
                  <a:srgbClr val="8888AA"/>
                </a:solidFill>
                <a:latin typeface="Consolas" pitchFamily="34" charset="0"/>
                <a:ea typeface="Consolas" pitchFamily="34" charset="-122"/>
                <a:cs typeface="Consolas" pitchFamily="34" charset="-120"/>
              </a:rPr>
              <a:t>cpu-app-vpa.yaml</a:t>
            </a:r>
            <a:endParaRPr lang="en-US" sz="900" dirty="0"/>
          </a:p>
        </p:txBody>
      </p:sp>
      <p:sp>
        <p:nvSpPr>
          <p:cNvPr id="12" name="Text 10"/>
          <p:cNvSpPr/>
          <p:nvPr/>
        </p:nvSpPr>
        <p:spPr>
          <a:xfrm>
            <a:off x="384048" y="1133856"/>
            <a:ext cx="3977640" cy="201168"/>
          </a:xfrm>
          <a:prstGeom prst="rect">
            <a:avLst/>
          </a:prstGeom>
          <a:noFill/>
          <a:ln/>
        </p:spPr>
        <p:txBody>
          <a:bodyPr wrap="square" lIns="0" tIns="0" rIns="0" bIns="0" rtlCol="0" anchor="ctr"/>
          <a:lstStyle/>
          <a:p>
            <a:pPr marL="0" indent="0">
              <a:buNone/>
            </a:pPr>
            <a:r>
              <a:rPr lang="en-US" sz="900" dirty="0">
                <a:solidFill>
                  <a:srgbClr val="98C379"/>
                </a:solidFill>
                <a:latin typeface="Consolas" pitchFamily="34" charset="0"/>
                <a:ea typeface="Consolas" pitchFamily="34" charset="-122"/>
                <a:cs typeface="Consolas" pitchFamily="34" charset="-120"/>
              </a:rPr>
              <a:t>apiVersion</a:t>
            </a:r>
            <a:r>
              <a:rPr lang="en-US" sz="900" dirty="0">
                <a:solidFill>
                  <a:srgbClr val="61AFEF"/>
                </a:solidFill>
                <a:latin typeface="Consolas" pitchFamily="34" charset="0"/>
                <a:ea typeface="Consolas" pitchFamily="34" charset="-122"/>
                <a:cs typeface="Consolas" pitchFamily="34" charset="-120"/>
              </a:rPr>
              <a:t>: autoscaling.k8s.io/v1</a:t>
            </a:r>
            <a:endParaRPr lang="en-US" sz="900" dirty="0"/>
          </a:p>
        </p:txBody>
      </p:sp>
      <p:sp>
        <p:nvSpPr>
          <p:cNvPr id="13" name="Text 11"/>
          <p:cNvSpPr/>
          <p:nvPr/>
        </p:nvSpPr>
        <p:spPr>
          <a:xfrm>
            <a:off x="384048" y="1335024"/>
            <a:ext cx="3977640" cy="201168"/>
          </a:xfrm>
          <a:prstGeom prst="rect">
            <a:avLst/>
          </a:prstGeom>
          <a:noFill/>
          <a:ln/>
        </p:spPr>
        <p:txBody>
          <a:bodyPr wrap="square" lIns="0" tIns="0" rIns="0" bIns="0" rtlCol="0" anchor="ctr"/>
          <a:lstStyle/>
          <a:p>
            <a:pPr marL="0" indent="0">
              <a:buNone/>
            </a:pPr>
            <a:r>
              <a:rPr lang="en-US" sz="900" dirty="0">
                <a:solidFill>
                  <a:srgbClr val="98C379"/>
                </a:solidFill>
                <a:latin typeface="Consolas" pitchFamily="34" charset="0"/>
                <a:ea typeface="Consolas" pitchFamily="34" charset="-122"/>
                <a:cs typeface="Consolas" pitchFamily="34" charset="-120"/>
              </a:rPr>
              <a:t>kind</a:t>
            </a:r>
            <a:r>
              <a:rPr lang="en-US" sz="900" dirty="0">
                <a:solidFill>
                  <a:srgbClr val="C678DD"/>
                </a:solidFill>
                <a:latin typeface="Consolas" pitchFamily="34" charset="0"/>
                <a:ea typeface="Consolas" pitchFamily="34" charset="-122"/>
                <a:cs typeface="Consolas" pitchFamily="34" charset="-120"/>
              </a:rPr>
              <a:t>: VerticalPodAutoscaler</a:t>
            </a:r>
            <a:endParaRPr lang="en-US" sz="900" dirty="0"/>
          </a:p>
        </p:txBody>
      </p:sp>
      <p:sp>
        <p:nvSpPr>
          <p:cNvPr id="14" name="Text 12"/>
          <p:cNvSpPr/>
          <p:nvPr/>
        </p:nvSpPr>
        <p:spPr>
          <a:xfrm>
            <a:off x="384048" y="1536192"/>
            <a:ext cx="3977640" cy="201168"/>
          </a:xfrm>
          <a:prstGeom prst="rect">
            <a:avLst/>
          </a:prstGeom>
          <a:noFill/>
          <a:ln/>
        </p:spPr>
        <p:txBody>
          <a:bodyPr wrap="square" lIns="0" tIns="0" rIns="0" bIns="0" rtlCol="0" anchor="ctr"/>
          <a:lstStyle/>
          <a:p>
            <a:pPr marL="0" indent="0">
              <a:buNone/>
            </a:pPr>
            <a:r>
              <a:rPr lang="en-US" sz="900" dirty="0">
                <a:solidFill>
                  <a:srgbClr val="98C379"/>
                </a:solidFill>
                <a:latin typeface="Consolas" pitchFamily="34" charset="0"/>
                <a:ea typeface="Consolas" pitchFamily="34" charset="-122"/>
                <a:cs typeface="Consolas" pitchFamily="34" charset="-120"/>
              </a:rPr>
              <a:t>metadata</a:t>
            </a:r>
            <a:r>
              <a:rPr lang="en-US" sz="900" dirty="0">
                <a:solidFill>
                  <a:srgbClr val="FFFFFF"/>
                </a:solidFill>
                <a:latin typeface="Consolas" pitchFamily="34" charset="0"/>
                <a:ea typeface="Consolas" pitchFamily="34" charset="-122"/>
                <a:cs typeface="Consolas" pitchFamily="34" charset="-120"/>
              </a:rPr>
              <a:t>:</a:t>
            </a:r>
            <a:endParaRPr lang="en-US" sz="900" dirty="0"/>
          </a:p>
        </p:txBody>
      </p:sp>
      <p:sp>
        <p:nvSpPr>
          <p:cNvPr id="15" name="Text 13"/>
          <p:cNvSpPr/>
          <p:nvPr/>
        </p:nvSpPr>
        <p:spPr>
          <a:xfrm>
            <a:off x="384048" y="1737360"/>
            <a:ext cx="3977640" cy="201168"/>
          </a:xfrm>
          <a:prstGeom prst="rect">
            <a:avLst/>
          </a:prstGeom>
          <a:noFill/>
          <a:ln/>
        </p:spPr>
        <p:txBody>
          <a:bodyPr wrap="square" lIns="0" tIns="0" rIns="0" bIns="0" rtlCol="0" anchor="ctr"/>
          <a:lstStyle/>
          <a:p>
            <a:pPr marL="0" indent="0">
              <a:buNone/>
            </a:pPr>
            <a:r>
              <a:rPr lang="en-US" sz="900" dirty="0">
                <a:solidFill>
                  <a:srgbClr val="98C379"/>
                </a:solidFill>
                <a:latin typeface="Consolas" pitchFamily="34" charset="0"/>
                <a:ea typeface="Consolas" pitchFamily="34" charset="-122"/>
                <a:cs typeface="Consolas" pitchFamily="34" charset="-120"/>
              </a:rPr>
              <a:t>  name</a:t>
            </a:r>
            <a:r>
              <a:rPr lang="en-US" sz="900" dirty="0">
                <a:solidFill>
                  <a:srgbClr val="E5C07B"/>
                </a:solidFill>
                <a:latin typeface="Consolas" pitchFamily="34" charset="0"/>
                <a:ea typeface="Consolas" pitchFamily="34" charset="-122"/>
                <a:cs typeface="Consolas" pitchFamily="34" charset="-120"/>
              </a:rPr>
              <a:t>: cpu-app-vpa</a:t>
            </a:r>
            <a:endParaRPr lang="en-US" sz="900" dirty="0"/>
          </a:p>
        </p:txBody>
      </p:sp>
      <p:sp>
        <p:nvSpPr>
          <p:cNvPr id="16" name="Text 14"/>
          <p:cNvSpPr/>
          <p:nvPr/>
        </p:nvSpPr>
        <p:spPr>
          <a:xfrm>
            <a:off x="384048" y="1938528"/>
            <a:ext cx="3977640" cy="201168"/>
          </a:xfrm>
          <a:prstGeom prst="rect">
            <a:avLst/>
          </a:prstGeom>
          <a:noFill/>
          <a:ln/>
        </p:spPr>
        <p:txBody>
          <a:bodyPr wrap="square" lIns="0" tIns="0" rIns="0" bIns="0" rtlCol="0" anchor="ctr"/>
          <a:lstStyle/>
          <a:p>
            <a:pPr marL="0" indent="0">
              <a:buNone/>
            </a:pPr>
            <a:r>
              <a:rPr lang="en-US" sz="900" dirty="0">
                <a:solidFill>
                  <a:srgbClr val="98C379"/>
                </a:solidFill>
                <a:latin typeface="Consolas" pitchFamily="34" charset="0"/>
                <a:ea typeface="Consolas" pitchFamily="34" charset="-122"/>
                <a:cs typeface="Consolas" pitchFamily="34" charset="-120"/>
              </a:rPr>
              <a:t>spec</a:t>
            </a:r>
            <a:r>
              <a:rPr lang="en-US" sz="900" dirty="0">
                <a:solidFill>
                  <a:srgbClr val="FFFFFF"/>
                </a:solidFill>
                <a:latin typeface="Consolas" pitchFamily="34" charset="0"/>
                <a:ea typeface="Consolas" pitchFamily="34" charset="-122"/>
                <a:cs typeface="Consolas" pitchFamily="34" charset="-120"/>
              </a:rPr>
              <a:t>:</a:t>
            </a:r>
            <a:endParaRPr lang="en-US" sz="900" dirty="0"/>
          </a:p>
        </p:txBody>
      </p:sp>
      <p:sp>
        <p:nvSpPr>
          <p:cNvPr id="17" name="Text 15"/>
          <p:cNvSpPr/>
          <p:nvPr/>
        </p:nvSpPr>
        <p:spPr>
          <a:xfrm>
            <a:off x="384048" y="2139696"/>
            <a:ext cx="3977640" cy="201168"/>
          </a:xfrm>
          <a:prstGeom prst="rect">
            <a:avLst/>
          </a:prstGeom>
          <a:noFill/>
          <a:ln/>
        </p:spPr>
        <p:txBody>
          <a:bodyPr wrap="square" lIns="0" tIns="0" rIns="0" bIns="0" rtlCol="0" anchor="ctr"/>
          <a:lstStyle/>
          <a:p>
            <a:pPr marL="0" indent="0">
              <a:buNone/>
            </a:pPr>
            <a:r>
              <a:rPr lang="en-US" sz="900" dirty="0">
                <a:solidFill>
                  <a:srgbClr val="98C379"/>
                </a:solidFill>
                <a:latin typeface="Consolas" pitchFamily="34" charset="0"/>
                <a:ea typeface="Consolas" pitchFamily="34" charset="-122"/>
                <a:cs typeface="Consolas" pitchFamily="34" charset="-120"/>
              </a:rPr>
              <a:t>  targetRef</a:t>
            </a:r>
            <a:r>
              <a:rPr lang="en-US" sz="900" dirty="0">
                <a:solidFill>
                  <a:srgbClr val="FFFFFF"/>
                </a:solidFill>
                <a:latin typeface="Consolas" pitchFamily="34" charset="0"/>
                <a:ea typeface="Consolas" pitchFamily="34" charset="-122"/>
                <a:cs typeface="Consolas" pitchFamily="34" charset="-120"/>
              </a:rPr>
              <a:t>:</a:t>
            </a:r>
            <a:endParaRPr lang="en-US" sz="900" dirty="0"/>
          </a:p>
        </p:txBody>
      </p:sp>
      <p:sp>
        <p:nvSpPr>
          <p:cNvPr id="18" name="Text 16"/>
          <p:cNvSpPr/>
          <p:nvPr/>
        </p:nvSpPr>
        <p:spPr>
          <a:xfrm>
            <a:off x="384048" y="2340864"/>
            <a:ext cx="3977640" cy="201168"/>
          </a:xfrm>
          <a:prstGeom prst="rect">
            <a:avLst/>
          </a:prstGeom>
          <a:noFill/>
          <a:ln/>
        </p:spPr>
        <p:txBody>
          <a:bodyPr wrap="square" lIns="0" tIns="0" rIns="0" bIns="0" rtlCol="0" anchor="ctr"/>
          <a:lstStyle/>
          <a:p>
            <a:pPr marL="0" indent="0">
              <a:buNone/>
            </a:pPr>
            <a:r>
              <a:rPr lang="en-US" sz="900" dirty="0">
                <a:solidFill>
                  <a:srgbClr val="98C379"/>
                </a:solidFill>
                <a:latin typeface="Consolas" pitchFamily="34" charset="0"/>
                <a:ea typeface="Consolas" pitchFamily="34" charset="-122"/>
                <a:cs typeface="Consolas" pitchFamily="34" charset="-120"/>
              </a:rPr>
              <a:t>    apiVersion</a:t>
            </a:r>
            <a:r>
              <a:rPr lang="en-US" sz="900" dirty="0">
                <a:solidFill>
                  <a:srgbClr val="61AFEF"/>
                </a:solidFill>
                <a:latin typeface="Consolas" pitchFamily="34" charset="0"/>
                <a:ea typeface="Consolas" pitchFamily="34" charset="-122"/>
                <a:cs typeface="Consolas" pitchFamily="34" charset="-120"/>
              </a:rPr>
              <a:t>: apps/v1</a:t>
            </a:r>
            <a:endParaRPr lang="en-US" sz="900" dirty="0"/>
          </a:p>
        </p:txBody>
      </p:sp>
      <p:sp>
        <p:nvSpPr>
          <p:cNvPr id="19" name="Text 17"/>
          <p:cNvSpPr/>
          <p:nvPr/>
        </p:nvSpPr>
        <p:spPr>
          <a:xfrm>
            <a:off x="384048" y="2542032"/>
            <a:ext cx="3977640" cy="201168"/>
          </a:xfrm>
          <a:prstGeom prst="rect">
            <a:avLst/>
          </a:prstGeom>
          <a:noFill/>
          <a:ln/>
        </p:spPr>
        <p:txBody>
          <a:bodyPr wrap="square" lIns="0" tIns="0" rIns="0" bIns="0" rtlCol="0" anchor="ctr"/>
          <a:lstStyle/>
          <a:p>
            <a:pPr marL="0" indent="0">
              <a:buNone/>
            </a:pPr>
            <a:r>
              <a:rPr lang="en-US" sz="900" dirty="0">
                <a:solidFill>
                  <a:srgbClr val="98C379"/>
                </a:solidFill>
                <a:latin typeface="Consolas" pitchFamily="34" charset="0"/>
                <a:ea typeface="Consolas" pitchFamily="34" charset="-122"/>
                <a:cs typeface="Consolas" pitchFamily="34" charset="-120"/>
              </a:rPr>
              <a:t>    kind</a:t>
            </a:r>
            <a:r>
              <a:rPr lang="en-US" sz="900" dirty="0">
                <a:solidFill>
                  <a:srgbClr val="61AFEF"/>
                </a:solidFill>
                <a:latin typeface="Consolas" pitchFamily="34" charset="0"/>
                <a:ea typeface="Consolas" pitchFamily="34" charset="-122"/>
                <a:cs typeface="Consolas" pitchFamily="34" charset="-120"/>
              </a:rPr>
              <a:t>: Deployment</a:t>
            </a:r>
            <a:endParaRPr lang="en-US" sz="900" dirty="0"/>
          </a:p>
        </p:txBody>
      </p:sp>
      <p:sp>
        <p:nvSpPr>
          <p:cNvPr id="20" name="Text 18"/>
          <p:cNvSpPr/>
          <p:nvPr/>
        </p:nvSpPr>
        <p:spPr>
          <a:xfrm>
            <a:off x="384048" y="2743200"/>
            <a:ext cx="3977640" cy="201168"/>
          </a:xfrm>
          <a:prstGeom prst="rect">
            <a:avLst/>
          </a:prstGeom>
          <a:noFill/>
          <a:ln/>
        </p:spPr>
        <p:txBody>
          <a:bodyPr wrap="square" lIns="0" tIns="0" rIns="0" bIns="0" rtlCol="0" anchor="ctr"/>
          <a:lstStyle/>
          <a:p>
            <a:pPr marL="0" indent="0">
              <a:buNone/>
            </a:pPr>
            <a:r>
              <a:rPr lang="en-US" sz="900" dirty="0">
                <a:solidFill>
                  <a:srgbClr val="98C379"/>
                </a:solidFill>
                <a:latin typeface="Consolas" pitchFamily="34" charset="0"/>
                <a:ea typeface="Consolas" pitchFamily="34" charset="-122"/>
                <a:cs typeface="Consolas" pitchFamily="34" charset="-120"/>
              </a:rPr>
              <a:t>    name</a:t>
            </a:r>
            <a:r>
              <a:rPr lang="en-US" sz="900" dirty="0">
                <a:solidFill>
                  <a:srgbClr val="E5C07B"/>
                </a:solidFill>
                <a:latin typeface="Consolas" pitchFamily="34" charset="0"/>
                <a:ea typeface="Consolas" pitchFamily="34" charset="-122"/>
                <a:cs typeface="Consolas" pitchFamily="34" charset="-120"/>
              </a:rPr>
              <a:t>: cpu-app</a:t>
            </a:r>
            <a:endParaRPr lang="en-US" sz="900" dirty="0"/>
          </a:p>
        </p:txBody>
      </p:sp>
      <p:sp>
        <p:nvSpPr>
          <p:cNvPr id="21" name="Text 19"/>
          <p:cNvSpPr/>
          <p:nvPr/>
        </p:nvSpPr>
        <p:spPr>
          <a:xfrm>
            <a:off x="384048" y="2944368"/>
            <a:ext cx="3977640" cy="201168"/>
          </a:xfrm>
          <a:prstGeom prst="rect">
            <a:avLst/>
          </a:prstGeom>
          <a:noFill/>
          <a:ln/>
        </p:spPr>
        <p:txBody>
          <a:bodyPr wrap="square" lIns="0" tIns="0" rIns="0" bIns="0" rtlCol="0" anchor="ctr"/>
          <a:lstStyle/>
          <a:p>
            <a:pPr marL="0" indent="0">
              <a:buNone/>
            </a:pPr>
            <a:r>
              <a:rPr lang="en-US" sz="900" dirty="0">
                <a:solidFill>
                  <a:srgbClr val="98C379"/>
                </a:solidFill>
                <a:latin typeface="Consolas" pitchFamily="34" charset="0"/>
                <a:ea typeface="Consolas" pitchFamily="34" charset="-122"/>
                <a:cs typeface="Consolas" pitchFamily="34" charset="-120"/>
              </a:rPr>
              <a:t>  updatePolicy</a:t>
            </a:r>
            <a:r>
              <a:rPr lang="en-US" sz="900" dirty="0">
                <a:solidFill>
                  <a:srgbClr val="FFFFFF"/>
                </a:solidFill>
                <a:latin typeface="Consolas" pitchFamily="34" charset="0"/>
                <a:ea typeface="Consolas" pitchFamily="34" charset="-122"/>
                <a:cs typeface="Consolas" pitchFamily="34" charset="-120"/>
              </a:rPr>
              <a:t>:</a:t>
            </a:r>
            <a:endParaRPr lang="en-US" sz="900" dirty="0"/>
          </a:p>
        </p:txBody>
      </p:sp>
      <p:sp>
        <p:nvSpPr>
          <p:cNvPr id="22" name="Text 20"/>
          <p:cNvSpPr/>
          <p:nvPr/>
        </p:nvSpPr>
        <p:spPr>
          <a:xfrm>
            <a:off x="384048" y="3145536"/>
            <a:ext cx="3977640" cy="201168"/>
          </a:xfrm>
          <a:prstGeom prst="rect">
            <a:avLst/>
          </a:prstGeom>
          <a:noFill/>
          <a:ln/>
        </p:spPr>
        <p:txBody>
          <a:bodyPr wrap="square" lIns="0" tIns="0" rIns="0" bIns="0" rtlCol="0" anchor="ctr"/>
          <a:lstStyle/>
          <a:p>
            <a:pPr marL="0" indent="0">
              <a:buNone/>
            </a:pPr>
            <a:r>
              <a:rPr lang="en-US" sz="900" dirty="0">
                <a:solidFill>
                  <a:srgbClr val="98C379"/>
                </a:solidFill>
                <a:latin typeface="Consolas" pitchFamily="34" charset="0"/>
                <a:ea typeface="Consolas" pitchFamily="34" charset="-122"/>
                <a:cs typeface="Consolas" pitchFamily="34" charset="-120"/>
              </a:rPr>
              <a:t>    updateMode</a:t>
            </a:r>
            <a:r>
              <a:rPr lang="en-US" sz="900" dirty="0">
                <a:solidFill>
                  <a:srgbClr val="E06C75"/>
                </a:solidFill>
                <a:latin typeface="Consolas" pitchFamily="34" charset="0"/>
                <a:ea typeface="Consolas" pitchFamily="34" charset="-122"/>
                <a:cs typeface="Consolas" pitchFamily="34" charset="-120"/>
              </a:rPr>
              <a:t>: "Auto"</a:t>
            </a:r>
            <a:r>
              <a:rPr lang="en-US" sz="900" dirty="0">
                <a:solidFill>
                  <a:srgbClr val="555577"/>
                </a:solidFill>
                <a:latin typeface="Consolas" pitchFamily="34" charset="0"/>
                <a:ea typeface="Consolas" pitchFamily="34" charset="-122"/>
                <a:cs typeface="Consolas" pitchFamily="34" charset="-120"/>
              </a:rPr>
              <a:t>  # ← applies immediately</a:t>
            </a:r>
            <a:endParaRPr lang="en-US" sz="900" dirty="0"/>
          </a:p>
        </p:txBody>
      </p:sp>
      <p:sp>
        <p:nvSpPr>
          <p:cNvPr id="23" name="Shape 21"/>
          <p:cNvSpPr/>
          <p:nvPr/>
        </p:nvSpPr>
        <p:spPr>
          <a:xfrm>
            <a:off x="274320" y="3913632"/>
            <a:ext cx="4206240" cy="1005840"/>
          </a:xfrm>
          <a:prstGeom prst="rect">
            <a:avLst/>
          </a:prstGeom>
          <a:solidFill>
            <a:srgbClr val="151515"/>
          </a:solidFill>
          <a:ln w="6350">
            <a:solidFill>
              <a:srgbClr val="333333"/>
            </a:solidFill>
            <a:prstDash val="solid"/>
          </a:ln>
        </p:spPr>
        <p:txBody>
          <a:bodyPr/>
          <a:lstStyle/>
          <a:p>
            <a:endParaRPr lang="en-US"/>
          </a:p>
        </p:txBody>
      </p:sp>
      <p:sp>
        <p:nvSpPr>
          <p:cNvPr id="24" name="Text 22"/>
          <p:cNvSpPr/>
          <p:nvPr/>
        </p:nvSpPr>
        <p:spPr>
          <a:xfrm>
            <a:off x="384048" y="3977640"/>
            <a:ext cx="3931920" cy="228600"/>
          </a:xfrm>
          <a:prstGeom prst="rect">
            <a:avLst/>
          </a:prstGeom>
          <a:noFill/>
          <a:ln/>
        </p:spPr>
        <p:txBody>
          <a:bodyPr wrap="square" lIns="0" tIns="0" rIns="0" bIns="0" rtlCol="0" anchor="ctr"/>
          <a:lstStyle/>
          <a:p>
            <a:pPr marL="0" indent="0">
              <a:buNone/>
            </a:pPr>
            <a:r>
              <a:rPr lang="en-US" sz="1000" b="1" dirty="0">
                <a:solidFill>
                  <a:srgbClr val="F5A623"/>
                </a:solidFill>
                <a:latin typeface="Calibri" pitchFamily="34" charset="0"/>
                <a:ea typeface="Calibri" pitchFamily="34" charset="-122"/>
                <a:cs typeface="Calibri" pitchFamily="34" charset="-120"/>
              </a:rPr>
              <a:t>updateMode Options:</a:t>
            </a:r>
            <a:endParaRPr lang="en-US" sz="1000" dirty="0"/>
          </a:p>
        </p:txBody>
      </p:sp>
      <p:sp>
        <p:nvSpPr>
          <p:cNvPr id="25" name="Text 23"/>
          <p:cNvSpPr/>
          <p:nvPr/>
        </p:nvSpPr>
        <p:spPr>
          <a:xfrm>
            <a:off x="384048" y="4242816"/>
            <a:ext cx="777240" cy="155448"/>
          </a:xfrm>
          <a:prstGeom prst="rect">
            <a:avLst/>
          </a:prstGeom>
          <a:noFill/>
          <a:ln/>
        </p:spPr>
        <p:txBody>
          <a:bodyPr wrap="square" lIns="0" tIns="0" rIns="0" bIns="0" rtlCol="0" anchor="ctr"/>
          <a:lstStyle/>
          <a:p>
            <a:pPr marL="0" indent="0">
              <a:buNone/>
            </a:pPr>
            <a:r>
              <a:rPr lang="en-US" sz="900" b="1" dirty="0">
                <a:solidFill>
                  <a:srgbClr val="98C379"/>
                </a:solidFill>
                <a:latin typeface="Consolas" pitchFamily="34" charset="0"/>
                <a:ea typeface="Consolas" pitchFamily="34" charset="-122"/>
                <a:cs typeface="Consolas" pitchFamily="34" charset="-120"/>
              </a:rPr>
              <a:t>Auto</a:t>
            </a:r>
            <a:endParaRPr lang="en-US" sz="900" dirty="0"/>
          </a:p>
        </p:txBody>
      </p:sp>
      <p:sp>
        <p:nvSpPr>
          <p:cNvPr id="26" name="Text 24"/>
          <p:cNvSpPr/>
          <p:nvPr/>
        </p:nvSpPr>
        <p:spPr>
          <a:xfrm>
            <a:off x="1188720" y="4242816"/>
            <a:ext cx="3108960" cy="155448"/>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 Apply immediately, evict pods</a:t>
            </a:r>
            <a:endParaRPr lang="en-US" sz="900" dirty="0"/>
          </a:p>
        </p:txBody>
      </p:sp>
      <p:sp>
        <p:nvSpPr>
          <p:cNvPr id="27" name="Text 25"/>
          <p:cNvSpPr/>
          <p:nvPr/>
        </p:nvSpPr>
        <p:spPr>
          <a:xfrm>
            <a:off x="384048" y="4398264"/>
            <a:ext cx="777240" cy="155448"/>
          </a:xfrm>
          <a:prstGeom prst="rect">
            <a:avLst/>
          </a:prstGeom>
          <a:noFill/>
          <a:ln/>
        </p:spPr>
        <p:txBody>
          <a:bodyPr wrap="square" lIns="0" tIns="0" rIns="0" bIns="0" rtlCol="0" anchor="ctr"/>
          <a:lstStyle/>
          <a:p>
            <a:pPr marL="0" indent="0">
              <a:buNone/>
            </a:pPr>
            <a:r>
              <a:rPr lang="en-US" sz="900" b="1" dirty="0">
                <a:solidFill>
                  <a:srgbClr val="98C379"/>
                </a:solidFill>
                <a:latin typeface="Consolas" pitchFamily="34" charset="0"/>
                <a:ea typeface="Consolas" pitchFamily="34" charset="-122"/>
                <a:cs typeface="Consolas" pitchFamily="34" charset="-120"/>
              </a:rPr>
              <a:t>Recreate</a:t>
            </a:r>
            <a:endParaRPr lang="en-US" sz="900" dirty="0"/>
          </a:p>
        </p:txBody>
      </p:sp>
      <p:sp>
        <p:nvSpPr>
          <p:cNvPr id="28" name="Text 26"/>
          <p:cNvSpPr/>
          <p:nvPr/>
        </p:nvSpPr>
        <p:spPr>
          <a:xfrm>
            <a:off x="1188720" y="4398264"/>
            <a:ext cx="3108960" cy="155448"/>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 Apply on pod recreation only</a:t>
            </a:r>
            <a:endParaRPr lang="en-US" sz="900" dirty="0"/>
          </a:p>
        </p:txBody>
      </p:sp>
      <p:sp>
        <p:nvSpPr>
          <p:cNvPr id="29" name="Text 27"/>
          <p:cNvSpPr/>
          <p:nvPr/>
        </p:nvSpPr>
        <p:spPr>
          <a:xfrm>
            <a:off x="384048" y="4553712"/>
            <a:ext cx="777240" cy="155448"/>
          </a:xfrm>
          <a:prstGeom prst="rect">
            <a:avLst/>
          </a:prstGeom>
          <a:noFill/>
          <a:ln/>
        </p:spPr>
        <p:txBody>
          <a:bodyPr wrap="square" lIns="0" tIns="0" rIns="0" bIns="0" rtlCol="0" anchor="ctr"/>
          <a:lstStyle/>
          <a:p>
            <a:pPr marL="0" indent="0">
              <a:buNone/>
            </a:pPr>
            <a:r>
              <a:rPr lang="en-US" sz="900" b="1" dirty="0">
                <a:solidFill>
                  <a:srgbClr val="98C379"/>
                </a:solidFill>
                <a:latin typeface="Consolas" pitchFamily="34" charset="0"/>
                <a:ea typeface="Consolas" pitchFamily="34" charset="-122"/>
                <a:cs typeface="Consolas" pitchFamily="34" charset="-120"/>
              </a:rPr>
              <a:t>Initial</a:t>
            </a:r>
            <a:endParaRPr lang="en-US" sz="900" dirty="0"/>
          </a:p>
        </p:txBody>
      </p:sp>
      <p:sp>
        <p:nvSpPr>
          <p:cNvPr id="30" name="Text 28"/>
          <p:cNvSpPr/>
          <p:nvPr/>
        </p:nvSpPr>
        <p:spPr>
          <a:xfrm>
            <a:off x="1188720" y="4553712"/>
            <a:ext cx="3108960" cy="155448"/>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 Only for new pods</a:t>
            </a:r>
            <a:endParaRPr lang="en-US" sz="900" dirty="0"/>
          </a:p>
        </p:txBody>
      </p:sp>
      <p:sp>
        <p:nvSpPr>
          <p:cNvPr id="31" name="Text 29"/>
          <p:cNvSpPr/>
          <p:nvPr/>
        </p:nvSpPr>
        <p:spPr>
          <a:xfrm>
            <a:off x="384048" y="4709160"/>
            <a:ext cx="777240" cy="155448"/>
          </a:xfrm>
          <a:prstGeom prst="rect">
            <a:avLst/>
          </a:prstGeom>
          <a:noFill/>
          <a:ln/>
        </p:spPr>
        <p:txBody>
          <a:bodyPr wrap="square" lIns="0" tIns="0" rIns="0" bIns="0" rtlCol="0" anchor="ctr"/>
          <a:lstStyle/>
          <a:p>
            <a:pPr marL="0" indent="0">
              <a:buNone/>
            </a:pPr>
            <a:r>
              <a:rPr lang="en-US" sz="900" b="1" dirty="0">
                <a:solidFill>
                  <a:srgbClr val="98C379"/>
                </a:solidFill>
                <a:latin typeface="Consolas" pitchFamily="34" charset="0"/>
                <a:ea typeface="Consolas" pitchFamily="34" charset="-122"/>
                <a:cs typeface="Consolas" pitchFamily="34" charset="-120"/>
              </a:rPr>
              <a:t>Off</a:t>
            </a:r>
            <a:endParaRPr lang="en-US" sz="900" dirty="0"/>
          </a:p>
        </p:txBody>
      </p:sp>
      <p:sp>
        <p:nvSpPr>
          <p:cNvPr id="32" name="Text 30"/>
          <p:cNvSpPr/>
          <p:nvPr/>
        </p:nvSpPr>
        <p:spPr>
          <a:xfrm>
            <a:off x="1188720" y="4709160"/>
            <a:ext cx="3108960" cy="155448"/>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 Recommend only, no changes</a:t>
            </a:r>
            <a:endParaRPr lang="en-US" sz="900" dirty="0"/>
          </a:p>
        </p:txBody>
      </p:sp>
      <p:sp>
        <p:nvSpPr>
          <p:cNvPr id="33" name="Shape 31"/>
          <p:cNvSpPr/>
          <p:nvPr/>
        </p:nvSpPr>
        <p:spPr>
          <a:xfrm>
            <a:off x="4663440" y="713232"/>
            <a:ext cx="4206240" cy="1417320"/>
          </a:xfrm>
          <a:prstGeom prst="rect">
            <a:avLst/>
          </a:prstGeom>
          <a:solidFill>
            <a:srgbClr val="1A1A1A"/>
          </a:solidFill>
          <a:ln w="9525">
            <a:solidFill>
              <a:srgbClr val="444444"/>
            </a:solidFill>
            <a:prstDash val="solid"/>
          </a:ln>
          <a:effectLst>
            <a:outerShdw blurRad="101600" dist="38100" dir="8100000" algn="bl" rotWithShape="0">
              <a:srgbClr val="000000">
                <a:alpha val="25000"/>
              </a:srgbClr>
            </a:outerShdw>
          </a:effectLst>
        </p:spPr>
        <p:txBody>
          <a:bodyPr/>
          <a:lstStyle/>
          <a:p>
            <a:endParaRPr lang="en-US"/>
          </a:p>
        </p:txBody>
      </p:sp>
      <p:sp>
        <p:nvSpPr>
          <p:cNvPr id="34" name="Text 32"/>
          <p:cNvSpPr/>
          <p:nvPr/>
        </p:nvSpPr>
        <p:spPr>
          <a:xfrm>
            <a:off x="4800600" y="777240"/>
            <a:ext cx="3931920" cy="274320"/>
          </a:xfrm>
          <a:prstGeom prst="rect">
            <a:avLst/>
          </a:prstGeom>
          <a:noFill/>
          <a:ln/>
        </p:spPr>
        <p:txBody>
          <a:bodyPr wrap="square" lIns="0" tIns="0" rIns="0" bIns="0" rtlCol="0" anchor="ctr"/>
          <a:lstStyle/>
          <a:p>
            <a:pPr marL="0" indent="0">
              <a:buNone/>
            </a:pPr>
            <a:r>
              <a:rPr lang="en-US" sz="1000" b="1" kern="0" spc="150" dirty="0">
                <a:solidFill>
                  <a:srgbClr val="CC0000"/>
                </a:solidFill>
                <a:latin typeface="Calibri" pitchFamily="34" charset="0"/>
                <a:ea typeface="Calibri" pitchFamily="34" charset="-122"/>
                <a:cs typeface="Calibri" pitchFamily="34" charset="-120"/>
              </a:rPr>
              <a:t>RESOURCE TRANSFORMATION</a:t>
            </a:r>
            <a:endParaRPr lang="en-US" sz="1000" dirty="0"/>
          </a:p>
        </p:txBody>
      </p:sp>
      <p:sp>
        <p:nvSpPr>
          <p:cNvPr id="35" name="Shape 33"/>
          <p:cNvSpPr/>
          <p:nvPr/>
        </p:nvSpPr>
        <p:spPr>
          <a:xfrm>
            <a:off x="4709160" y="1097280"/>
            <a:ext cx="1783080" cy="914400"/>
          </a:xfrm>
          <a:prstGeom prst="rect">
            <a:avLst/>
          </a:prstGeom>
          <a:solidFill>
            <a:srgbClr val="2A1010"/>
          </a:solidFill>
          <a:ln w="12700">
            <a:solidFill>
              <a:srgbClr val="CC0000"/>
            </a:solidFill>
            <a:prstDash val="solid"/>
          </a:ln>
        </p:spPr>
        <p:txBody>
          <a:bodyPr/>
          <a:lstStyle/>
          <a:p>
            <a:endParaRPr lang="en-US"/>
          </a:p>
        </p:txBody>
      </p:sp>
      <p:sp>
        <p:nvSpPr>
          <p:cNvPr id="36" name="Text 34"/>
          <p:cNvSpPr/>
          <p:nvPr/>
        </p:nvSpPr>
        <p:spPr>
          <a:xfrm>
            <a:off x="4709160" y="1115568"/>
            <a:ext cx="1783080" cy="228600"/>
          </a:xfrm>
          <a:prstGeom prst="rect">
            <a:avLst/>
          </a:prstGeom>
          <a:noFill/>
          <a:ln/>
        </p:spPr>
        <p:txBody>
          <a:bodyPr wrap="square" lIns="0" tIns="0" rIns="0" bIns="0" rtlCol="0" anchor="ctr"/>
          <a:lstStyle/>
          <a:p>
            <a:pPr marL="0" indent="0" algn="ctr">
              <a:buNone/>
            </a:pPr>
            <a:r>
              <a:rPr lang="en-US" sz="850" b="1" dirty="0">
                <a:solidFill>
                  <a:srgbClr val="CC0000"/>
                </a:solidFill>
                <a:latin typeface="Calibri" pitchFamily="34" charset="0"/>
                <a:ea typeface="Calibri" pitchFamily="34" charset="-122"/>
                <a:cs typeface="Calibri" pitchFamily="34" charset="-120"/>
              </a:rPr>
              <a:t>BEFORE</a:t>
            </a:r>
            <a:endParaRPr lang="en-US" sz="850" dirty="0"/>
          </a:p>
        </p:txBody>
      </p:sp>
      <p:sp>
        <p:nvSpPr>
          <p:cNvPr id="37" name="Text 35"/>
          <p:cNvSpPr/>
          <p:nvPr/>
        </p:nvSpPr>
        <p:spPr>
          <a:xfrm>
            <a:off x="4709160" y="1371600"/>
            <a:ext cx="1783080" cy="594360"/>
          </a:xfrm>
          <a:prstGeom prst="rect">
            <a:avLst/>
          </a:prstGeom>
          <a:noFill/>
          <a:ln/>
        </p:spPr>
        <p:txBody>
          <a:bodyPr wrap="square" lIns="0" tIns="0" rIns="0" bIns="0" rtlCol="0" anchor="ctr"/>
          <a:lstStyle/>
          <a:p>
            <a:pPr marL="0" indent="0" algn="ctr">
              <a:buNone/>
            </a:pPr>
            <a:r>
              <a:rPr lang="en-US" sz="1100" b="1" dirty="0">
                <a:solidFill>
                  <a:srgbClr val="E06C75"/>
                </a:solidFill>
                <a:latin typeface="Consolas" pitchFamily="34" charset="0"/>
                <a:ea typeface="Consolas" pitchFamily="34" charset="-122"/>
                <a:cs typeface="Consolas" pitchFamily="34" charset="-120"/>
              </a:rPr>
              <a:t>cpu: 50m</a:t>
            </a:r>
            <a:endParaRPr lang="en-US" sz="1100" dirty="0"/>
          </a:p>
          <a:p>
            <a:pPr marL="0" indent="0" algn="ctr">
              <a:buNone/>
            </a:pPr>
            <a:r>
              <a:rPr lang="en-US" sz="1100" b="1" dirty="0">
                <a:solidFill>
                  <a:srgbClr val="E06C75"/>
                </a:solidFill>
                <a:latin typeface="Consolas" pitchFamily="34" charset="0"/>
                <a:ea typeface="Consolas" pitchFamily="34" charset="-122"/>
                <a:cs typeface="Consolas" pitchFamily="34" charset="-120"/>
              </a:rPr>
              <a:t>memory: 100Mi</a:t>
            </a:r>
            <a:endParaRPr lang="en-US" sz="1100" dirty="0"/>
          </a:p>
        </p:txBody>
      </p:sp>
      <p:pic>
        <p:nvPicPr>
          <p:cNvPr id="38" name="Image 0" descr="preencoded.png"/>
          <p:cNvPicPr>
            <a:picLocks noChangeAspect="1"/>
          </p:cNvPicPr>
          <p:nvPr/>
        </p:nvPicPr>
        <p:blipFill>
          <a:blip r:embed="rId3"/>
          <a:stretch>
            <a:fillRect/>
          </a:stretch>
        </p:blipFill>
        <p:spPr>
          <a:xfrm>
            <a:off x="6565392" y="1408176"/>
            <a:ext cx="292608" cy="292608"/>
          </a:xfrm>
          <a:prstGeom prst="rect">
            <a:avLst/>
          </a:prstGeom>
        </p:spPr>
      </p:pic>
      <p:sp>
        <p:nvSpPr>
          <p:cNvPr id="39" name="Shape 36"/>
          <p:cNvSpPr/>
          <p:nvPr/>
        </p:nvSpPr>
        <p:spPr>
          <a:xfrm>
            <a:off x="6949440" y="1097280"/>
            <a:ext cx="1828800" cy="914400"/>
          </a:xfrm>
          <a:prstGeom prst="rect">
            <a:avLst/>
          </a:prstGeom>
          <a:solidFill>
            <a:srgbClr val="0D2010"/>
          </a:solidFill>
          <a:ln w="19050">
            <a:solidFill>
              <a:srgbClr val="2E7D32"/>
            </a:solidFill>
            <a:prstDash val="solid"/>
          </a:ln>
        </p:spPr>
        <p:txBody>
          <a:bodyPr/>
          <a:lstStyle/>
          <a:p>
            <a:endParaRPr lang="en-US"/>
          </a:p>
        </p:txBody>
      </p:sp>
      <p:sp>
        <p:nvSpPr>
          <p:cNvPr id="40" name="Text 37"/>
          <p:cNvSpPr/>
          <p:nvPr/>
        </p:nvSpPr>
        <p:spPr>
          <a:xfrm>
            <a:off x="6949440" y="1115568"/>
            <a:ext cx="1828800" cy="228600"/>
          </a:xfrm>
          <a:prstGeom prst="rect">
            <a:avLst/>
          </a:prstGeom>
          <a:noFill/>
          <a:ln/>
        </p:spPr>
        <p:txBody>
          <a:bodyPr wrap="square" lIns="0" tIns="0" rIns="0" bIns="0" rtlCol="0" anchor="ctr"/>
          <a:lstStyle/>
          <a:p>
            <a:pPr marL="0" indent="0" algn="ctr">
              <a:buNone/>
            </a:pPr>
            <a:r>
              <a:rPr lang="en-US" sz="850" b="1" dirty="0">
                <a:solidFill>
                  <a:srgbClr val="4CAF50"/>
                </a:solidFill>
                <a:latin typeface="Calibri" pitchFamily="34" charset="0"/>
                <a:ea typeface="Calibri" pitchFamily="34" charset="-122"/>
                <a:cs typeface="Calibri" pitchFamily="34" charset="-120"/>
              </a:rPr>
              <a:t>AFTER (VPA)</a:t>
            </a:r>
            <a:endParaRPr lang="en-US" sz="850" dirty="0"/>
          </a:p>
        </p:txBody>
      </p:sp>
      <p:sp>
        <p:nvSpPr>
          <p:cNvPr id="41" name="Text 38"/>
          <p:cNvSpPr/>
          <p:nvPr/>
        </p:nvSpPr>
        <p:spPr>
          <a:xfrm>
            <a:off x="6949440" y="1371600"/>
            <a:ext cx="1828800" cy="594360"/>
          </a:xfrm>
          <a:prstGeom prst="rect">
            <a:avLst/>
          </a:prstGeom>
          <a:noFill/>
          <a:ln/>
        </p:spPr>
        <p:txBody>
          <a:bodyPr wrap="square" lIns="0" tIns="0" rIns="0" bIns="0" rtlCol="0" anchor="ctr"/>
          <a:lstStyle/>
          <a:p>
            <a:pPr marL="0" indent="0" algn="ctr">
              <a:buNone/>
            </a:pPr>
            <a:r>
              <a:rPr lang="en-US" sz="1100" b="1" dirty="0">
                <a:solidFill>
                  <a:srgbClr val="98C379"/>
                </a:solidFill>
                <a:latin typeface="Consolas" pitchFamily="34" charset="0"/>
                <a:ea typeface="Consolas" pitchFamily="34" charset="-122"/>
                <a:cs typeface="Consolas" pitchFamily="34" charset="-120"/>
              </a:rPr>
              <a:t>cpu: 500m</a:t>
            </a:r>
            <a:endParaRPr lang="en-US" sz="1100" dirty="0"/>
          </a:p>
          <a:p>
            <a:pPr marL="0" indent="0" algn="ctr">
              <a:buNone/>
            </a:pPr>
            <a:r>
              <a:rPr lang="en-US" sz="1100" b="1" dirty="0">
                <a:solidFill>
                  <a:srgbClr val="98C379"/>
                </a:solidFill>
                <a:latin typeface="Consolas" pitchFamily="34" charset="0"/>
                <a:ea typeface="Consolas" pitchFamily="34" charset="-122"/>
                <a:cs typeface="Consolas" pitchFamily="34" charset="-120"/>
              </a:rPr>
              <a:t>memory: 256Mi</a:t>
            </a:r>
            <a:endParaRPr lang="en-US" sz="1100" dirty="0"/>
          </a:p>
        </p:txBody>
      </p:sp>
      <p:sp>
        <p:nvSpPr>
          <p:cNvPr id="42" name="Shape 39"/>
          <p:cNvSpPr/>
          <p:nvPr/>
        </p:nvSpPr>
        <p:spPr>
          <a:xfrm>
            <a:off x="4663440" y="2249424"/>
            <a:ext cx="4206240" cy="2651760"/>
          </a:xfrm>
          <a:prstGeom prst="rect">
            <a:avLst/>
          </a:prstGeom>
          <a:solidFill>
            <a:srgbClr val="1A1A2E"/>
          </a:solidFill>
          <a:ln w="12700">
            <a:solidFill>
              <a:srgbClr val="333344"/>
            </a:solidFill>
            <a:prstDash val="solid"/>
          </a:ln>
          <a:effectLst>
            <a:outerShdw blurRad="101600" dist="38100" dir="8100000" algn="bl" rotWithShape="0">
              <a:srgbClr val="000000">
                <a:alpha val="25000"/>
              </a:srgbClr>
            </a:outerShdw>
          </a:effectLst>
        </p:spPr>
        <p:txBody>
          <a:bodyPr/>
          <a:lstStyle/>
          <a:p>
            <a:endParaRPr lang="en-US"/>
          </a:p>
        </p:txBody>
      </p:sp>
      <p:sp>
        <p:nvSpPr>
          <p:cNvPr id="43" name="Shape 40"/>
          <p:cNvSpPr/>
          <p:nvPr/>
        </p:nvSpPr>
        <p:spPr>
          <a:xfrm>
            <a:off x="4663440" y="2249424"/>
            <a:ext cx="4206240" cy="274320"/>
          </a:xfrm>
          <a:prstGeom prst="rect">
            <a:avLst/>
          </a:prstGeom>
          <a:solidFill>
            <a:srgbClr val="2A2A3E"/>
          </a:solidFill>
          <a:ln/>
        </p:spPr>
        <p:txBody>
          <a:bodyPr/>
          <a:lstStyle/>
          <a:p>
            <a:endParaRPr lang="en-US"/>
          </a:p>
        </p:txBody>
      </p:sp>
      <p:sp>
        <p:nvSpPr>
          <p:cNvPr id="44" name="Text 41"/>
          <p:cNvSpPr/>
          <p:nvPr/>
        </p:nvSpPr>
        <p:spPr>
          <a:xfrm>
            <a:off x="4754880" y="2286000"/>
            <a:ext cx="4023360" cy="201168"/>
          </a:xfrm>
          <a:prstGeom prst="rect">
            <a:avLst/>
          </a:prstGeom>
          <a:noFill/>
          <a:ln/>
        </p:spPr>
        <p:txBody>
          <a:bodyPr wrap="square" lIns="0" tIns="0" rIns="0" bIns="0" rtlCol="0" anchor="ctr"/>
          <a:lstStyle/>
          <a:p>
            <a:pPr marL="0" indent="0">
              <a:buNone/>
            </a:pPr>
            <a:r>
              <a:rPr lang="en-US" sz="850" dirty="0">
                <a:solidFill>
                  <a:srgbClr val="8888AA"/>
                </a:solidFill>
                <a:latin typeface="Consolas" pitchFamily="34" charset="0"/>
                <a:ea typeface="Consolas" pitchFamily="34" charset="-122"/>
                <a:cs typeface="Consolas" pitchFamily="34" charset="-120"/>
              </a:rPr>
              <a:t>oc describe vpa cpu-app-vpa  [output]</a:t>
            </a:r>
            <a:endParaRPr lang="en-US" sz="850" dirty="0"/>
          </a:p>
        </p:txBody>
      </p:sp>
      <p:sp>
        <p:nvSpPr>
          <p:cNvPr id="45" name="Text 42"/>
          <p:cNvSpPr/>
          <p:nvPr/>
        </p:nvSpPr>
        <p:spPr>
          <a:xfrm>
            <a:off x="4736592" y="2615184"/>
            <a:ext cx="3977640" cy="210312"/>
          </a:xfrm>
          <a:prstGeom prst="rect">
            <a:avLst/>
          </a:prstGeom>
          <a:noFill/>
          <a:ln/>
        </p:spPr>
        <p:txBody>
          <a:bodyPr wrap="square" lIns="0" tIns="0" rIns="0" bIns="0" rtlCol="0" anchor="ctr"/>
          <a:lstStyle/>
          <a:p>
            <a:pPr marL="0" indent="0">
              <a:buNone/>
            </a:pPr>
            <a:r>
              <a:rPr lang="en-US" sz="850" dirty="0">
                <a:solidFill>
                  <a:srgbClr val="F5A623"/>
                </a:solidFill>
                <a:latin typeface="Consolas" pitchFamily="34" charset="0"/>
                <a:ea typeface="Consolas" pitchFamily="34" charset="-122"/>
                <a:cs typeface="Consolas" pitchFamily="34" charset="-120"/>
              </a:rPr>
              <a:t>Status:</a:t>
            </a:r>
            <a:endParaRPr lang="en-US" sz="850" dirty="0"/>
          </a:p>
        </p:txBody>
      </p:sp>
      <p:sp>
        <p:nvSpPr>
          <p:cNvPr id="46" name="Text 43"/>
          <p:cNvSpPr/>
          <p:nvPr/>
        </p:nvSpPr>
        <p:spPr>
          <a:xfrm>
            <a:off x="4736592" y="2830068"/>
            <a:ext cx="3977640" cy="210312"/>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Recommendation:</a:t>
            </a:r>
            <a:endParaRPr lang="en-US" sz="850" dirty="0"/>
          </a:p>
        </p:txBody>
      </p:sp>
      <p:sp>
        <p:nvSpPr>
          <p:cNvPr id="47" name="Text 44"/>
          <p:cNvSpPr/>
          <p:nvPr/>
        </p:nvSpPr>
        <p:spPr>
          <a:xfrm>
            <a:off x="4736592" y="3044952"/>
            <a:ext cx="3977640" cy="210312"/>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ContainerRecommendations:</a:t>
            </a:r>
            <a:endParaRPr lang="en-US" sz="850" dirty="0"/>
          </a:p>
        </p:txBody>
      </p:sp>
      <p:sp>
        <p:nvSpPr>
          <p:cNvPr id="48" name="Text 45"/>
          <p:cNvSpPr/>
          <p:nvPr/>
        </p:nvSpPr>
        <p:spPr>
          <a:xfrm>
            <a:off x="4736592" y="3259836"/>
            <a:ext cx="3977640" cy="210312"/>
          </a:xfrm>
          <a:prstGeom prst="rect">
            <a:avLst/>
          </a:prstGeom>
          <a:noFill/>
          <a:ln/>
        </p:spPr>
        <p:txBody>
          <a:bodyPr wrap="square" lIns="0" tIns="0" rIns="0" bIns="0" rtlCol="0" anchor="ctr"/>
          <a:lstStyle/>
          <a:p>
            <a:pPr marL="0" indent="0">
              <a:buNone/>
            </a:pPr>
            <a:r>
              <a:rPr lang="en-US" sz="850" dirty="0">
                <a:solidFill>
                  <a:srgbClr val="61AFEF"/>
                </a:solidFill>
                <a:latin typeface="Consolas" pitchFamily="34" charset="0"/>
                <a:ea typeface="Consolas" pitchFamily="34" charset="-122"/>
                <a:cs typeface="Consolas" pitchFamily="34" charset="-120"/>
              </a:rPr>
              <a:t>    - ContainerName: app</a:t>
            </a:r>
            <a:endParaRPr lang="en-US" sz="850" dirty="0"/>
          </a:p>
        </p:txBody>
      </p:sp>
      <p:sp>
        <p:nvSpPr>
          <p:cNvPr id="49" name="Text 46"/>
          <p:cNvSpPr/>
          <p:nvPr/>
        </p:nvSpPr>
        <p:spPr>
          <a:xfrm>
            <a:off x="4736592" y="3474720"/>
            <a:ext cx="3977640" cy="210312"/>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LowerBound:</a:t>
            </a:r>
            <a:endParaRPr lang="en-US" sz="850" dirty="0"/>
          </a:p>
        </p:txBody>
      </p:sp>
      <p:sp>
        <p:nvSpPr>
          <p:cNvPr id="50" name="Text 47"/>
          <p:cNvSpPr/>
          <p:nvPr/>
        </p:nvSpPr>
        <p:spPr>
          <a:xfrm>
            <a:off x="4736592" y="3689604"/>
            <a:ext cx="3977640" cy="210312"/>
          </a:xfrm>
          <a:prstGeom prst="rect">
            <a:avLst/>
          </a:prstGeom>
          <a:noFill/>
          <a:ln/>
        </p:spPr>
        <p:txBody>
          <a:bodyPr wrap="square" lIns="0" tIns="0" rIns="0" bIns="0" rtlCol="0" anchor="ctr"/>
          <a:lstStyle/>
          <a:p>
            <a:pPr marL="0" indent="0">
              <a:buNone/>
            </a:pPr>
            <a:r>
              <a:rPr lang="en-US" sz="850" dirty="0">
                <a:solidFill>
                  <a:srgbClr val="98C379"/>
                </a:solidFill>
                <a:latin typeface="Consolas" pitchFamily="34" charset="0"/>
                <a:ea typeface="Consolas" pitchFamily="34" charset="-122"/>
                <a:cs typeface="Consolas" pitchFamily="34" charset="-120"/>
              </a:rPr>
              <a:t>        cpu: 200m    memory: 128Mi</a:t>
            </a:r>
            <a:endParaRPr lang="en-US" sz="850" dirty="0"/>
          </a:p>
        </p:txBody>
      </p:sp>
      <p:sp>
        <p:nvSpPr>
          <p:cNvPr id="51" name="Text 48"/>
          <p:cNvSpPr/>
          <p:nvPr/>
        </p:nvSpPr>
        <p:spPr>
          <a:xfrm>
            <a:off x="4736592" y="3904488"/>
            <a:ext cx="3977640" cy="210312"/>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Target:</a:t>
            </a:r>
            <a:endParaRPr lang="en-US" sz="850" dirty="0"/>
          </a:p>
        </p:txBody>
      </p:sp>
      <p:sp>
        <p:nvSpPr>
          <p:cNvPr id="52" name="Text 49"/>
          <p:cNvSpPr/>
          <p:nvPr/>
        </p:nvSpPr>
        <p:spPr>
          <a:xfrm>
            <a:off x="4736592" y="4119372"/>
            <a:ext cx="3977640" cy="210312"/>
          </a:xfrm>
          <a:prstGeom prst="rect">
            <a:avLst/>
          </a:prstGeom>
          <a:noFill/>
          <a:ln/>
        </p:spPr>
        <p:txBody>
          <a:bodyPr wrap="square" lIns="0" tIns="0" rIns="0" bIns="0" rtlCol="0" anchor="ctr"/>
          <a:lstStyle/>
          <a:p>
            <a:pPr marL="0" indent="0">
              <a:buNone/>
            </a:pPr>
            <a:r>
              <a:rPr lang="en-US" sz="850" dirty="0">
                <a:solidFill>
                  <a:srgbClr val="4CAF50"/>
                </a:solidFill>
                <a:latin typeface="Consolas" pitchFamily="34" charset="0"/>
                <a:ea typeface="Consolas" pitchFamily="34" charset="-122"/>
                <a:cs typeface="Consolas" pitchFamily="34" charset="-120"/>
              </a:rPr>
              <a:t>        cpu: 500m    memory: 256Mi</a:t>
            </a:r>
            <a:endParaRPr lang="en-US" sz="850" dirty="0"/>
          </a:p>
        </p:txBody>
      </p:sp>
      <p:sp>
        <p:nvSpPr>
          <p:cNvPr id="53" name="Text 50"/>
          <p:cNvSpPr/>
          <p:nvPr/>
        </p:nvSpPr>
        <p:spPr>
          <a:xfrm>
            <a:off x="4736592" y="4334256"/>
            <a:ext cx="3977640" cy="210312"/>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      UpperBound:</a:t>
            </a:r>
            <a:endParaRPr lang="en-US" sz="850" dirty="0"/>
          </a:p>
        </p:txBody>
      </p:sp>
      <p:sp>
        <p:nvSpPr>
          <p:cNvPr id="54" name="Text 51"/>
          <p:cNvSpPr/>
          <p:nvPr/>
        </p:nvSpPr>
        <p:spPr>
          <a:xfrm>
            <a:off x="4736592" y="4549140"/>
            <a:ext cx="3977640" cy="210312"/>
          </a:xfrm>
          <a:prstGeom prst="rect">
            <a:avLst/>
          </a:prstGeom>
          <a:noFill/>
          <a:ln/>
        </p:spPr>
        <p:txBody>
          <a:bodyPr wrap="square" lIns="0" tIns="0" rIns="0" bIns="0" rtlCol="0" anchor="ctr"/>
          <a:lstStyle/>
          <a:p>
            <a:pPr marL="0" indent="0">
              <a:buNone/>
            </a:pPr>
            <a:r>
              <a:rPr lang="en-US" sz="850" dirty="0">
                <a:solidFill>
                  <a:srgbClr val="E5C07B"/>
                </a:solidFill>
                <a:latin typeface="Consolas" pitchFamily="34" charset="0"/>
                <a:ea typeface="Consolas" pitchFamily="34" charset="-122"/>
                <a:cs typeface="Consolas" pitchFamily="34" charset="-120"/>
              </a:rPr>
              <a:t>        cpu: 1000m  memory: 512Mi</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E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11111"/>
          </a:solidFill>
          <a:ln/>
        </p:spPr>
        <p:txBody>
          <a:bodyPr/>
          <a:lstStyle/>
          <a:p>
            <a:endParaRPr lang="en-US"/>
          </a:p>
        </p:txBody>
      </p:sp>
      <p:sp>
        <p:nvSpPr>
          <p:cNvPr id="3" name="Shape 1"/>
          <p:cNvSpPr/>
          <p:nvPr/>
        </p:nvSpPr>
        <p:spPr>
          <a:xfrm>
            <a:off x="0" y="0"/>
            <a:ext cx="9144000" cy="54864"/>
          </a:xfrm>
          <a:prstGeom prst="rect">
            <a:avLst/>
          </a:prstGeom>
          <a:solidFill>
            <a:srgbClr val="CC0000"/>
          </a:solidFill>
          <a:ln/>
        </p:spPr>
        <p:txBody>
          <a:bodyPr/>
          <a:lstStyle/>
          <a:p>
            <a:endParaRPr lang="en-US"/>
          </a:p>
        </p:txBody>
      </p:sp>
      <p:sp>
        <p:nvSpPr>
          <p:cNvPr id="4" name="Text 2"/>
          <p:cNvSpPr/>
          <p:nvPr/>
        </p:nvSpPr>
        <p:spPr>
          <a:xfrm>
            <a:off x="274320" y="109728"/>
            <a:ext cx="7772400" cy="384048"/>
          </a:xfrm>
          <a:prstGeom prst="rect">
            <a:avLst/>
          </a:prstGeom>
          <a:noFill/>
          <a:ln/>
        </p:spPr>
        <p:txBody>
          <a:bodyPr wrap="square" lIns="0" tIns="0" rIns="0" bIns="0" rtlCol="0" anchor="ctr"/>
          <a:lstStyle/>
          <a:p>
            <a:pPr marL="0" indent="0">
              <a:buNone/>
            </a:pPr>
            <a:r>
              <a:rPr lang="en-US" sz="1800" b="1" kern="0" spc="200" dirty="0">
                <a:solidFill>
                  <a:srgbClr val="FFFFFF"/>
                </a:solidFill>
                <a:latin typeface="Calibri" pitchFamily="34" charset="0"/>
                <a:ea typeface="Calibri" pitchFamily="34" charset="-122"/>
                <a:cs typeface="Calibri" pitchFamily="34" charset="-120"/>
              </a:rPr>
              <a:t>ADVANCED RESOURCE POLICY</a:t>
            </a:r>
            <a:endParaRPr lang="en-US" sz="1800" dirty="0"/>
          </a:p>
        </p:txBody>
      </p:sp>
      <p:sp>
        <p:nvSpPr>
          <p:cNvPr id="5" name="Text 3"/>
          <p:cNvSpPr/>
          <p:nvPr/>
        </p:nvSpPr>
        <p:spPr>
          <a:xfrm>
            <a:off x="8321040" y="109728"/>
            <a:ext cx="640080" cy="384048"/>
          </a:xfrm>
          <a:prstGeom prst="rect">
            <a:avLst/>
          </a:prstGeom>
          <a:noFill/>
          <a:ln/>
        </p:spPr>
        <p:txBody>
          <a:bodyPr wrap="square" lIns="0" tIns="0" rIns="0" bIns="0" rtlCol="0" anchor="ctr"/>
          <a:lstStyle/>
          <a:p>
            <a:pPr marL="0" indent="0">
              <a:buNone/>
            </a:pPr>
            <a:r>
              <a:rPr lang="en-US" sz="2200" b="1" dirty="0">
                <a:solidFill>
                  <a:srgbClr val="CC0000"/>
                </a:solidFill>
                <a:latin typeface="Calibri" pitchFamily="34" charset="0"/>
                <a:ea typeface="Calibri" pitchFamily="34" charset="-122"/>
                <a:cs typeface="Calibri" pitchFamily="34" charset="-120"/>
              </a:rPr>
              <a:t>06</a:t>
            </a:r>
            <a:endParaRPr lang="en-US" sz="2200" dirty="0"/>
          </a:p>
        </p:txBody>
      </p:sp>
      <p:sp>
        <p:nvSpPr>
          <p:cNvPr id="6" name="Shape 4"/>
          <p:cNvSpPr/>
          <p:nvPr/>
        </p:nvSpPr>
        <p:spPr>
          <a:xfrm>
            <a:off x="274320" y="608779"/>
            <a:ext cx="4846320" cy="4461569"/>
          </a:xfrm>
          <a:prstGeom prst="rect">
            <a:avLst/>
          </a:prstGeom>
          <a:solidFill>
            <a:srgbClr val="1A1A2E"/>
          </a:solidFill>
          <a:ln w="12700">
            <a:solidFill>
              <a:srgbClr val="333344"/>
            </a:solidFill>
            <a:prstDash val="solid"/>
          </a:ln>
          <a:effectLst>
            <a:outerShdw blurRad="101600" dist="38100" dir="8100000" algn="bl" rotWithShape="0">
              <a:srgbClr val="000000">
                <a:alpha val="25000"/>
              </a:srgbClr>
            </a:outerShdw>
          </a:effectLst>
        </p:spPr>
        <p:txBody>
          <a:bodyPr/>
          <a:lstStyle/>
          <a:p>
            <a:endParaRPr lang="en-US" dirty="0"/>
          </a:p>
        </p:txBody>
      </p:sp>
      <p:sp>
        <p:nvSpPr>
          <p:cNvPr id="7" name="Shape 5"/>
          <p:cNvSpPr/>
          <p:nvPr/>
        </p:nvSpPr>
        <p:spPr>
          <a:xfrm>
            <a:off x="274320" y="634101"/>
            <a:ext cx="4846320" cy="292608"/>
          </a:xfrm>
          <a:prstGeom prst="rect">
            <a:avLst/>
          </a:prstGeom>
          <a:solidFill>
            <a:srgbClr val="2A2A3E"/>
          </a:solidFill>
          <a:ln/>
        </p:spPr>
        <p:txBody>
          <a:bodyPr/>
          <a:lstStyle/>
          <a:p>
            <a:endParaRPr lang="en-US"/>
          </a:p>
        </p:txBody>
      </p:sp>
      <p:sp>
        <p:nvSpPr>
          <p:cNvPr id="8" name="Shape 6"/>
          <p:cNvSpPr/>
          <p:nvPr/>
        </p:nvSpPr>
        <p:spPr>
          <a:xfrm>
            <a:off x="411480" y="804672"/>
            <a:ext cx="109728" cy="109728"/>
          </a:xfrm>
          <a:prstGeom prst="ellipse">
            <a:avLst/>
          </a:prstGeom>
          <a:solidFill>
            <a:srgbClr val="FF5F56"/>
          </a:solidFill>
          <a:ln w="12700">
            <a:solidFill>
              <a:srgbClr val="FF5F56"/>
            </a:solidFill>
            <a:prstDash val="solid"/>
          </a:ln>
        </p:spPr>
        <p:txBody>
          <a:bodyPr/>
          <a:lstStyle/>
          <a:p>
            <a:endParaRPr lang="en-US"/>
          </a:p>
        </p:txBody>
      </p:sp>
      <p:sp>
        <p:nvSpPr>
          <p:cNvPr id="9" name="Shape 7"/>
          <p:cNvSpPr/>
          <p:nvPr/>
        </p:nvSpPr>
        <p:spPr>
          <a:xfrm>
            <a:off x="566928" y="804672"/>
            <a:ext cx="109728" cy="109728"/>
          </a:xfrm>
          <a:prstGeom prst="ellipse">
            <a:avLst/>
          </a:prstGeom>
          <a:solidFill>
            <a:srgbClr val="FFBD2E"/>
          </a:solidFill>
          <a:ln w="12700">
            <a:solidFill>
              <a:srgbClr val="FFBD2E"/>
            </a:solidFill>
            <a:prstDash val="solid"/>
          </a:ln>
        </p:spPr>
        <p:txBody>
          <a:bodyPr/>
          <a:lstStyle/>
          <a:p>
            <a:endParaRPr lang="en-US"/>
          </a:p>
        </p:txBody>
      </p:sp>
      <p:sp>
        <p:nvSpPr>
          <p:cNvPr id="10" name="Shape 8"/>
          <p:cNvSpPr/>
          <p:nvPr/>
        </p:nvSpPr>
        <p:spPr>
          <a:xfrm>
            <a:off x="722376" y="804672"/>
            <a:ext cx="109728" cy="109728"/>
          </a:xfrm>
          <a:prstGeom prst="ellipse">
            <a:avLst/>
          </a:prstGeom>
          <a:solidFill>
            <a:srgbClr val="27C93F"/>
          </a:solidFill>
          <a:ln w="12700">
            <a:solidFill>
              <a:srgbClr val="27C93F"/>
            </a:solidFill>
            <a:prstDash val="solid"/>
          </a:ln>
        </p:spPr>
        <p:txBody>
          <a:bodyPr/>
          <a:lstStyle/>
          <a:p>
            <a:endParaRPr lang="en-US"/>
          </a:p>
        </p:txBody>
      </p:sp>
      <p:sp>
        <p:nvSpPr>
          <p:cNvPr id="11" name="Text 9"/>
          <p:cNvSpPr/>
          <p:nvPr/>
        </p:nvSpPr>
        <p:spPr>
          <a:xfrm>
            <a:off x="1664208" y="655906"/>
            <a:ext cx="2011680" cy="201168"/>
          </a:xfrm>
          <a:prstGeom prst="rect">
            <a:avLst/>
          </a:prstGeom>
          <a:noFill/>
          <a:ln/>
        </p:spPr>
        <p:txBody>
          <a:bodyPr wrap="square" lIns="0" tIns="0" rIns="0" bIns="0" rtlCol="0" anchor="ctr"/>
          <a:lstStyle/>
          <a:p>
            <a:pPr marL="0" indent="0" algn="ctr">
              <a:buNone/>
            </a:pPr>
            <a:r>
              <a:rPr lang="en-US" sz="900" dirty="0">
                <a:solidFill>
                  <a:srgbClr val="8888AA"/>
                </a:solidFill>
                <a:latin typeface="Consolas" pitchFamily="34" charset="0"/>
                <a:ea typeface="Consolas" pitchFamily="34" charset="-122"/>
                <a:cs typeface="Consolas" pitchFamily="34" charset="-120"/>
              </a:rPr>
              <a:t>manual-vpa.yaml</a:t>
            </a:r>
            <a:endParaRPr lang="en-US" sz="900" dirty="0"/>
          </a:p>
        </p:txBody>
      </p:sp>
      <p:sp>
        <p:nvSpPr>
          <p:cNvPr id="12" name="Text 10"/>
          <p:cNvSpPr/>
          <p:nvPr/>
        </p:nvSpPr>
        <p:spPr>
          <a:xfrm>
            <a:off x="292608" y="92846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apiVersion</a:t>
            </a:r>
            <a:r>
              <a:rPr lang="en-US" sz="880" dirty="0">
                <a:solidFill>
                  <a:srgbClr val="61AFEF"/>
                </a:solidFill>
                <a:latin typeface="Consolas" pitchFamily="34" charset="0"/>
                <a:ea typeface="Consolas" pitchFamily="34" charset="-122"/>
                <a:cs typeface="Consolas" pitchFamily="34" charset="-120"/>
              </a:rPr>
              <a:t>: autoscaling.k8s.io/v1</a:t>
            </a:r>
            <a:endParaRPr lang="en-US" sz="880" dirty="0"/>
          </a:p>
        </p:txBody>
      </p:sp>
      <p:sp>
        <p:nvSpPr>
          <p:cNvPr id="13" name="Text 11"/>
          <p:cNvSpPr/>
          <p:nvPr/>
        </p:nvSpPr>
        <p:spPr>
          <a:xfrm>
            <a:off x="292608" y="113420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kind</a:t>
            </a:r>
            <a:r>
              <a:rPr lang="en-US" sz="880" dirty="0">
                <a:solidFill>
                  <a:srgbClr val="C678DD"/>
                </a:solidFill>
                <a:latin typeface="Consolas" pitchFamily="34" charset="0"/>
                <a:ea typeface="Consolas" pitchFamily="34" charset="-122"/>
                <a:cs typeface="Consolas" pitchFamily="34" charset="-120"/>
              </a:rPr>
              <a:t>: VerticalPodAutoscaler</a:t>
            </a:r>
            <a:endParaRPr lang="en-US" sz="880" dirty="0"/>
          </a:p>
        </p:txBody>
      </p:sp>
      <p:sp>
        <p:nvSpPr>
          <p:cNvPr id="14" name="Text 12"/>
          <p:cNvSpPr/>
          <p:nvPr/>
        </p:nvSpPr>
        <p:spPr>
          <a:xfrm>
            <a:off x="292608" y="133994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metadata</a:t>
            </a:r>
            <a:r>
              <a:rPr lang="en-US" sz="880" dirty="0">
                <a:solidFill>
                  <a:srgbClr val="FFFFFF"/>
                </a:solidFill>
                <a:latin typeface="Consolas" pitchFamily="34" charset="0"/>
                <a:ea typeface="Consolas" pitchFamily="34" charset="-122"/>
                <a:cs typeface="Consolas" pitchFamily="34" charset="-120"/>
              </a:rPr>
              <a:t>:</a:t>
            </a:r>
            <a:endParaRPr lang="en-US" sz="880" dirty="0"/>
          </a:p>
        </p:txBody>
      </p:sp>
      <p:sp>
        <p:nvSpPr>
          <p:cNvPr id="15" name="Text 13"/>
          <p:cNvSpPr/>
          <p:nvPr/>
        </p:nvSpPr>
        <p:spPr>
          <a:xfrm>
            <a:off x="292608" y="154568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name</a:t>
            </a:r>
            <a:r>
              <a:rPr lang="en-US" sz="880" dirty="0">
                <a:solidFill>
                  <a:srgbClr val="E5C07B"/>
                </a:solidFill>
                <a:latin typeface="Consolas" pitchFamily="34" charset="0"/>
                <a:ea typeface="Consolas" pitchFamily="34" charset="-122"/>
                <a:cs typeface="Consolas" pitchFamily="34" charset="-120"/>
              </a:rPr>
              <a:t>: manual-vpa</a:t>
            </a:r>
            <a:endParaRPr lang="en-US" sz="880" dirty="0"/>
          </a:p>
        </p:txBody>
      </p:sp>
      <p:sp>
        <p:nvSpPr>
          <p:cNvPr id="16" name="Text 14"/>
          <p:cNvSpPr/>
          <p:nvPr/>
        </p:nvSpPr>
        <p:spPr>
          <a:xfrm>
            <a:off x="292608" y="175142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spec</a:t>
            </a:r>
            <a:r>
              <a:rPr lang="en-US" sz="880" dirty="0">
                <a:solidFill>
                  <a:srgbClr val="FFFFFF"/>
                </a:solidFill>
                <a:latin typeface="Consolas" pitchFamily="34" charset="0"/>
                <a:ea typeface="Consolas" pitchFamily="34" charset="-122"/>
                <a:cs typeface="Consolas" pitchFamily="34" charset="-120"/>
              </a:rPr>
              <a:t>:</a:t>
            </a:r>
            <a:endParaRPr lang="en-US" sz="880" dirty="0"/>
          </a:p>
        </p:txBody>
      </p:sp>
      <p:sp>
        <p:nvSpPr>
          <p:cNvPr id="17" name="Text 15"/>
          <p:cNvSpPr/>
          <p:nvPr/>
        </p:nvSpPr>
        <p:spPr>
          <a:xfrm>
            <a:off x="292608" y="195716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targetRef</a:t>
            </a:r>
            <a:r>
              <a:rPr lang="en-US" sz="880" dirty="0">
                <a:solidFill>
                  <a:srgbClr val="FFFFFF"/>
                </a:solidFill>
                <a:latin typeface="Consolas" pitchFamily="34" charset="0"/>
                <a:ea typeface="Consolas" pitchFamily="34" charset="-122"/>
                <a:cs typeface="Consolas" pitchFamily="34" charset="-120"/>
              </a:rPr>
              <a:t>:</a:t>
            </a:r>
            <a:endParaRPr lang="en-US" sz="880" dirty="0"/>
          </a:p>
        </p:txBody>
      </p:sp>
      <p:sp>
        <p:nvSpPr>
          <p:cNvPr id="18" name="Text 16"/>
          <p:cNvSpPr/>
          <p:nvPr/>
        </p:nvSpPr>
        <p:spPr>
          <a:xfrm>
            <a:off x="292608" y="216290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apiVersion</a:t>
            </a:r>
            <a:r>
              <a:rPr lang="en-US" sz="880" dirty="0">
                <a:solidFill>
                  <a:srgbClr val="61AFEF"/>
                </a:solidFill>
                <a:latin typeface="Consolas" pitchFamily="34" charset="0"/>
                <a:ea typeface="Consolas" pitchFamily="34" charset="-122"/>
                <a:cs typeface="Consolas" pitchFamily="34" charset="-120"/>
              </a:rPr>
              <a:t>: apps/v1</a:t>
            </a:r>
            <a:endParaRPr lang="en-US" sz="880" dirty="0"/>
          </a:p>
        </p:txBody>
      </p:sp>
      <p:sp>
        <p:nvSpPr>
          <p:cNvPr id="19" name="Text 17"/>
          <p:cNvSpPr/>
          <p:nvPr/>
        </p:nvSpPr>
        <p:spPr>
          <a:xfrm>
            <a:off x="292608" y="236864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kind</a:t>
            </a:r>
            <a:r>
              <a:rPr lang="en-US" sz="880" dirty="0">
                <a:solidFill>
                  <a:srgbClr val="61AFEF"/>
                </a:solidFill>
                <a:latin typeface="Consolas" pitchFamily="34" charset="0"/>
                <a:ea typeface="Consolas" pitchFamily="34" charset="-122"/>
                <a:cs typeface="Consolas" pitchFamily="34" charset="-120"/>
              </a:rPr>
              <a:t>: Deployment</a:t>
            </a:r>
            <a:endParaRPr lang="en-US" sz="880" dirty="0"/>
          </a:p>
        </p:txBody>
      </p:sp>
      <p:sp>
        <p:nvSpPr>
          <p:cNvPr id="20" name="Text 18"/>
          <p:cNvSpPr/>
          <p:nvPr/>
        </p:nvSpPr>
        <p:spPr>
          <a:xfrm>
            <a:off x="292608" y="257438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name</a:t>
            </a:r>
            <a:r>
              <a:rPr lang="en-US" sz="880" dirty="0">
                <a:solidFill>
                  <a:srgbClr val="E5C07B"/>
                </a:solidFill>
                <a:latin typeface="Consolas" pitchFamily="34" charset="0"/>
                <a:ea typeface="Consolas" pitchFamily="34" charset="-122"/>
                <a:cs typeface="Consolas" pitchFamily="34" charset="-120"/>
              </a:rPr>
              <a:t>: cpu-app</a:t>
            </a:r>
            <a:endParaRPr lang="en-US" sz="880" dirty="0"/>
          </a:p>
        </p:txBody>
      </p:sp>
      <p:sp>
        <p:nvSpPr>
          <p:cNvPr id="21" name="Text 19"/>
          <p:cNvSpPr/>
          <p:nvPr/>
        </p:nvSpPr>
        <p:spPr>
          <a:xfrm>
            <a:off x="292608" y="278012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updatePolicy</a:t>
            </a:r>
            <a:r>
              <a:rPr lang="en-US" sz="880" dirty="0">
                <a:solidFill>
                  <a:srgbClr val="FFFFFF"/>
                </a:solidFill>
                <a:latin typeface="Consolas" pitchFamily="34" charset="0"/>
                <a:ea typeface="Consolas" pitchFamily="34" charset="-122"/>
                <a:cs typeface="Consolas" pitchFamily="34" charset="-120"/>
              </a:rPr>
              <a:t>:</a:t>
            </a:r>
            <a:endParaRPr lang="en-US" sz="880" dirty="0"/>
          </a:p>
        </p:txBody>
      </p:sp>
      <p:sp>
        <p:nvSpPr>
          <p:cNvPr id="22" name="Text 20"/>
          <p:cNvSpPr/>
          <p:nvPr/>
        </p:nvSpPr>
        <p:spPr>
          <a:xfrm>
            <a:off x="292608" y="298586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updateMode</a:t>
            </a:r>
            <a:r>
              <a:rPr lang="en-US" sz="880" dirty="0">
                <a:solidFill>
                  <a:srgbClr val="E06C75"/>
                </a:solidFill>
                <a:latin typeface="Consolas" pitchFamily="34" charset="0"/>
                <a:ea typeface="Consolas" pitchFamily="34" charset="-122"/>
                <a:cs typeface="Consolas" pitchFamily="34" charset="-120"/>
              </a:rPr>
              <a:t>: "Auto"</a:t>
            </a:r>
            <a:endParaRPr lang="en-US" sz="880" dirty="0"/>
          </a:p>
        </p:txBody>
      </p:sp>
      <p:sp>
        <p:nvSpPr>
          <p:cNvPr id="23" name="Text 21"/>
          <p:cNvSpPr/>
          <p:nvPr/>
        </p:nvSpPr>
        <p:spPr>
          <a:xfrm>
            <a:off x="292608" y="319160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resourcePolicy</a:t>
            </a:r>
            <a:r>
              <a:rPr lang="en-US" sz="880" dirty="0">
                <a:solidFill>
                  <a:srgbClr val="FFFFFF"/>
                </a:solidFill>
                <a:latin typeface="Consolas" pitchFamily="34" charset="0"/>
                <a:ea typeface="Consolas" pitchFamily="34" charset="-122"/>
                <a:cs typeface="Consolas" pitchFamily="34" charset="-120"/>
              </a:rPr>
              <a:t>:</a:t>
            </a:r>
            <a:endParaRPr lang="en-US" sz="880" dirty="0"/>
          </a:p>
        </p:txBody>
      </p:sp>
      <p:sp>
        <p:nvSpPr>
          <p:cNvPr id="24" name="Text 22"/>
          <p:cNvSpPr/>
          <p:nvPr/>
        </p:nvSpPr>
        <p:spPr>
          <a:xfrm>
            <a:off x="292608" y="339734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containerPolicies</a:t>
            </a:r>
            <a:r>
              <a:rPr lang="en-US" sz="880" dirty="0">
                <a:solidFill>
                  <a:srgbClr val="FFFFFF"/>
                </a:solidFill>
                <a:latin typeface="Consolas" pitchFamily="34" charset="0"/>
                <a:ea typeface="Consolas" pitchFamily="34" charset="-122"/>
                <a:cs typeface="Consolas" pitchFamily="34" charset="-120"/>
              </a:rPr>
              <a:t>:</a:t>
            </a:r>
            <a:endParaRPr lang="en-US" sz="880" dirty="0"/>
          </a:p>
        </p:txBody>
      </p:sp>
      <p:sp>
        <p:nvSpPr>
          <p:cNvPr id="25" name="Text 23"/>
          <p:cNvSpPr/>
          <p:nvPr/>
        </p:nvSpPr>
        <p:spPr>
          <a:xfrm>
            <a:off x="292608" y="360308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 containerName</a:t>
            </a:r>
            <a:r>
              <a:rPr lang="en-US" sz="880" dirty="0">
                <a:solidFill>
                  <a:srgbClr val="E5C07B"/>
                </a:solidFill>
                <a:latin typeface="Consolas" pitchFamily="34" charset="0"/>
                <a:ea typeface="Consolas" pitchFamily="34" charset="-122"/>
                <a:cs typeface="Consolas" pitchFamily="34" charset="-120"/>
              </a:rPr>
              <a:t>: app</a:t>
            </a:r>
            <a:endParaRPr lang="en-US" sz="880" dirty="0"/>
          </a:p>
        </p:txBody>
      </p:sp>
      <p:sp>
        <p:nvSpPr>
          <p:cNvPr id="26" name="Text 24"/>
          <p:cNvSpPr/>
          <p:nvPr/>
        </p:nvSpPr>
        <p:spPr>
          <a:xfrm>
            <a:off x="292608" y="380882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minAllowed</a:t>
            </a:r>
            <a:r>
              <a:rPr lang="en-US" sz="880" dirty="0">
                <a:solidFill>
                  <a:srgbClr val="FFFFFF"/>
                </a:solidFill>
                <a:latin typeface="Consolas" pitchFamily="34" charset="0"/>
                <a:ea typeface="Consolas" pitchFamily="34" charset="-122"/>
                <a:cs typeface="Consolas" pitchFamily="34" charset="-120"/>
              </a:rPr>
              <a:t>:</a:t>
            </a:r>
            <a:r>
              <a:rPr lang="en-US" sz="880" dirty="0">
                <a:solidFill>
                  <a:srgbClr val="555577"/>
                </a:solidFill>
                <a:latin typeface="Consolas" pitchFamily="34" charset="0"/>
                <a:ea typeface="Consolas" pitchFamily="34" charset="-122"/>
                <a:cs typeface="Consolas" pitchFamily="34" charset="-120"/>
              </a:rPr>
              <a:t>   # ← floor</a:t>
            </a:r>
            <a:endParaRPr lang="en-US" sz="880" dirty="0"/>
          </a:p>
        </p:txBody>
      </p:sp>
      <p:sp>
        <p:nvSpPr>
          <p:cNvPr id="27" name="Text 25"/>
          <p:cNvSpPr/>
          <p:nvPr/>
        </p:nvSpPr>
        <p:spPr>
          <a:xfrm>
            <a:off x="292608" y="401456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cpu</a:t>
            </a:r>
            <a:r>
              <a:rPr lang="en-US" sz="880" dirty="0">
                <a:solidFill>
                  <a:srgbClr val="F5A623"/>
                </a:solidFill>
                <a:latin typeface="Consolas" pitchFamily="34" charset="0"/>
                <a:ea typeface="Consolas" pitchFamily="34" charset="-122"/>
                <a:cs typeface="Consolas" pitchFamily="34" charset="-120"/>
              </a:rPr>
              <a:t>: "200m"</a:t>
            </a:r>
            <a:endParaRPr lang="en-US" sz="880" dirty="0"/>
          </a:p>
        </p:txBody>
      </p:sp>
      <p:sp>
        <p:nvSpPr>
          <p:cNvPr id="28" name="Text 26"/>
          <p:cNvSpPr/>
          <p:nvPr/>
        </p:nvSpPr>
        <p:spPr>
          <a:xfrm>
            <a:off x="292608" y="422030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memory</a:t>
            </a:r>
            <a:r>
              <a:rPr lang="en-US" sz="880" dirty="0">
                <a:solidFill>
                  <a:srgbClr val="F5A623"/>
                </a:solidFill>
                <a:latin typeface="Consolas" pitchFamily="34" charset="0"/>
                <a:ea typeface="Consolas" pitchFamily="34" charset="-122"/>
                <a:cs typeface="Consolas" pitchFamily="34" charset="-120"/>
              </a:rPr>
              <a:t>: "128Mi"</a:t>
            </a:r>
            <a:endParaRPr lang="en-US" sz="880" dirty="0"/>
          </a:p>
        </p:txBody>
      </p:sp>
      <p:sp>
        <p:nvSpPr>
          <p:cNvPr id="29" name="Text 27"/>
          <p:cNvSpPr/>
          <p:nvPr/>
        </p:nvSpPr>
        <p:spPr>
          <a:xfrm>
            <a:off x="292608" y="442604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maxAllowed</a:t>
            </a:r>
            <a:r>
              <a:rPr lang="en-US" sz="880" dirty="0">
                <a:solidFill>
                  <a:srgbClr val="FFFFFF"/>
                </a:solidFill>
                <a:latin typeface="Consolas" pitchFamily="34" charset="0"/>
                <a:ea typeface="Consolas" pitchFamily="34" charset="-122"/>
                <a:cs typeface="Consolas" pitchFamily="34" charset="-120"/>
              </a:rPr>
              <a:t>:</a:t>
            </a:r>
            <a:r>
              <a:rPr lang="en-US" sz="880" dirty="0">
                <a:solidFill>
                  <a:srgbClr val="555577"/>
                </a:solidFill>
                <a:latin typeface="Consolas" pitchFamily="34" charset="0"/>
                <a:ea typeface="Consolas" pitchFamily="34" charset="-122"/>
                <a:cs typeface="Consolas" pitchFamily="34" charset="-120"/>
              </a:rPr>
              <a:t>   # ← ceiling</a:t>
            </a:r>
            <a:endParaRPr lang="en-US" sz="880" dirty="0"/>
          </a:p>
        </p:txBody>
      </p:sp>
      <p:sp>
        <p:nvSpPr>
          <p:cNvPr id="30" name="Text 28"/>
          <p:cNvSpPr/>
          <p:nvPr/>
        </p:nvSpPr>
        <p:spPr>
          <a:xfrm>
            <a:off x="292608" y="463178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cpu</a:t>
            </a:r>
            <a:r>
              <a:rPr lang="en-US" sz="880" dirty="0">
                <a:solidFill>
                  <a:srgbClr val="E06C75"/>
                </a:solidFill>
                <a:latin typeface="Consolas" pitchFamily="34" charset="0"/>
                <a:ea typeface="Consolas" pitchFamily="34" charset="-122"/>
                <a:cs typeface="Consolas" pitchFamily="34" charset="-120"/>
              </a:rPr>
              <a:t>: "1000m"</a:t>
            </a:r>
            <a:endParaRPr lang="en-US" sz="880" dirty="0"/>
          </a:p>
        </p:txBody>
      </p:sp>
      <p:sp>
        <p:nvSpPr>
          <p:cNvPr id="31" name="Text 29"/>
          <p:cNvSpPr/>
          <p:nvPr/>
        </p:nvSpPr>
        <p:spPr>
          <a:xfrm>
            <a:off x="292608" y="4837527"/>
            <a:ext cx="4572000" cy="201168"/>
          </a:xfrm>
          <a:prstGeom prst="rect">
            <a:avLst/>
          </a:prstGeom>
          <a:noFill/>
          <a:ln/>
        </p:spPr>
        <p:txBody>
          <a:bodyPr wrap="square" lIns="0" tIns="0" rIns="0" bIns="0" rtlCol="0" anchor="ctr"/>
          <a:lstStyle/>
          <a:p>
            <a:pPr marL="0" indent="0">
              <a:buNone/>
            </a:pPr>
            <a:r>
              <a:rPr lang="en-US" sz="880" dirty="0">
                <a:solidFill>
                  <a:srgbClr val="98C379"/>
                </a:solidFill>
                <a:latin typeface="Consolas" pitchFamily="34" charset="0"/>
                <a:ea typeface="Consolas" pitchFamily="34" charset="-122"/>
                <a:cs typeface="Consolas" pitchFamily="34" charset="-120"/>
              </a:rPr>
              <a:t>        memory</a:t>
            </a:r>
            <a:r>
              <a:rPr lang="en-US" sz="880" dirty="0">
                <a:solidFill>
                  <a:srgbClr val="E06C75"/>
                </a:solidFill>
                <a:latin typeface="Consolas" pitchFamily="34" charset="0"/>
                <a:ea typeface="Consolas" pitchFamily="34" charset="-122"/>
                <a:cs typeface="Consolas" pitchFamily="34" charset="-120"/>
              </a:rPr>
              <a:t>: "512Mi"</a:t>
            </a:r>
            <a:endParaRPr lang="en-US" sz="880" dirty="0"/>
          </a:p>
        </p:txBody>
      </p:sp>
      <p:sp>
        <p:nvSpPr>
          <p:cNvPr id="32" name="Shape 30"/>
          <p:cNvSpPr/>
          <p:nvPr/>
        </p:nvSpPr>
        <p:spPr>
          <a:xfrm>
            <a:off x="5294376" y="602097"/>
            <a:ext cx="3611880" cy="1298448"/>
          </a:xfrm>
          <a:prstGeom prst="rect">
            <a:avLst/>
          </a:prstGeom>
          <a:solidFill>
            <a:srgbClr val="1A1A1A"/>
          </a:solidFill>
          <a:ln w="19050">
            <a:solidFill>
              <a:srgbClr val="CC0000"/>
            </a:solidFill>
            <a:prstDash val="solid"/>
          </a:ln>
          <a:effectLst>
            <a:outerShdw blurRad="101600" dist="38100" dir="8100000" algn="bl" rotWithShape="0">
              <a:srgbClr val="000000">
                <a:alpha val="25000"/>
              </a:srgbClr>
            </a:outerShdw>
          </a:effectLst>
        </p:spPr>
        <p:txBody>
          <a:bodyPr/>
          <a:lstStyle/>
          <a:p>
            <a:endParaRPr lang="en-US"/>
          </a:p>
        </p:txBody>
      </p:sp>
      <p:sp>
        <p:nvSpPr>
          <p:cNvPr id="33" name="Shape 31"/>
          <p:cNvSpPr/>
          <p:nvPr/>
        </p:nvSpPr>
        <p:spPr>
          <a:xfrm>
            <a:off x="5294376" y="602097"/>
            <a:ext cx="3611880" cy="73152"/>
          </a:xfrm>
          <a:prstGeom prst="rect">
            <a:avLst/>
          </a:prstGeom>
          <a:solidFill>
            <a:srgbClr val="CC0000"/>
          </a:solidFill>
          <a:ln/>
        </p:spPr>
        <p:txBody>
          <a:bodyPr/>
          <a:lstStyle/>
          <a:p>
            <a:endParaRPr lang="en-US"/>
          </a:p>
        </p:txBody>
      </p:sp>
      <p:pic>
        <p:nvPicPr>
          <p:cNvPr id="34" name="Image 0" descr="preencoded.png"/>
          <p:cNvPicPr>
            <a:picLocks noChangeAspect="1"/>
          </p:cNvPicPr>
          <p:nvPr/>
        </p:nvPicPr>
        <p:blipFill>
          <a:blip r:embed="rId3"/>
          <a:stretch>
            <a:fillRect/>
          </a:stretch>
        </p:blipFill>
        <p:spPr>
          <a:xfrm>
            <a:off x="5413248" y="739257"/>
            <a:ext cx="292608" cy="292608"/>
          </a:xfrm>
          <a:prstGeom prst="rect">
            <a:avLst/>
          </a:prstGeom>
        </p:spPr>
      </p:pic>
      <p:sp>
        <p:nvSpPr>
          <p:cNvPr id="35" name="Text 32"/>
          <p:cNvSpPr/>
          <p:nvPr/>
        </p:nvSpPr>
        <p:spPr>
          <a:xfrm>
            <a:off x="5779008" y="730113"/>
            <a:ext cx="3017520"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minAllowed – Resource Floor</a:t>
            </a:r>
            <a:endParaRPr lang="en-US" sz="1050" dirty="0"/>
          </a:p>
        </p:txBody>
      </p:sp>
      <p:sp>
        <p:nvSpPr>
          <p:cNvPr id="36" name="Text 33"/>
          <p:cNvSpPr/>
          <p:nvPr/>
        </p:nvSpPr>
        <p:spPr>
          <a:xfrm>
            <a:off x="5413248" y="1077585"/>
            <a:ext cx="3383280" cy="548640"/>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Prevents VPA from setting resources too low. Ensures minimum viable performance even in off-peak hours. Critical for SLA compliance.</a:t>
            </a:r>
            <a:endParaRPr lang="en-US" sz="900" dirty="0"/>
          </a:p>
        </p:txBody>
      </p:sp>
      <p:sp>
        <p:nvSpPr>
          <p:cNvPr id="37" name="Shape 34"/>
          <p:cNvSpPr/>
          <p:nvPr/>
        </p:nvSpPr>
        <p:spPr>
          <a:xfrm>
            <a:off x="5413248" y="1653657"/>
            <a:ext cx="3383280" cy="182880"/>
          </a:xfrm>
          <a:prstGeom prst="rect">
            <a:avLst/>
          </a:prstGeom>
          <a:solidFill>
            <a:srgbClr val="222222"/>
          </a:solidFill>
          <a:ln/>
        </p:spPr>
        <p:txBody>
          <a:bodyPr/>
          <a:lstStyle/>
          <a:p>
            <a:endParaRPr lang="en-US"/>
          </a:p>
        </p:txBody>
      </p:sp>
      <p:sp>
        <p:nvSpPr>
          <p:cNvPr id="38" name="Text 35"/>
          <p:cNvSpPr/>
          <p:nvPr/>
        </p:nvSpPr>
        <p:spPr>
          <a:xfrm>
            <a:off x="5449824" y="1671945"/>
            <a:ext cx="3291840" cy="146304"/>
          </a:xfrm>
          <a:prstGeom prst="rect">
            <a:avLst/>
          </a:prstGeom>
          <a:noFill/>
          <a:ln/>
        </p:spPr>
        <p:txBody>
          <a:bodyPr wrap="square" lIns="0" tIns="0" rIns="0" bIns="0" rtlCol="0" anchor="ctr"/>
          <a:lstStyle/>
          <a:p>
            <a:pPr marL="0" indent="0">
              <a:buNone/>
            </a:pPr>
            <a:r>
              <a:rPr lang="en-US" sz="800" dirty="0">
                <a:solidFill>
                  <a:srgbClr val="CC0000"/>
                </a:solidFill>
                <a:latin typeface="Consolas" pitchFamily="34" charset="0"/>
                <a:ea typeface="Consolas" pitchFamily="34" charset="-122"/>
                <a:cs typeface="Consolas" pitchFamily="34" charset="-120"/>
              </a:rPr>
              <a:t>cpu: 200m  |  memory: 128Mi</a:t>
            </a:r>
            <a:endParaRPr lang="en-US" sz="800" dirty="0"/>
          </a:p>
        </p:txBody>
      </p:sp>
      <p:sp>
        <p:nvSpPr>
          <p:cNvPr id="39" name="Shape 36"/>
          <p:cNvSpPr/>
          <p:nvPr/>
        </p:nvSpPr>
        <p:spPr>
          <a:xfrm>
            <a:off x="5294376" y="2001129"/>
            <a:ext cx="3611880" cy="1298448"/>
          </a:xfrm>
          <a:prstGeom prst="rect">
            <a:avLst/>
          </a:prstGeom>
          <a:solidFill>
            <a:srgbClr val="1A1A1A"/>
          </a:solidFill>
          <a:ln w="19050">
            <a:solidFill>
              <a:srgbClr val="F5A623"/>
            </a:solidFill>
            <a:prstDash val="solid"/>
          </a:ln>
          <a:effectLst>
            <a:outerShdw blurRad="101600" dist="38100" dir="8100000" algn="bl" rotWithShape="0">
              <a:srgbClr val="000000">
                <a:alpha val="25000"/>
              </a:srgbClr>
            </a:outerShdw>
          </a:effectLst>
        </p:spPr>
        <p:txBody>
          <a:bodyPr/>
          <a:lstStyle/>
          <a:p>
            <a:endParaRPr lang="en-US"/>
          </a:p>
        </p:txBody>
      </p:sp>
      <p:sp>
        <p:nvSpPr>
          <p:cNvPr id="40" name="Shape 37"/>
          <p:cNvSpPr/>
          <p:nvPr/>
        </p:nvSpPr>
        <p:spPr>
          <a:xfrm>
            <a:off x="5294376" y="2001129"/>
            <a:ext cx="3611880" cy="73152"/>
          </a:xfrm>
          <a:prstGeom prst="rect">
            <a:avLst/>
          </a:prstGeom>
          <a:solidFill>
            <a:srgbClr val="F5A623"/>
          </a:solidFill>
          <a:ln/>
        </p:spPr>
        <p:txBody>
          <a:bodyPr/>
          <a:lstStyle/>
          <a:p>
            <a:endParaRPr lang="en-US"/>
          </a:p>
        </p:txBody>
      </p:sp>
      <p:pic>
        <p:nvPicPr>
          <p:cNvPr id="41" name="Image 1" descr="preencoded.png"/>
          <p:cNvPicPr>
            <a:picLocks noChangeAspect="1"/>
          </p:cNvPicPr>
          <p:nvPr/>
        </p:nvPicPr>
        <p:blipFill>
          <a:blip r:embed="rId4"/>
          <a:stretch>
            <a:fillRect/>
          </a:stretch>
        </p:blipFill>
        <p:spPr>
          <a:xfrm>
            <a:off x="5413248" y="2138289"/>
            <a:ext cx="292608" cy="292608"/>
          </a:xfrm>
          <a:prstGeom prst="rect">
            <a:avLst/>
          </a:prstGeom>
        </p:spPr>
      </p:pic>
      <p:sp>
        <p:nvSpPr>
          <p:cNvPr id="42" name="Text 38"/>
          <p:cNvSpPr/>
          <p:nvPr/>
        </p:nvSpPr>
        <p:spPr>
          <a:xfrm>
            <a:off x="5779008" y="2129145"/>
            <a:ext cx="3017520"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maxAllowed – Resource Ceiling</a:t>
            </a:r>
            <a:endParaRPr lang="en-US" sz="1050" dirty="0"/>
          </a:p>
        </p:txBody>
      </p:sp>
      <p:sp>
        <p:nvSpPr>
          <p:cNvPr id="43" name="Text 39"/>
          <p:cNvSpPr/>
          <p:nvPr/>
        </p:nvSpPr>
        <p:spPr>
          <a:xfrm>
            <a:off x="5413248" y="2476617"/>
            <a:ext cx="3383280" cy="548640"/>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Caps maximum allocation to prevent runaway usage. Protects node capacity and enforces cost budgets. Essential for multi-tenant clusters.</a:t>
            </a:r>
            <a:endParaRPr lang="en-US" sz="900" dirty="0"/>
          </a:p>
        </p:txBody>
      </p:sp>
      <p:sp>
        <p:nvSpPr>
          <p:cNvPr id="44" name="Shape 40"/>
          <p:cNvSpPr/>
          <p:nvPr/>
        </p:nvSpPr>
        <p:spPr>
          <a:xfrm>
            <a:off x="5413248" y="3052689"/>
            <a:ext cx="3383280" cy="182880"/>
          </a:xfrm>
          <a:prstGeom prst="rect">
            <a:avLst/>
          </a:prstGeom>
          <a:solidFill>
            <a:srgbClr val="222222"/>
          </a:solidFill>
          <a:ln/>
        </p:spPr>
        <p:txBody>
          <a:bodyPr/>
          <a:lstStyle/>
          <a:p>
            <a:endParaRPr lang="en-US"/>
          </a:p>
        </p:txBody>
      </p:sp>
      <p:sp>
        <p:nvSpPr>
          <p:cNvPr id="45" name="Text 41"/>
          <p:cNvSpPr/>
          <p:nvPr/>
        </p:nvSpPr>
        <p:spPr>
          <a:xfrm>
            <a:off x="5449824" y="3070977"/>
            <a:ext cx="3291840" cy="146304"/>
          </a:xfrm>
          <a:prstGeom prst="rect">
            <a:avLst/>
          </a:prstGeom>
          <a:noFill/>
          <a:ln/>
        </p:spPr>
        <p:txBody>
          <a:bodyPr wrap="square" lIns="0" tIns="0" rIns="0" bIns="0" rtlCol="0" anchor="ctr"/>
          <a:lstStyle/>
          <a:p>
            <a:pPr marL="0" indent="0">
              <a:buNone/>
            </a:pPr>
            <a:r>
              <a:rPr lang="en-US" sz="800" dirty="0">
                <a:solidFill>
                  <a:srgbClr val="F5A623"/>
                </a:solidFill>
                <a:latin typeface="Consolas" pitchFamily="34" charset="0"/>
                <a:ea typeface="Consolas" pitchFamily="34" charset="-122"/>
                <a:cs typeface="Consolas" pitchFamily="34" charset="-120"/>
              </a:rPr>
              <a:t>cpu: 1000m  |  memory: 512Mi</a:t>
            </a:r>
            <a:endParaRPr lang="en-US" sz="800" dirty="0"/>
          </a:p>
        </p:txBody>
      </p:sp>
      <p:sp>
        <p:nvSpPr>
          <p:cNvPr id="46" name="Shape 42"/>
          <p:cNvSpPr/>
          <p:nvPr/>
        </p:nvSpPr>
        <p:spPr>
          <a:xfrm>
            <a:off x="5294376" y="3400161"/>
            <a:ext cx="3611880" cy="1298448"/>
          </a:xfrm>
          <a:prstGeom prst="rect">
            <a:avLst/>
          </a:prstGeom>
          <a:solidFill>
            <a:srgbClr val="1A1A1A"/>
          </a:solidFill>
          <a:ln w="19050">
            <a:solidFill>
              <a:srgbClr val="2E7D32"/>
            </a:solidFill>
            <a:prstDash val="solid"/>
          </a:ln>
          <a:effectLst>
            <a:outerShdw blurRad="101600" dist="38100" dir="8100000" algn="bl" rotWithShape="0">
              <a:srgbClr val="000000">
                <a:alpha val="25000"/>
              </a:srgbClr>
            </a:outerShdw>
          </a:effectLst>
        </p:spPr>
        <p:txBody>
          <a:bodyPr/>
          <a:lstStyle/>
          <a:p>
            <a:endParaRPr lang="en-US"/>
          </a:p>
        </p:txBody>
      </p:sp>
      <p:sp>
        <p:nvSpPr>
          <p:cNvPr id="47" name="Shape 43"/>
          <p:cNvSpPr/>
          <p:nvPr/>
        </p:nvSpPr>
        <p:spPr>
          <a:xfrm>
            <a:off x="5294376" y="3400161"/>
            <a:ext cx="3611880" cy="73152"/>
          </a:xfrm>
          <a:prstGeom prst="rect">
            <a:avLst/>
          </a:prstGeom>
          <a:solidFill>
            <a:srgbClr val="2E7D32"/>
          </a:solidFill>
          <a:ln/>
        </p:spPr>
        <p:txBody>
          <a:bodyPr/>
          <a:lstStyle/>
          <a:p>
            <a:endParaRPr lang="en-US"/>
          </a:p>
        </p:txBody>
      </p:sp>
      <p:pic>
        <p:nvPicPr>
          <p:cNvPr id="48" name="Image 2" descr="preencoded.png"/>
          <p:cNvPicPr>
            <a:picLocks noChangeAspect="1"/>
          </p:cNvPicPr>
          <p:nvPr/>
        </p:nvPicPr>
        <p:blipFill>
          <a:blip r:embed="rId5"/>
          <a:stretch>
            <a:fillRect/>
          </a:stretch>
        </p:blipFill>
        <p:spPr>
          <a:xfrm>
            <a:off x="5413248" y="3537321"/>
            <a:ext cx="292608" cy="292608"/>
          </a:xfrm>
          <a:prstGeom prst="rect">
            <a:avLst/>
          </a:prstGeom>
        </p:spPr>
      </p:pic>
      <p:sp>
        <p:nvSpPr>
          <p:cNvPr id="49" name="Text 44"/>
          <p:cNvSpPr/>
          <p:nvPr/>
        </p:nvSpPr>
        <p:spPr>
          <a:xfrm>
            <a:off x="5779008" y="3528177"/>
            <a:ext cx="3017520"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Enterprise Governance</a:t>
            </a:r>
            <a:endParaRPr lang="en-US" sz="1050" dirty="0"/>
          </a:p>
        </p:txBody>
      </p:sp>
      <p:sp>
        <p:nvSpPr>
          <p:cNvPr id="50" name="Text 45"/>
          <p:cNvSpPr/>
          <p:nvPr/>
        </p:nvSpPr>
        <p:spPr>
          <a:xfrm>
            <a:off x="5413248" y="3875649"/>
            <a:ext cx="3383280" cy="548640"/>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Combine min/max bounds with namespace LimitRanges and ResourceQuotas for full policy compliance across teams and environments.</a:t>
            </a:r>
            <a:endParaRPr lang="en-US" sz="900" dirty="0"/>
          </a:p>
        </p:txBody>
      </p:sp>
      <p:sp>
        <p:nvSpPr>
          <p:cNvPr id="51" name="Shape 46"/>
          <p:cNvSpPr/>
          <p:nvPr/>
        </p:nvSpPr>
        <p:spPr>
          <a:xfrm>
            <a:off x="5413248" y="4451721"/>
            <a:ext cx="3383280" cy="182880"/>
          </a:xfrm>
          <a:prstGeom prst="rect">
            <a:avLst/>
          </a:prstGeom>
          <a:solidFill>
            <a:srgbClr val="222222"/>
          </a:solidFill>
          <a:ln/>
        </p:spPr>
        <p:txBody>
          <a:bodyPr/>
          <a:lstStyle/>
          <a:p>
            <a:endParaRPr lang="en-US"/>
          </a:p>
        </p:txBody>
      </p:sp>
      <p:sp>
        <p:nvSpPr>
          <p:cNvPr id="52" name="Text 47"/>
          <p:cNvSpPr/>
          <p:nvPr/>
        </p:nvSpPr>
        <p:spPr>
          <a:xfrm>
            <a:off x="5449824" y="4470009"/>
            <a:ext cx="3291840" cy="146304"/>
          </a:xfrm>
          <a:prstGeom prst="rect">
            <a:avLst/>
          </a:prstGeom>
          <a:noFill/>
          <a:ln/>
        </p:spPr>
        <p:txBody>
          <a:bodyPr wrap="square" lIns="0" tIns="0" rIns="0" bIns="0" rtlCol="0" anchor="ctr"/>
          <a:lstStyle/>
          <a:p>
            <a:pPr marL="0" indent="0">
              <a:buNone/>
            </a:pPr>
            <a:r>
              <a:rPr lang="en-US" sz="800" dirty="0">
                <a:solidFill>
                  <a:srgbClr val="2E7D32"/>
                </a:solidFill>
                <a:latin typeface="Consolas" pitchFamily="34" charset="0"/>
                <a:ea typeface="Consolas" pitchFamily="34" charset="-122"/>
                <a:cs typeface="Consolas" pitchFamily="34" charset="-120"/>
              </a:rPr>
              <a:t>LimitRange + ResourceQuota + VPA = Full Control</a:t>
            </a:r>
            <a:endParaRPr lang="en-US" sz="800" dirty="0"/>
          </a:p>
        </p:txBody>
      </p:sp>
      <p:sp>
        <p:nvSpPr>
          <p:cNvPr id="53" name="Shape 48"/>
          <p:cNvSpPr/>
          <p:nvPr/>
        </p:nvSpPr>
        <p:spPr>
          <a:xfrm>
            <a:off x="5294376" y="4771761"/>
            <a:ext cx="3611880" cy="109728"/>
          </a:xfrm>
          <a:prstGeom prst="rect">
            <a:avLst/>
          </a:prstGeom>
          <a:solidFill>
            <a:srgbClr val="252525"/>
          </a:solidFill>
          <a:ln/>
        </p:spPr>
        <p:txBody>
          <a:bodyPr/>
          <a:lstStyle/>
          <a:p>
            <a:endParaRPr lang="en-US"/>
          </a:p>
        </p:txBody>
      </p:sp>
      <p:sp>
        <p:nvSpPr>
          <p:cNvPr id="54" name="Shape 49"/>
          <p:cNvSpPr/>
          <p:nvPr/>
        </p:nvSpPr>
        <p:spPr>
          <a:xfrm>
            <a:off x="5294376" y="4771761"/>
            <a:ext cx="3611880" cy="109728"/>
          </a:xfrm>
          <a:prstGeom prst="rect">
            <a:avLst/>
          </a:prstGeom>
          <a:solidFill>
            <a:srgbClr val="333333"/>
          </a:solidFill>
          <a:ln/>
        </p:spPr>
        <p:txBody>
          <a:bodyPr/>
          <a:lstStyle/>
          <a:p>
            <a:endParaRPr lang="en-US"/>
          </a:p>
        </p:txBody>
      </p:sp>
      <p:sp>
        <p:nvSpPr>
          <p:cNvPr id="55" name="Shape 50"/>
          <p:cNvSpPr/>
          <p:nvPr/>
        </p:nvSpPr>
        <p:spPr>
          <a:xfrm>
            <a:off x="5522976" y="4771761"/>
            <a:ext cx="685800" cy="109728"/>
          </a:xfrm>
          <a:prstGeom prst="rect">
            <a:avLst/>
          </a:prstGeom>
          <a:solidFill>
            <a:srgbClr val="CC0000"/>
          </a:solidFill>
          <a:ln/>
        </p:spPr>
        <p:txBody>
          <a:bodyPr/>
          <a:lstStyle/>
          <a:p>
            <a:endParaRPr lang="en-US"/>
          </a:p>
        </p:txBody>
      </p:sp>
      <p:sp>
        <p:nvSpPr>
          <p:cNvPr id="56" name="Shape 51"/>
          <p:cNvSpPr/>
          <p:nvPr/>
        </p:nvSpPr>
        <p:spPr>
          <a:xfrm>
            <a:off x="6208776" y="4771761"/>
            <a:ext cx="1828800" cy="109728"/>
          </a:xfrm>
          <a:prstGeom prst="rect">
            <a:avLst/>
          </a:prstGeom>
          <a:solidFill>
            <a:srgbClr val="2E7D32"/>
          </a:solidFill>
          <a:ln/>
        </p:spPr>
        <p:txBody>
          <a:bodyPr/>
          <a:lstStyle/>
          <a:p>
            <a:endParaRPr lang="en-US"/>
          </a:p>
        </p:txBody>
      </p:sp>
      <p:sp>
        <p:nvSpPr>
          <p:cNvPr id="57" name="Shape 52"/>
          <p:cNvSpPr/>
          <p:nvPr/>
        </p:nvSpPr>
        <p:spPr>
          <a:xfrm>
            <a:off x="8037576" y="4771761"/>
            <a:ext cx="640080" cy="109728"/>
          </a:xfrm>
          <a:prstGeom prst="rect">
            <a:avLst/>
          </a:prstGeom>
          <a:solidFill>
            <a:srgbClr val="F5A623"/>
          </a:solidFill>
          <a:ln/>
        </p:spPr>
        <p:txBody>
          <a:bodyPr/>
          <a:lstStyle/>
          <a:p>
            <a:endParaRPr lang="en-US"/>
          </a:p>
        </p:txBody>
      </p:sp>
      <p:sp>
        <p:nvSpPr>
          <p:cNvPr id="58" name="Text 53"/>
          <p:cNvSpPr/>
          <p:nvPr/>
        </p:nvSpPr>
        <p:spPr>
          <a:xfrm>
            <a:off x="5413248" y="4881489"/>
            <a:ext cx="731520" cy="137160"/>
          </a:xfrm>
          <a:prstGeom prst="rect">
            <a:avLst/>
          </a:prstGeom>
          <a:noFill/>
          <a:ln/>
        </p:spPr>
        <p:txBody>
          <a:bodyPr wrap="square" lIns="0" tIns="0" rIns="0" bIns="0" rtlCol="0" anchor="ctr"/>
          <a:lstStyle/>
          <a:p>
            <a:pPr marL="0" indent="0">
              <a:buNone/>
            </a:pPr>
            <a:r>
              <a:rPr lang="en-US" sz="750" dirty="0">
                <a:solidFill>
                  <a:srgbClr val="CC0000"/>
                </a:solidFill>
                <a:latin typeface="Consolas" pitchFamily="34" charset="0"/>
                <a:ea typeface="Consolas" pitchFamily="34" charset="-122"/>
                <a:cs typeface="Consolas" pitchFamily="34" charset="-120"/>
              </a:rPr>
              <a:t>200m</a:t>
            </a:r>
            <a:endParaRPr lang="en-US" sz="750" dirty="0"/>
          </a:p>
        </p:txBody>
      </p:sp>
      <p:sp>
        <p:nvSpPr>
          <p:cNvPr id="59" name="Text 54"/>
          <p:cNvSpPr/>
          <p:nvPr/>
        </p:nvSpPr>
        <p:spPr>
          <a:xfrm>
            <a:off x="6254496" y="4881489"/>
            <a:ext cx="1828800" cy="137160"/>
          </a:xfrm>
          <a:prstGeom prst="rect">
            <a:avLst/>
          </a:prstGeom>
          <a:noFill/>
          <a:ln/>
        </p:spPr>
        <p:txBody>
          <a:bodyPr wrap="square" lIns="0" tIns="0" rIns="0" bIns="0" rtlCol="0" anchor="ctr"/>
          <a:lstStyle/>
          <a:p>
            <a:pPr marL="0" indent="0" algn="ctr">
              <a:buNone/>
            </a:pPr>
            <a:r>
              <a:rPr lang="en-US" sz="750" dirty="0">
                <a:solidFill>
                  <a:srgbClr val="4CAF50"/>
                </a:solidFill>
                <a:latin typeface="Calibri" pitchFamily="34" charset="0"/>
                <a:ea typeface="Calibri" pitchFamily="34" charset="-122"/>
                <a:cs typeface="Calibri" pitchFamily="34" charset="-120"/>
              </a:rPr>
              <a:t>← VPA safe zone →</a:t>
            </a:r>
            <a:endParaRPr lang="en-US" sz="750" dirty="0"/>
          </a:p>
        </p:txBody>
      </p:sp>
      <p:sp>
        <p:nvSpPr>
          <p:cNvPr id="60" name="Text 55"/>
          <p:cNvSpPr/>
          <p:nvPr/>
        </p:nvSpPr>
        <p:spPr>
          <a:xfrm>
            <a:off x="8010144" y="4881489"/>
            <a:ext cx="822960" cy="137160"/>
          </a:xfrm>
          <a:prstGeom prst="rect">
            <a:avLst/>
          </a:prstGeom>
          <a:noFill/>
          <a:ln/>
        </p:spPr>
        <p:txBody>
          <a:bodyPr wrap="square" lIns="0" tIns="0" rIns="0" bIns="0" rtlCol="0" anchor="ctr"/>
          <a:lstStyle/>
          <a:p>
            <a:pPr marL="0" indent="0">
              <a:buNone/>
            </a:pPr>
            <a:r>
              <a:rPr lang="en-US" sz="750" dirty="0">
                <a:solidFill>
                  <a:srgbClr val="F5A623"/>
                </a:solidFill>
                <a:latin typeface="Consolas" pitchFamily="34" charset="0"/>
                <a:ea typeface="Consolas" pitchFamily="34" charset="-122"/>
                <a:cs typeface="Consolas" pitchFamily="34" charset="-120"/>
              </a:rPr>
              <a:t>1000m</a:t>
            </a:r>
            <a:endParaRPr lang="en-US" sz="750" dirty="0"/>
          </a:p>
        </p:txBody>
      </p:sp>
      <p:sp>
        <p:nvSpPr>
          <p:cNvPr id="61" name="Shape 31">
            <a:extLst>
              <a:ext uri="{FF2B5EF4-FFF2-40B4-BE49-F238E27FC236}">
                <a16:creationId xmlns:a16="http://schemas.microsoft.com/office/drawing/2014/main" id="{D145FAF1-3492-2E90-2269-D1DCFA637213}"/>
              </a:ext>
            </a:extLst>
          </p:cNvPr>
          <p:cNvSpPr/>
          <p:nvPr/>
        </p:nvSpPr>
        <p:spPr>
          <a:xfrm>
            <a:off x="5294376" y="595063"/>
            <a:ext cx="3611880" cy="73152"/>
          </a:xfrm>
          <a:prstGeom prst="rect">
            <a:avLst/>
          </a:prstGeom>
          <a:solidFill>
            <a:srgbClr val="CC0000"/>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E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11111"/>
          </a:solidFill>
          <a:ln/>
        </p:spPr>
        <p:txBody>
          <a:bodyPr/>
          <a:lstStyle/>
          <a:p>
            <a:endParaRPr lang="en-US"/>
          </a:p>
        </p:txBody>
      </p:sp>
      <p:sp>
        <p:nvSpPr>
          <p:cNvPr id="3" name="Shape 1"/>
          <p:cNvSpPr/>
          <p:nvPr/>
        </p:nvSpPr>
        <p:spPr>
          <a:xfrm>
            <a:off x="0" y="0"/>
            <a:ext cx="9144000" cy="54864"/>
          </a:xfrm>
          <a:prstGeom prst="rect">
            <a:avLst/>
          </a:prstGeom>
          <a:solidFill>
            <a:srgbClr val="CC0000"/>
          </a:solidFill>
          <a:ln/>
        </p:spPr>
        <p:txBody>
          <a:bodyPr/>
          <a:lstStyle/>
          <a:p>
            <a:endParaRPr lang="en-US"/>
          </a:p>
        </p:txBody>
      </p:sp>
      <p:sp>
        <p:nvSpPr>
          <p:cNvPr id="4" name="Text 2"/>
          <p:cNvSpPr/>
          <p:nvPr/>
        </p:nvSpPr>
        <p:spPr>
          <a:xfrm>
            <a:off x="274320" y="109728"/>
            <a:ext cx="7772400" cy="384048"/>
          </a:xfrm>
          <a:prstGeom prst="rect">
            <a:avLst/>
          </a:prstGeom>
          <a:noFill/>
          <a:ln/>
        </p:spPr>
        <p:txBody>
          <a:bodyPr wrap="square" lIns="0" tIns="0" rIns="0" bIns="0" rtlCol="0" anchor="ctr"/>
          <a:lstStyle/>
          <a:p>
            <a:pPr marL="0" indent="0">
              <a:buNone/>
            </a:pPr>
            <a:r>
              <a:rPr lang="en-US" sz="1800" b="1" kern="0" spc="200" dirty="0">
                <a:solidFill>
                  <a:srgbClr val="FFFFFF"/>
                </a:solidFill>
                <a:latin typeface="Calibri" pitchFamily="34" charset="0"/>
                <a:ea typeface="Calibri" pitchFamily="34" charset="-122"/>
                <a:cs typeface="Calibri" pitchFamily="34" charset="-120"/>
              </a:rPr>
              <a:t>STEP-BY-STEP DEMO</a:t>
            </a:r>
            <a:endParaRPr lang="en-US" sz="1800" dirty="0"/>
          </a:p>
        </p:txBody>
      </p:sp>
      <p:sp>
        <p:nvSpPr>
          <p:cNvPr id="5" name="Text 3"/>
          <p:cNvSpPr/>
          <p:nvPr/>
        </p:nvSpPr>
        <p:spPr>
          <a:xfrm>
            <a:off x="8321040" y="109728"/>
            <a:ext cx="640080" cy="384048"/>
          </a:xfrm>
          <a:prstGeom prst="rect">
            <a:avLst/>
          </a:prstGeom>
          <a:noFill/>
          <a:ln/>
        </p:spPr>
        <p:txBody>
          <a:bodyPr wrap="square" lIns="0" tIns="0" rIns="0" bIns="0" rtlCol="0" anchor="ctr"/>
          <a:lstStyle/>
          <a:p>
            <a:pPr marL="0" indent="0">
              <a:buNone/>
            </a:pPr>
            <a:r>
              <a:rPr lang="en-US" sz="2200" b="1" dirty="0">
                <a:solidFill>
                  <a:srgbClr val="CC0000"/>
                </a:solidFill>
                <a:latin typeface="Calibri" pitchFamily="34" charset="0"/>
                <a:ea typeface="Calibri" pitchFamily="34" charset="-122"/>
                <a:cs typeface="Calibri" pitchFamily="34" charset="-120"/>
              </a:rPr>
              <a:t>07</a:t>
            </a:r>
            <a:endParaRPr lang="en-US" sz="2200" dirty="0"/>
          </a:p>
        </p:txBody>
      </p:sp>
      <p:sp>
        <p:nvSpPr>
          <p:cNvPr id="6" name="Shape 4"/>
          <p:cNvSpPr/>
          <p:nvPr/>
        </p:nvSpPr>
        <p:spPr>
          <a:xfrm>
            <a:off x="274320" y="713232"/>
            <a:ext cx="1371600" cy="1371600"/>
          </a:xfrm>
          <a:prstGeom prst="ellipse">
            <a:avLst/>
          </a:prstGeom>
          <a:solidFill>
            <a:srgbClr val="1565C0"/>
          </a:solidFill>
          <a:ln/>
          <a:effectLst>
            <a:outerShdw blurRad="101600" dist="38100" dir="8100000" algn="bl" rotWithShape="0">
              <a:srgbClr val="000000">
                <a:alpha val="25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621792" y="886968"/>
            <a:ext cx="658368" cy="658368"/>
          </a:xfrm>
          <a:prstGeom prst="rect">
            <a:avLst/>
          </a:prstGeom>
        </p:spPr>
      </p:pic>
      <p:sp>
        <p:nvSpPr>
          <p:cNvPr id="8" name="Text 5"/>
          <p:cNvSpPr/>
          <p:nvPr/>
        </p:nvSpPr>
        <p:spPr>
          <a:xfrm>
            <a:off x="274320" y="713232"/>
            <a:ext cx="347472" cy="274320"/>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01</a:t>
            </a:r>
            <a:endParaRPr lang="en-US" sz="800" dirty="0"/>
          </a:p>
        </p:txBody>
      </p:sp>
      <p:sp>
        <p:nvSpPr>
          <p:cNvPr id="9" name="Text 6"/>
          <p:cNvSpPr/>
          <p:nvPr/>
        </p:nvSpPr>
        <p:spPr>
          <a:xfrm>
            <a:off x="182880" y="2148840"/>
            <a:ext cx="155448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Deploy</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Workload</a:t>
            </a:r>
            <a:endParaRPr lang="en-US" sz="950" dirty="0"/>
          </a:p>
        </p:txBody>
      </p:sp>
      <p:pic>
        <p:nvPicPr>
          <p:cNvPr id="10" name="Image 1" descr="preencoded.png"/>
          <p:cNvPicPr>
            <a:picLocks noChangeAspect="1"/>
          </p:cNvPicPr>
          <p:nvPr/>
        </p:nvPicPr>
        <p:blipFill>
          <a:blip r:embed="rId4"/>
          <a:stretch>
            <a:fillRect/>
          </a:stretch>
        </p:blipFill>
        <p:spPr>
          <a:xfrm>
            <a:off x="1691640" y="1216152"/>
            <a:ext cx="274320" cy="274320"/>
          </a:xfrm>
          <a:prstGeom prst="rect">
            <a:avLst/>
          </a:prstGeom>
        </p:spPr>
      </p:pic>
      <p:sp>
        <p:nvSpPr>
          <p:cNvPr id="11" name="Shape 7"/>
          <p:cNvSpPr/>
          <p:nvPr/>
        </p:nvSpPr>
        <p:spPr>
          <a:xfrm>
            <a:off x="2057400" y="713232"/>
            <a:ext cx="1371600" cy="1371600"/>
          </a:xfrm>
          <a:prstGeom prst="ellipse">
            <a:avLst/>
          </a:prstGeom>
          <a:solidFill>
            <a:srgbClr val="CC0000"/>
          </a:solidFill>
          <a:ln/>
          <a:effectLst>
            <a:outerShdw blurRad="101600" dist="38100" dir="8100000" algn="bl" rotWithShape="0">
              <a:srgbClr val="000000">
                <a:alpha val="25000"/>
              </a:srgbClr>
            </a:outerShdw>
          </a:effectLst>
        </p:spPr>
        <p:txBody>
          <a:bodyPr/>
          <a:lstStyle/>
          <a:p>
            <a:endParaRPr lang="en-US"/>
          </a:p>
        </p:txBody>
      </p:sp>
      <p:pic>
        <p:nvPicPr>
          <p:cNvPr id="12" name="Image 2" descr="preencoded.png"/>
          <p:cNvPicPr>
            <a:picLocks noChangeAspect="1"/>
          </p:cNvPicPr>
          <p:nvPr/>
        </p:nvPicPr>
        <p:blipFill>
          <a:blip r:embed="rId5"/>
          <a:stretch>
            <a:fillRect/>
          </a:stretch>
        </p:blipFill>
        <p:spPr>
          <a:xfrm>
            <a:off x="2404872" y="886968"/>
            <a:ext cx="658368" cy="658368"/>
          </a:xfrm>
          <a:prstGeom prst="rect">
            <a:avLst/>
          </a:prstGeom>
        </p:spPr>
      </p:pic>
      <p:sp>
        <p:nvSpPr>
          <p:cNvPr id="13" name="Text 8"/>
          <p:cNvSpPr/>
          <p:nvPr/>
        </p:nvSpPr>
        <p:spPr>
          <a:xfrm>
            <a:off x="2057400" y="713232"/>
            <a:ext cx="347472" cy="274320"/>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02</a:t>
            </a:r>
            <a:endParaRPr lang="en-US" sz="800" dirty="0"/>
          </a:p>
        </p:txBody>
      </p:sp>
      <p:sp>
        <p:nvSpPr>
          <p:cNvPr id="14" name="Text 9"/>
          <p:cNvSpPr/>
          <p:nvPr/>
        </p:nvSpPr>
        <p:spPr>
          <a:xfrm>
            <a:off x="1965960" y="2148840"/>
            <a:ext cx="155448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Generate</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Load</a:t>
            </a:r>
            <a:endParaRPr lang="en-US" sz="950" dirty="0"/>
          </a:p>
        </p:txBody>
      </p:sp>
      <p:pic>
        <p:nvPicPr>
          <p:cNvPr id="15" name="Image 3" descr="preencoded.png"/>
          <p:cNvPicPr>
            <a:picLocks noChangeAspect="1"/>
          </p:cNvPicPr>
          <p:nvPr/>
        </p:nvPicPr>
        <p:blipFill>
          <a:blip r:embed="rId4"/>
          <a:stretch>
            <a:fillRect/>
          </a:stretch>
        </p:blipFill>
        <p:spPr>
          <a:xfrm>
            <a:off x="3474720" y="1216152"/>
            <a:ext cx="274320" cy="274320"/>
          </a:xfrm>
          <a:prstGeom prst="rect">
            <a:avLst/>
          </a:prstGeom>
        </p:spPr>
      </p:pic>
      <p:sp>
        <p:nvSpPr>
          <p:cNvPr id="16" name="Shape 10"/>
          <p:cNvSpPr/>
          <p:nvPr/>
        </p:nvSpPr>
        <p:spPr>
          <a:xfrm>
            <a:off x="3840480" y="713232"/>
            <a:ext cx="1371600" cy="1371600"/>
          </a:xfrm>
          <a:prstGeom prst="ellipse">
            <a:avLst/>
          </a:prstGeom>
          <a:solidFill>
            <a:srgbClr val="6A1B9A"/>
          </a:solidFill>
          <a:ln/>
          <a:effectLst>
            <a:outerShdw blurRad="101600" dist="38100" dir="8100000" algn="bl" rotWithShape="0">
              <a:srgbClr val="000000">
                <a:alpha val="25000"/>
              </a:srgbClr>
            </a:outerShdw>
          </a:effectLst>
        </p:spPr>
        <p:txBody>
          <a:bodyPr/>
          <a:lstStyle/>
          <a:p>
            <a:endParaRPr lang="en-US"/>
          </a:p>
        </p:txBody>
      </p:sp>
      <p:pic>
        <p:nvPicPr>
          <p:cNvPr id="17" name="Image 4" descr="preencoded.png"/>
          <p:cNvPicPr>
            <a:picLocks noChangeAspect="1"/>
          </p:cNvPicPr>
          <p:nvPr/>
        </p:nvPicPr>
        <p:blipFill>
          <a:blip r:embed="rId6"/>
          <a:stretch>
            <a:fillRect/>
          </a:stretch>
        </p:blipFill>
        <p:spPr>
          <a:xfrm>
            <a:off x="4187952" y="886968"/>
            <a:ext cx="658368" cy="658368"/>
          </a:xfrm>
          <a:prstGeom prst="rect">
            <a:avLst/>
          </a:prstGeom>
        </p:spPr>
      </p:pic>
      <p:sp>
        <p:nvSpPr>
          <p:cNvPr id="18" name="Text 11"/>
          <p:cNvSpPr/>
          <p:nvPr/>
        </p:nvSpPr>
        <p:spPr>
          <a:xfrm>
            <a:off x="3840480" y="713232"/>
            <a:ext cx="347472" cy="274320"/>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03</a:t>
            </a:r>
            <a:endParaRPr lang="en-US" sz="800" dirty="0"/>
          </a:p>
        </p:txBody>
      </p:sp>
      <p:sp>
        <p:nvSpPr>
          <p:cNvPr id="19" name="Text 12"/>
          <p:cNvSpPr/>
          <p:nvPr/>
        </p:nvSpPr>
        <p:spPr>
          <a:xfrm>
            <a:off x="3749040" y="2148840"/>
            <a:ext cx="155448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VPA</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Recommends</a:t>
            </a:r>
            <a:endParaRPr lang="en-US" sz="950" dirty="0"/>
          </a:p>
        </p:txBody>
      </p:sp>
      <p:pic>
        <p:nvPicPr>
          <p:cNvPr id="20" name="Image 5" descr="preencoded.png"/>
          <p:cNvPicPr>
            <a:picLocks noChangeAspect="1"/>
          </p:cNvPicPr>
          <p:nvPr/>
        </p:nvPicPr>
        <p:blipFill>
          <a:blip r:embed="rId4"/>
          <a:stretch>
            <a:fillRect/>
          </a:stretch>
        </p:blipFill>
        <p:spPr>
          <a:xfrm>
            <a:off x="5257800" y="1216152"/>
            <a:ext cx="274320" cy="274320"/>
          </a:xfrm>
          <a:prstGeom prst="rect">
            <a:avLst/>
          </a:prstGeom>
        </p:spPr>
      </p:pic>
      <p:sp>
        <p:nvSpPr>
          <p:cNvPr id="21" name="Shape 13"/>
          <p:cNvSpPr/>
          <p:nvPr/>
        </p:nvSpPr>
        <p:spPr>
          <a:xfrm>
            <a:off x="5623560" y="713232"/>
            <a:ext cx="1371600" cy="1371600"/>
          </a:xfrm>
          <a:prstGeom prst="ellipse">
            <a:avLst/>
          </a:prstGeom>
          <a:solidFill>
            <a:srgbClr val="2E7D32"/>
          </a:solidFill>
          <a:ln/>
          <a:effectLst>
            <a:outerShdw blurRad="101600" dist="38100" dir="8100000" algn="bl" rotWithShape="0">
              <a:srgbClr val="000000">
                <a:alpha val="25000"/>
              </a:srgbClr>
            </a:outerShdw>
          </a:effectLst>
        </p:spPr>
        <p:txBody>
          <a:bodyPr/>
          <a:lstStyle/>
          <a:p>
            <a:endParaRPr lang="en-US"/>
          </a:p>
        </p:txBody>
      </p:sp>
      <p:pic>
        <p:nvPicPr>
          <p:cNvPr id="22" name="Image 6" descr="preencoded.png"/>
          <p:cNvPicPr>
            <a:picLocks noChangeAspect="1"/>
          </p:cNvPicPr>
          <p:nvPr/>
        </p:nvPicPr>
        <p:blipFill>
          <a:blip r:embed="rId7"/>
          <a:stretch>
            <a:fillRect/>
          </a:stretch>
        </p:blipFill>
        <p:spPr>
          <a:xfrm>
            <a:off x="5971032" y="886968"/>
            <a:ext cx="658368" cy="658368"/>
          </a:xfrm>
          <a:prstGeom prst="rect">
            <a:avLst/>
          </a:prstGeom>
        </p:spPr>
      </p:pic>
      <p:sp>
        <p:nvSpPr>
          <p:cNvPr id="23" name="Text 14"/>
          <p:cNvSpPr/>
          <p:nvPr/>
        </p:nvSpPr>
        <p:spPr>
          <a:xfrm>
            <a:off x="5623560" y="713232"/>
            <a:ext cx="347472" cy="274320"/>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04</a:t>
            </a:r>
            <a:endParaRPr lang="en-US" sz="800" dirty="0"/>
          </a:p>
        </p:txBody>
      </p:sp>
      <p:sp>
        <p:nvSpPr>
          <p:cNvPr id="24" name="Text 15"/>
          <p:cNvSpPr/>
          <p:nvPr/>
        </p:nvSpPr>
        <p:spPr>
          <a:xfrm>
            <a:off x="5532120" y="2148840"/>
            <a:ext cx="155448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Pod</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Restart</a:t>
            </a:r>
            <a:endParaRPr lang="en-US" sz="950" dirty="0"/>
          </a:p>
        </p:txBody>
      </p:sp>
      <p:pic>
        <p:nvPicPr>
          <p:cNvPr id="25" name="Image 7" descr="preencoded.png"/>
          <p:cNvPicPr>
            <a:picLocks noChangeAspect="1"/>
          </p:cNvPicPr>
          <p:nvPr/>
        </p:nvPicPr>
        <p:blipFill>
          <a:blip r:embed="rId4"/>
          <a:stretch>
            <a:fillRect/>
          </a:stretch>
        </p:blipFill>
        <p:spPr>
          <a:xfrm>
            <a:off x="7040880" y="1216152"/>
            <a:ext cx="274320" cy="274320"/>
          </a:xfrm>
          <a:prstGeom prst="rect">
            <a:avLst/>
          </a:prstGeom>
        </p:spPr>
      </p:pic>
      <p:sp>
        <p:nvSpPr>
          <p:cNvPr id="26" name="Shape 16"/>
          <p:cNvSpPr/>
          <p:nvPr/>
        </p:nvSpPr>
        <p:spPr>
          <a:xfrm>
            <a:off x="7406640" y="713232"/>
            <a:ext cx="1371600" cy="1371600"/>
          </a:xfrm>
          <a:prstGeom prst="ellipse">
            <a:avLst/>
          </a:prstGeom>
          <a:solidFill>
            <a:srgbClr val="00838F"/>
          </a:solidFill>
          <a:ln/>
          <a:effectLst>
            <a:outerShdw blurRad="101600" dist="38100" dir="8100000" algn="bl" rotWithShape="0">
              <a:srgbClr val="000000">
                <a:alpha val="25000"/>
              </a:srgbClr>
            </a:outerShdw>
          </a:effectLst>
        </p:spPr>
        <p:txBody>
          <a:bodyPr/>
          <a:lstStyle/>
          <a:p>
            <a:endParaRPr lang="en-US"/>
          </a:p>
        </p:txBody>
      </p:sp>
      <p:pic>
        <p:nvPicPr>
          <p:cNvPr id="27" name="Image 8" descr="preencoded.png"/>
          <p:cNvPicPr>
            <a:picLocks noChangeAspect="1"/>
          </p:cNvPicPr>
          <p:nvPr/>
        </p:nvPicPr>
        <p:blipFill>
          <a:blip r:embed="rId8"/>
          <a:stretch>
            <a:fillRect/>
          </a:stretch>
        </p:blipFill>
        <p:spPr>
          <a:xfrm>
            <a:off x="7754112" y="886968"/>
            <a:ext cx="658368" cy="658368"/>
          </a:xfrm>
          <a:prstGeom prst="rect">
            <a:avLst/>
          </a:prstGeom>
        </p:spPr>
      </p:pic>
      <p:sp>
        <p:nvSpPr>
          <p:cNvPr id="28" name="Text 17"/>
          <p:cNvSpPr/>
          <p:nvPr/>
        </p:nvSpPr>
        <p:spPr>
          <a:xfrm>
            <a:off x="7406640" y="713232"/>
            <a:ext cx="347472" cy="274320"/>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05</a:t>
            </a:r>
            <a:endParaRPr lang="en-US" sz="800" dirty="0"/>
          </a:p>
        </p:txBody>
      </p:sp>
      <p:sp>
        <p:nvSpPr>
          <p:cNvPr id="29" name="Text 18"/>
          <p:cNvSpPr/>
          <p:nvPr/>
        </p:nvSpPr>
        <p:spPr>
          <a:xfrm>
            <a:off x="7315200" y="2148840"/>
            <a:ext cx="155448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Optimized</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Resources</a:t>
            </a:r>
            <a:endParaRPr lang="en-US" sz="950" dirty="0"/>
          </a:p>
        </p:txBody>
      </p:sp>
      <p:sp>
        <p:nvSpPr>
          <p:cNvPr id="30" name="Shape 19"/>
          <p:cNvSpPr/>
          <p:nvPr/>
        </p:nvSpPr>
        <p:spPr>
          <a:xfrm>
            <a:off x="274320" y="2743200"/>
            <a:ext cx="8595360" cy="2194560"/>
          </a:xfrm>
          <a:prstGeom prst="rect">
            <a:avLst/>
          </a:prstGeom>
          <a:solidFill>
            <a:srgbClr val="1A1A2E"/>
          </a:solidFill>
          <a:ln/>
          <a:effectLst>
            <a:outerShdw blurRad="101600" dist="38100" dir="8100000" algn="bl" rotWithShape="0">
              <a:srgbClr val="000000">
                <a:alpha val="25000"/>
              </a:srgbClr>
            </a:outerShdw>
          </a:effectLst>
        </p:spPr>
        <p:txBody>
          <a:bodyPr/>
          <a:lstStyle/>
          <a:p>
            <a:endParaRPr lang="en-US"/>
          </a:p>
        </p:txBody>
      </p:sp>
      <p:sp>
        <p:nvSpPr>
          <p:cNvPr id="31" name="Shape 20"/>
          <p:cNvSpPr/>
          <p:nvPr/>
        </p:nvSpPr>
        <p:spPr>
          <a:xfrm>
            <a:off x="274320" y="2743200"/>
            <a:ext cx="8595360" cy="274320"/>
          </a:xfrm>
          <a:prstGeom prst="rect">
            <a:avLst/>
          </a:prstGeom>
          <a:solidFill>
            <a:srgbClr val="1A1A2E"/>
          </a:solidFill>
          <a:ln/>
        </p:spPr>
        <p:txBody>
          <a:bodyPr/>
          <a:lstStyle/>
          <a:p>
            <a:endParaRPr lang="en-US"/>
          </a:p>
        </p:txBody>
      </p:sp>
      <p:pic>
        <p:nvPicPr>
          <p:cNvPr id="32" name="Image 9" descr="preencoded.png"/>
          <p:cNvPicPr>
            <a:picLocks noChangeAspect="1"/>
          </p:cNvPicPr>
          <p:nvPr/>
        </p:nvPicPr>
        <p:blipFill>
          <a:blip r:embed="rId9"/>
          <a:stretch>
            <a:fillRect/>
          </a:stretch>
        </p:blipFill>
        <p:spPr>
          <a:xfrm>
            <a:off x="384048" y="2779776"/>
            <a:ext cx="219456" cy="219456"/>
          </a:xfrm>
          <a:prstGeom prst="rect">
            <a:avLst/>
          </a:prstGeom>
        </p:spPr>
      </p:pic>
      <p:sp>
        <p:nvSpPr>
          <p:cNvPr id="33" name="Text 21"/>
          <p:cNvSpPr/>
          <p:nvPr/>
        </p:nvSpPr>
        <p:spPr>
          <a:xfrm>
            <a:off x="658368" y="2788920"/>
            <a:ext cx="4572000" cy="201168"/>
          </a:xfrm>
          <a:prstGeom prst="rect">
            <a:avLst/>
          </a:prstGeom>
          <a:noFill/>
          <a:ln/>
        </p:spPr>
        <p:txBody>
          <a:bodyPr wrap="square" lIns="0" tIns="0" rIns="0" bIns="0" rtlCol="0" anchor="ctr"/>
          <a:lstStyle/>
          <a:p>
            <a:pPr marL="0" indent="0">
              <a:buNone/>
            </a:pPr>
            <a:r>
              <a:rPr lang="en-US" sz="900" dirty="0">
                <a:solidFill>
                  <a:srgbClr val="8888AA"/>
                </a:solidFill>
                <a:latin typeface="Consolas" pitchFamily="34" charset="0"/>
                <a:ea typeface="Consolas" pitchFamily="34" charset="-122"/>
                <a:cs typeface="Consolas" pitchFamily="34" charset="-120"/>
              </a:rPr>
              <a:t>OpenShift CLI  –  oc commands</a:t>
            </a:r>
            <a:endParaRPr lang="en-US" sz="900" dirty="0"/>
          </a:p>
        </p:txBody>
      </p:sp>
      <p:sp>
        <p:nvSpPr>
          <p:cNvPr id="34" name="Shape 22"/>
          <p:cNvSpPr/>
          <p:nvPr/>
        </p:nvSpPr>
        <p:spPr>
          <a:xfrm>
            <a:off x="292608" y="3090672"/>
            <a:ext cx="256032" cy="256032"/>
          </a:xfrm>
          <a:prstGeom prst="rect">
            <a:avLst/>
          </a:prstGeom>
          <a:solidFill>
            <a:srgbClr val="1565C0"/>
          </a:solidFill>
          <a:ln/>
        </p:spPr>
        <p:txBody>
          <a:bodyPr/>
          <a:lstStyle/>
          <a:p>
            <a:endParaRPr lang="en-US"/>
          </a:p>
        </p:txBody>
      </p:sp>
      <p:sp>
        <p:nvSpPr>
          <p:cNvPr id="35" name="Text 23"/>
          <p:cNvSpPr/>
          <p:nvPr/>
        </p:nvSpPr>
        <p:spPr>
          <a:xfrm>
            <a:off x="292608" y="309067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6" name="Text 24"/>
          <p:cNvSpPr/>
          <p:nvPr/>
        </p:nvSpPr>
        <p:spPr>
          <a:xfrm>
            <a:off x="621792" y="3127248"/>
            <a:ext cx="3840480" cy="201168"/>
          </a:xfrm>
          <a:prstGeom prst="rect">
            <a:avLst/>
          </a:prstGeom>
          <a:noFill/>
          <a:ln/>
        </p:spPr>
        <p:txBody>
          <a:bodyPr wrap="square" lIns="0" tIns="0" rIns="0" bIns="0" rtlCol="0" anchor="ctr"/>
          <a:lstStyle/>
          <a:p>
            <a:pPr marL="0" indent="0">
              <a:buNone/>
            </a:pPr>
            <a:r>
              <a:rPr lang="en-US" sz="950" dirty="0">
                <a:solidFill>
                  <a:srgbClr val="98C379"/>
                </a:solidFill>
                <a:latin typeface="Consolas" pitchFamily="34" charset="0"/>
                <a:ea typeface="Consolas" pitchFamily="34" charset="-122"/>
                <a:cs typeface="Consolas" pitchFamily="34" charset="-120"/>
              </a:rPr>
              <a:t>$ oc apply -f cpu-app.yaml</a:t>
            </a:r>
            <a:endParaRPr lang="en-US" sz="950" dirty="0"/>
          </a:p>
        </p:txBody>
      </p:sp>
      <p:sp>
        <p:nvSpPr>
          <p:cNvPr id="37" name="Text 25"/>
          <p:cNvSpPr/>
          <p:nvPr/>
        </p:nvSpPr>
        <p:spPr>
          <a:xfrm>
            <a:off x="4526280" y="3127248"/>
            <a:ext cx="4206240" cy="201168"/>
          </a:xfrm>
          <a:prstGeom prst="rect">
            <a:avLst/>
          </a:prstGeom>
          <a:noFill/>
          <a:ln/>
        </p:spPr>
        <p:txBody>
          <a:bodyPr wrap="square" lIns="0" tIns="0" rIns="0" bIns="0" rtlCol="0" anchor="ctr"/>
          <a:lstStyle/>
          <a:p>
            <a:pPr marL="0" indent="0">
              <a:buNone/>
            </a:pPr>
            <a:r>
              <a:rPr lang="en-US" sz="950" dirty="0">
                <a:solidFill>
                  <a:srgbClr val="555577"/>
                </a:solidFill>
                <a:latin typeface="Consolas" pitchFamily="34" charset="0"/>
                <a:ea typeface="Consolas" pitchFamily="34" charset="-122"/>
                <a:cs typeface="Consolas" pitchFamily="34" charset="-120"/>
              </a:rPr>
              <a:t># Deploy the CPU-intensive workload (2 replicas)</a:t>
            </a:r>
            <a:endParaRPr lang="en-US" sz="950" dirty="0"/>
          </a:p>
        </p:txBody>
      </p:sp>
      <p:sp>
        <p:nvSpPr>
          <p:cNvPr id="38" name="Shape 26"/>
          <p:cNvSpPr/>
          <p:nvPr/>
        </p:nvSpPr>
        <p:spPr>
          <a:xfrm>
            <a:off x="292608" y="3474720"/>
            <a:ext cx="256032" cy="256032"/>
          </a:xfrm>
          <a:prstGeom prst="rect">
            <a:avLst/>
          </a:prstGeom>
          <a:solidFill>
            <a:srgbClr val="CC0000"/>
          </a:solidFill>
          <a:ln/>
        </p:spPr>
        <p:txBody>
          <a:bodyPr/>
          <a:lstStyle/>
          <a:p>
            <a:endParaRPr lang="en-US"/>
          </a:p>
        </p:txBody>
      </p:sp>
      <p:sp>
        <p:nvSpPr>
          <p:cNvPr id="39" name="Text 27"/>
          <p:cNvSpPr/>
          <p:nvPr/>
        </p:nvSpPr>
        <p:spPr>
          <a:xfrm>
            <a:off x="292608" y="347472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40" name="Text 28"/>
          <p:cNvSpPr/>
          <p:nvPr/>
        </p:nvSpPr>
        <p:spPr>
          <a:xfrm>
            <a:off x="621792" y="3511296"/>
            <a:ext cx="3840480" cy="201168"/>
          </a:xfrm>
          <a:prstGeom prst="rect">
            <a:avLst/>
          </a:prstGeom>
          <a:noFill/>
          <a:ln/>
        </p:spPr>
        <p:txBody>
          <a:bodyPr wrap="square" lIns="0" tIns="0" rIns="0" bIns="0" rtlCol="0" anchor="ctr"/>
          <a:lstStyle/>
          <a:p>
            <a:pPr marL="0" indent="0">
              <a:buNone/>
            </a:pPr>
            <a:r>
              <a:rPr lang="en-US" sz="950" dirty="0">
                <a:solidFill>
                  <a:srgbClr val="98C379"/>
                </a:solidFill>
                <a:latin typeface="Consolas" pitchFamily="34" charset="0"/>
                <a:ea typeface="Consolas" pitchFamily="34" charset="-122"/>
                <a:cs typeface="Consolas" pitchFamily="34" charset="-120"/>
              </a:rPr>
              <a:t>$ oc apply -f cpu-app-vpa.yaml</a:t>
            </a:r>
            <a:endParaRPr lang="en-US" sz="950" dirty="0"/>
          </a:p>
        </p:txBody>
      </p:sp>
      <p:sp>
        <p:nvSpPr>
          <p:cNvPr id="41" name="Text 29"/>
          <p:cNvSpPr/>
          <p:nvPr/>
        </p:nvSpPr>
        <p:spPr>
          <a:xfrm>
            <a:off x="4526280" y="3511296"/>
            <a:ext cx="4206240" cy="201168"/>
          </a:xfrm>
          <a:prstGeom prst="rect">
            <a:avLst/>
          </a:prstGeom>
          <a:noFill/>
          <a:ln/>
        </p:spPr>
        <p:txBody>
          <a:bodyPr wrap="square" lIns="0" tIns="0" rIns="0" bIns="0" rtlCol="0" anchor="ctr"/>
          <a:lstStyle/>
          <a:p>
            <a:pPr marL="0" indent="0">
              <a:buNone/>
            </a:pPr>
            <a:r>
              <a:rPr lang="en-US" sz="950" dirty="0">
                <a:solidFill>
                  <a:srgbClr val="555577"/>
                </a:solidFill>
                <a:latin typeface="Consolas" pitchFamily="34" charset="0"/>
                <a:ea typeface="Consolas" pitchFamily="34" charset="-122"/>
                <a:cs typeface="Consolas" pitchFamily="34" charset="-120"/>
              </a:rPr>
              <a:t># Apply the VPA object targeting cpu-app</a:t>
            </a:r>
            <a:endParaRPr lang="en-US" sz="950" dirty="0"/>
          </a:p>
        </p:txBody>
      </p:sp>
      <p:sp>
        <p:nvSpPr>
          <p:cNvPr id="42" name="Shape 30"/>
          <p:cNvSpPr/>
          <p:nvPr/>
        </p:nvSpPr>
        <p:spPr>
          <a:xfrm>
            <a:off x="292608" y="3858768"/>
            <a:ext cx="256032" cy="256032"/>
          </a:xfrm>
          <a:prstGeom prst="rect">
            <a:avLst/>
          </a:prstGeom>
          <a:solidFill>
            <a:srgbClr val="6A1B9A"/>
          </a:solidFill>
          <a:ln/>
        </p:spPr>
        <p:txBody>
          <a:bodyPr/>
          <a:lstStyle/>
          <a:p>
            <a:endParaRPr lang="en-US"/>
          </a:p>
        </p:txBody>
      </p:sp>
      <p:sp>
        <p:nvSpPr>
          <p:cNvPr id="43" name="Text 31"/>
          <p:cNvSpPr/>
          <p:nvPr/>
        </p:nvSpPr>
        <p:spPr>
          <a:xfrm>
            <a:off x="292608" y="385876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44" name="Text 32"/>
          <p:cNvSpPr/>
          <p:nvPr/>
        </p:nvSpPr>
        <p:spPr>
          <a:xfrm>
            <a:off x="621792" y="3895344"/>
            <a:ext cx="3840480" cy="201168"/>
          </a:xfrm>
          <a:prstGeom prst="rect">
            <a:avLst/>
          </a:prstGeom>
          <a:noFill/>
          <a:ln/>
        </p:spPr>
        <p:txBody>
          <a:bodyPr wrap="square" lIns="0" tIns="0" rIns="0" bIns="0" rtlCol="0" anchor="ctr"/>
          <a:lstStyle/>
          <a:p>
            <a:pPr marL="0" indent="0">
              <a:buNone/>
            </a:pPr>
            <a:r>
              <a:rPr lang="en-US" sz="950" dirty="0">
                <a:solidFill>
                  <a:srgbClr val="98C379"/>
                </a:solidFill>
                <a:latin typeface="Consolas" pitchFamily="34" charset="0"/>
                <a:ea typeface="Consolas" pitchFamily="34" charset="-122"/>
                <a:cs typeface="Consolas" pitchFamily="34" charset="-120"/>
              </a:rPr>
              <a:t>$ oc top pod</a:t>
            </a:r>
            <a:endParaRPr lang="en-US" sz="950" dirty="0"/>
          </a:p>
        </p:txBody>
      </p:sp>
      <p:sp>
        <p:nvSpPr>
          <p:cNvPr id="45" name="Text 33"/>
          <p:cNvSpPr/>
          <p:nvPr/>
        </p:nvSpPr>
        <p:spPr>
          <a:xfrm>
            <a:off x="4526280" y="3895344"/>
            <a:ext cx="4206240" cy="201168"/>
          </a:xfrm>
          <a:prstGeom prst="rect">
            <a:avLst/>
          </a:prstGeom>
          <a:noFill/>
          <a:ln/>
        </p:spPr>
        <p:txBody>
          <a:bodyPr wrap="square" lIns="0" tIns="0" rIns="0" bIns="0" rtlCol="0" anchor="ctr"/>
          <a:lstStyle/>
          <a:p>
            <a:pPr marL="0" indent="0">
              <a:buNone/>
            </a:pPr>
            <a:r>
              <a:rPr lang="en-US" sz="950" dirty="0">
                <a:solidFill>
                  <a:srgbClr val="555577"/>
                </a:solidFill>
                <a:latin typeface="Consolas" pitchFamily="34" charset="0"/>
                <a:ea typeface="Consolas" pitchFamily="34" charset="-122"/>
                <a:cs typeface="Consolas" pitchFamily="34" charset="-120"/>
              </a:rPr>
              <a:t># Watch actual CPU usage vs 50m request</a:t>
            </a:r>
            <a:endParaRPr lang="en-US" sz="950" dirty="0"/>
          </a:p>
        </p:txBody>
      </p:sp>
      <p:sp>
        <p:nvSpPr>
          <p:cNvPr id="46" name="Shape 34"/>
          <p:cNvSpPr/>
          <p:nvPr/>
        </p:nvSpPr>
        <p:spPr>
          <a:xfrm>
            <a:off x="292608" y="4242816"/>
            <a:ext cx="256032" cy="256032"/>
          </a:xfrm>
          <a:prstGeom prst="rect">
            <a:avLst/>
          </a:prstGeom>
          <a:solidFill>
            <a:srgbClr val="2E7D32"/>
          </a:solidFill>
          <a:ln/>
        </p:spPr>
        <p:txBody>
          <a:bodyPr/>
          <a:lstStyle/>
          <a:p>
            <a:endParaRPr lang="en-US"/>
          </a:p>
        </p:txBody>
      </p:sp>
      <p:sp>
        <p:nvSpPr>
          <p:cNvPr id="47" name="Text 35"/>
          <p:cNvSpPr/>
          <p:nvPr/>
        </p:nvSpPr>
        <p:spPr>
          <a:xfrm>
            <a:off x="292608" y="424281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48" name="Text 36"/>
          <p:cNvSpPr/>
          <p:nvPr/>
        </p:nvSpPr>
        <p:spPr>
          <a:xfrm>
            <a:off x="621792" y="4279392"/>
            <a:ext cx="3840480" cy="201168"/>
          </a:xfrm>
          <a:prstGeom prst="rect">
            <a:avLst/>
          </a:prstGeom>
          <a:noFill/>
          <a:ln/>
        </p:spPr>
        <p:txBody>
          <a:bodyPr wrap="square" lIns="0" tIns="0" rIns="0" bIns="0" rtlCol="0" anchor="ctr"/>
          <a:lstStyle/>
          <a:p>
            <a:pPr marL="0" indent="0">
              <a:buNone/>
            </a:pPr>
            <a:r>
              <a:rPr lang="en-US" sz="950" dirty="0">
                <a:solidFill>
                  <a:srgbClr val="98C379"/>
                </a:solidFill>
                <a:latin typeface="Consolas" pitchFamily="34" charset="0"/>
                <a:ea typeface="Consolas" pitchFamily="34" charset="-122"/>
                <a:cs typeface="Consolas" pitchFamily="34" charset="-120"/>
              </a:rPr>
              <a:t>$ oc describe vpa cpu-app-vpa</a:t>
            </a:r>
            <a:endParaRPr lang="en-US" sz="950" dirty="0"/>
          </a:p>
        </p:txBody>
      </p:sp>
      <p:sp>
        <p:nvSpPr>
          <p:cNvPr id="49" name="Text 37"/>
          <p:cNvSpPr/>
          <p:nvPr/>
        </p:nvSpPr>
        <p:spPr>
          <a:xfrm>
            <a:off x="4526280" y="4279392"/>
            <a:ext cx="4206240" cy="201168"/>
          </a:xfrm>
          <a:prstGeom prst="rect">
            <a:avLst/>
          </a:prstGeom>
          <a:noFill/>
          <a:ln/>
        </p:spPr>
        <p:txBody>
          <a:bodyPr wrap="square" lIns="0" tIns="0" rIns="0" bIns="0" rtlCol="0" anchor="ctr"/>
          <a:lstStyle/>
          <a:p>
            <a:pPr marL="0" indent="0">
              <a:buNone/>
            </a:pPr>
            <a:r>
              <a:rPr lang="en-US" sz="950" dirty="0">
                <a:solidFill>
                  <a:srgbClr val="555577"/>
                </a:solidFill>
                <a:latin typeface="Consolas" pitchFamily="34" charset="0"/>
                <a:ea typeface="Consolas" pitchFamily="34" charset="-122"/>
                <a:cs typeface="Consolas" pitchFamily="34" charset="-120"/>
              </a:rPr>
              <a:t># View VPA recommendations and current status</a:t>
            </a:r>
            <a:endParaRPr lang="en-US" sz="950" dirty="0"/>
          </a:p>
        </p:txBody>
      </p:sp>
      <p:sp>
        <p:nvSpPr>
          <p:cNvPr id="50" name="Shape 38"/>
          <p:cNvSpPr/>
          <p:nvPr/>
        </p:nvSpPr>
        <p:spPr>
          <a:xfrm>
            <a:off x="292608" y="4626864"/>
            <a:ext cx="256032" cy="256032"/>
          </a:xfrm>
          <a:prstGeom prst="rect">
            <a:avLst/>
          </a:prstGeom>
          <a:solidFill>
            <a:srgbClr val="00838F"/>
          </a:solidFill>
          <a:ln/>
        </p:spPr>
        <p:txBody>
          <a:bodyPr/>
          <a:lstStyle/>
          <a:p>
            <a:endParaRPr lang="en-US"/>
          </a:p>
        </p:txBody>
      </p:sp>
      <p:sp>
        <p:nvSpPr>
          <p:cNvPr id="51" name="Text 39"/>
          <p:cNvSpPr/>
          <p:nvPr/>
        </p:nvSpPr>
        <p:spPr>
          <a:xfrm>
            <a:off x="292608" y="462686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52" name="Text 40"/>
          <p:cNvSpPr/>
          <p:nvPr/>
        </p:nvSpPr>
        <p:spPr>
          <a:xfrm>
            <a:off x="621792" y="4663440"/>
            <a:ext cx="3840480" cy="201168"/>
          </a:xfrm>
          <a:prstGeom prst="rect">
            <a:avLst/>
          </a:prstGeom>
          <a:noFill/>
          <a:ln/>
        </p:spPr>
        <p:txBody>
          <a:bodyPr wrap="square" lIns="0" tIns="0" rIns="0" bIns="0" rtlCol="0" anchor="ctr"/>
          <a:lstStyle/>
          <a:p>
            <a:pPr marL="0" indent="0">
              <a:buNone/>
            </a:pPr>
            <a:r>
              <a:rPr lang="en-US" sz="950" dirty="0">
                <a:solidFill>
                  <a:srgbClr val="98C379"/>
                </a:solidFill>
                <a:latin typeface="Consolas" pitchFamily="34" charset="0"/>
                <a:ea typeface="Consolas" pitchFamily="34" charset="-122"/>
                <a:cs typeface="Consolas" pitchFamily="34" charset="-120"/>
              </a:rPr>
              <a:t>$ oc get pods -w</a:t>
            </a:r>
            <a:endParaRPr lang="en-US" sz="950" dirty="0"/>
          </a:p>
        </p:txBody>
      </p:sp>
      <p:sp>
        <p:nvSpPr>
          <p:cNvPr id="53" name="Text 41"/>
          <p:cNvSpPr/>
          <p:nvPr/>
        </p:nvSpPr>
        <p:spPr>
          <a:xfrm>
            <a:off x="4526280" y="4663440"/>
            <a:ext cx="4206240" cy="201168"/>
          </a:xfrm>
          <a:prstGeom prst="rect">
            <a:avLst/>
          </a:prstGeom>
          <a:noFill/>
          <a:ln/>
        </p:spPr>
        <p:txBody>
          <a:bodyPr wrap="square" lIns="0" tIns="0" rIns="0" bIns="0" rtlCol="0" anchor="ctr"/>
          <a:lstStyle/>
          <a:p>
            <a:pPr marL="0" indent="0">
              <a:buNone/>
            </a:pPr>
            <a:r>
              <a:rPr lang="en-US" sz="950" dirty="0">
                <a:solidFill>
                  <a:srgbClr val="555577"/>
                </a:solidFill>
                <a:latin typeface="Consolas" pitchFamily="34" charset="0"/>
                <a:ea typeface="Consolas" pitchFamily="34" charset="-122"/>
                <a:cs typeface="Consolas" pitchFamily="34" charset="-120"/>
              </a:rPr>
              <a:t># Watch pods restart with optimized resources</a:t>
            </a:r>
            <a:endParaRPr lang="en-US" sz="950" dirty="0"/>
          </a:p>
        </p:txBody>
      </p:sp>
      <p:sp>
        <p:nvSpPr>
          <p:cNvPr id="54" name="Shape 42"/>
          <p:cNvSpPr/>
          <p:nvPr/>
        </p:nvSpPr>
        <p:spPr>
          <a:xfrm>
            <a:off x="274320" y="5029200"/>
            <a:ext cx="8595360" cy="0"/>
          </a:xfrm>
          <a:prstGeom prst="rect">
            <a:avLst/>
          </a:prstGeom>
          <a:solidFill>
            <a:srgbClr val="CC0000"/>
          </a:solidFill>
          <a:ln/>
        </p:spPr>
        <p:txBody>
          <a:bodyPr/>
          <a:lstStyle/>
          <a:p>
            <a:endParaRPr lang="en-US"/>
          </a:p>
        </p:txBody>
      </p:sp>
      <p:sp>
        <p:nvSpPr>
          <p:cNvPr id="55" name="Shape 43"/>
          <p:cNvSpPr/>
          <p:nvPr/>
        </p:nvSpPr>
        <p:spPr>
          <a:xfrm>
            <a:off x="274320" y="4983480"/>
            <a:ext cx="8595360" cy="155448"/>
          </a:xfrm>
          <a:prstGeom prst="rect">
            <a:avLst/>
          </a:prstGeom>
          <a:solidFill>
            <a:srgbClr val="1A0A0A"/>
          </a:solidFill>
          <a:ln/>
        </p:spPr>
        <p:txBody>
          <a:bodyPr/>
          <a:lstStyle/>
          <a:p>
            <a:endParaRPr lang="en-US"/>
          </a:p>
        </p:txBody>
      </p:sp>
      <p:sp>
        <p:nvSpPr>
          <p:cNvPr id="56" name="Text 44"/>
          <p:cNvSpPr/>
          <p:nvPr/>
        </p:nvSpPr>
        <p:spPr>
          <a:xfrm>
            <a:off x="384048" y="5001768"/>
            <a:ext cx="8412480" cy="128016"/>
          </a:xfrm>
          <a:prstGeom prst="rect">
            <a:avLst/>
          </a:prstGeom>
          <a:noFill/>
          <a:ln/>
        </p:spPr>
        <p:txBody>
          <a:bodyPr wrap="square" lIns="0" tIns="0" rIns="0" bIns="0" rtlCol="0" anchor="ctr"/>
          <a:lstStyle/>
          <a:p>
            <a:pPr marL="0" indent="0">
              <a:buNone/>
            </a:pPr>
            <a:r>
              <a:rPr lang="en-US" sz="800" dirty="0">
                <a:solidFill>
                  <a:srgbClr val="F5A623"/>
                </a:solidFill>
                <a:latin typeface="Consolas" pitchFamily="34" charset="0"/>
                <a:ea typeface="Consolas" pitchFamily="34" charset="-122"/>
                <a:cs typeface="Consolas" pitchFamily="34" charset="-120"/>
              </a:rPr>
              <a:t>Verify: oc get vpa cpu-app-vpa -o yaml  → check .status.recommendation.containerRecommendations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a:extLst>
            <a:ext uri="{FF2B5EF4-FFF2-40B4-BE49-F238E27FC236}">
              <a16:creationId xmlns:a16="http://schemas.microsoft.com/office/drawing/2014/main" id="{01E0FCB5-2DA9-D8D2-02C3-0611D9B5FC1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EF03A70-213C-1814-EA9A-4507F854E04C}"/>
              </a:ext>
            </a:extLst>
          </p:cNvPr>
          <p:cNvSpPr/>
          <p:nvPr/>
        </p:nvSpPr>
        <p:spPr>
          <a:xfrm>
            <a:off x="0" y="0"/>
            <a:ext cx="9144000" cy="594360"/>
          </a:xfrm>
          <a:prstGeom prst="rect">
            <a:avLst/>
          </a:prstGeom>
          <a:solidFill>
            <a:srgbClr val="111111"/>
          </a:solidFill>
          <a:ln/>
        </p:spPr>
        <p:txBody>
          <a:bodyPr/>
          <a:lstStyle/>
          <a:p>
            <a:endParaRPr lang="en-US"/>
          </a:p>
        </p:txBody>
      </p:sp>
      <p:sp>
        <p:nvSpPr>
          <p:cNvPr id="3" name="Shape 1">
            <a:extLst>
              <a:ext uri="{FF2B5EF4-FFF2-40B4-BE49-F238E27FC236}">
                <a16:creationId xmlns:a16="http://schemas.microsoft.com/office/drawing/2014/main" id="{4E017229-51BB-6D3A-2F47-81BEE402FB60}"/>
              </a:ext>
            </a:extLst>
          </p:cNvPr>
          <p:cNvSpPr/>
          <p:nvPr/>
        </p:nvSpPr>
        <p:spPr>
          <a:xfrm>
            <a:off x="0" y="0"/>
            <a:ext cx="9144000" cy="54864"/>
          </a:xfrm>
          <a:prstGeom prst="rect">
            <a:avLst/>
          </a:prstGeom>
          <a:solidFill>
            <a:srgbClr val="CC0000"/>
          </a:solidFill>
          <a:ln/>
        </p:spPr>
        <p:txBody>
          <a:bodyPr/>
          <a:lstStyle/>
          <a:p>
            <a:endParaRPr lang="en-US"/>
          </a:p>
        </p:txBody>
      </p:sp>
      <p:sp>
        <p:nvSpPr>
          <p:cNvPr id="4" name="Text 2">
            <a:extLst>
              <a:ext uri="{FF2B5EF4-FFF2-40B4-BE49-F238E27FC236}">
                <a16:creationId xmlns:a16="http://schemas.microsoft.com/office/drawing/2014/main" id="{C1738728-A883-B311-DB21-3703A87061A6}"/>
              </a:ext>
            </a:extLst>
          </p:cNvPr>
          <p:cNvSpPr/>
          <p:nvPr/>
        </p:nvSpPr>
        <p:spPr>
          <a:xfrm>
            <a:off x="274320" y="109728"/>
            <a:ext cx="7772400" cy="384048"/>
          </a:xfrm>
          <a:prstGeom prst="rect">
            <a:avLst/>
          </a:prstGeom>
          <a:noFill/>
          <a:ln/>
        </p:spPr>
        <p:txBody>
          <a:bodyPr wrap="square" lIns="0" tIns="0" rIns="0" bIns="0" rtlCol="0" anchor="ctr"/>
          <a:lstStyle/>
          <a:p>
            <a:pPr marL="0" indent="0">
              <a:buNone/>
            </a:pPr>
            <a:r>
              <a:rPr lang="en-US" sz="1800" b="1" kern="0" spc="200" dirty="0">
                <a:solidFill>
                  <a:srgbClr val="FFFFFF"/>
                </a:solidFill>
                <a:latin typeface="Calibri" pitchFamily="34" charset="0"/>
                <a:ea typeface="Calibri" pitchFamily="34" charset="-122"/>
                <a:cs typeface="Calibri" pitchFamily="34" charset="-120"/>
              </a:rPr>
              <a:t>STEP-BY-STEP DEMO</a:t>
            </a:r>
            <a:endParaRPr lang="en-US" sz="1800" dirty="0"/>
          </a:p>
        </p:txBody>
      </p:sp>
      <p:sp>
        <p:nvSpPr>
          <p:cNvPr id="30" name="Shape 19">
            <a:extLst>
              <a:ext uri="{FF2B5EF4-FFF2-40B4-BE49-F238E27FC236}">
                <a16:creationId xmlns:a16="http://schemas.microsoft.com/office/drawing/2014/main" id="{7FD93257-1522-CAFE-5473-5BB86D8055C0}"/>
              </a:ext>
            </a:extLst>
          </p:cNvPr>
          <p:cNvSpPr/>
          <p:nvPr/>
        </p:nvSpPr>
        <p:spPr>
          <a:xfrm>
            <a:off x="274320" y="2743200"/>
            <a:ext cx="8595360" cy="2194560"/>
          </a:xfrm>
          <a:prstGeom prst="rect">
            <a:avLst/>
          </a:prstGeom>
          <a:solidFill>
            <a:srgbClr val="1A1A2E"/>
          </a:solidFill>
          <a:ln/>
          <a:effectLst>
            <a:outerShdw blurRad="101600" dist="38100" dir="8100000" algn="bl" rotWithShape="0">
              <a:srgbClr val="000000">
                <a:alpha val="25000"/>
              </a:srgbClr>
            </a:outerShdw>
          </a:effectLst>
        </p:spPr>
        <p:txBody>
          <a:bodyPr/>
          <a:lstStyle/>
          <a:p>
            <a:endParaRPr lang="en-US"/>
          </a:p>
        </p:txBody>
      </p:sp>
      <p:pic>
        <p:nvPicPr>
          <p:cNvPr id="57" name="Picture 2" descr="Image result for difference between liveness and readiness probe">
            <a:extLst>
              <a:ext uri="{FF2B5EF4-FFF2-40B4-BE49-F238E27FC236}">
                <a16:creationId xmlns:a16="http://schemas.microsoft.com/office/drawing/2014/main" id="{9E2127A0-C57C-0B19-CB6A-A0440D08C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117" y="119396"/>
            <a:ext cx="6035040" cy="3161213"/>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57"/>
          <p:cNvSpPr/>
          <p:nvPr/>
        </p:nvSpPr>
        <p:spPr>
          <a:xfrm>
            <a:off x="105769" y="3225745"/>
            <a:ext cx="7775813" cy="1754326"/>
          </a:xfrm>
          <a:prstGeom prst="rect">
            <a:avLst/>
          </a:prstGeom>
        </p:spPr>
        <p:txBody>
          <a:bodyPr wrap="square">
            <a:spAutoFit/>
          </a:bodyPr>
          <a:lstStyle/>
          <a:p>
            <a:r>
              <a:rPr lang="en-IN" sz="1350" dirty="0" err="1">
                <a:solidFill>
                  <a:schemeClr val="bg1"/>
                </a:solidFill>
              </a:rPr>
              <a:t>ExecAction</a:t>
            </a:r>
            <a:r>
              <a:rPr lang="en-IN" sz="1350" dirty="0">
                <a:solidFill>
                  <a:schemeClr val="bg1"/>
                </a:solidFill>
              </a:rPr>
              <a:t> - executes a command inside the container.</a:t>
            </a:r>
          </a:p>
          <a:p>
            <a:r>
              <a:rPr lang="en-IN" sz="1350" dirty="0" err="1">
                <a:solidFill>
                  <a:schemeClr val="bg1"/>
                </a:solidFill>
              </a:rPr>
              <a:t>TCPSocketAction</a:t>
            </a:r>
            <a:r>
              <a:rPr lang="en-IN" sz="1350" dirty="0">
                <a:solidFill>
                  <a:schemeClr val="bg1"/>
                </a:solidFill>
              </a:rPr>
              <a:t> - performs a TCP check against the container’s IP address on a specified port.</a:t>
            </a:r>
          </a:p>
          <a:p>
            <a:r>
              <a:rPr lang="en-IN" sz="1350" dirty="0" err="1">
                <a:solidFill>
                  <a:schemeClr val="bg1"/>
                </a:solidFill>
              </a:rPr>
              <a:t>HTTPGetAction</a:t>
            </a:r>
            <a:r>
              <a:rPr lang="en-IN" sz="1350" dirty="0">
                <a:solidFill>
                  <a:schemeClr val="bg1"/>
                </a:solidFill>
              </a:rPr>
              <a:t> - performs an HTTP GET request on the container’s IP.</a:t>
            </a:r>
          </a:p>
          <a:p>
            <a:r>
              <a:rPr lang="en-IN" sz="1350" dirty="0">
                <a:solidFill>
                  <a:schemeClr val="bg1"/>
                </a:solidFill>
              </a:rPr>
              <a:t>A handler can then return the following:</a:t>
            </a:r>
          </a:p>
          <a:p>
            <a:endParaRPr lang="en-IN" sz="1350" dirty="0">
              <a:solidFill>
                <a:schemeClr val="bg1"/>
              </a:solidFill>
            </a:endParaRPr>
          </a:p>
          <a:p>
            <a:r>
              <a:rPr lang="en-IN" sz="1350" dirty="0">
                <a:solidFill>
                  <a:schemeClr val="bg1"/>
                </a:solidFill>
              </a:rPr>
              <a:t>Success - the diagnostic passed on the container.</a:t>
            </a:r>
          </a:p>
          <a:p>
            <a:r>
              <a:rPr lang="en-IN" sz="1350" dirty="0">
                <a:solidFill>
                  <a:schemeClr val="bg1"/>
                </a:solidFill>
              </a:rPr>
              <a:t>Fail - the container failed the diagnostic and will restart according to its restart policy.</a:t>
            </a:r>
          </a:p>
          <a:p>
            <a:r>
              <a:rPr lang="en-IN" sz="1350" dirty="0">
                <a:solidFill>
                  <a:schemeClr val="bg1"/>
                </a:solidFill>
              </a:rPr>
              <a:t>Unknown - the diagnostic failed and no action will be taken.</a:t>
            </a:r>
          </a:p>
        </p:txBody>
      </p:sp>
    </p:spTree>
    <p:extLst>
      <p:ext uri="{BB962C8B-B14F-4D97-AF65-F5344CB8AC3E}">
        <p14:creationId xmlns:p14="http://schemas.microsoft.com/office/powerpoint/2010/main" val="628948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CC0000"/>
          </a:solidFill>
          <a:ln/>
        </p:spPr>
        <p:txBody>
          <a:bodyPr/>
          <a:lstStyle/>
          <a:p>
            <a:endParaRPr lang="en-US"/>
          </a:p>
        </p:txBody>
      </p:sp>
      <p:sp>
        <p:nvSpPr>
          <p:cNvPr id="3" name="Shape 1"/>
          <p:cNvSpPr/>
          <p:nvPr/>
        </p:nvSpPr>
        <p:spPr>
          <a:xfrm>
            <a:off x="274320" y="27432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4" name="Shape 2"/>
          <p:cNvSpPr/>
          <p:nvPr/>
        </p:nvSpPr>
        <p:spPr>
          <a:xfrm>
            <a:off x="960120" y="27432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5" name="Shape 3"/>
          <p:cNvSpPr/>
          <p:nvPr/>
        </p:nvSpPr>
        <p:spPr>
          <a:xfrm>
            <a:off x="1645920" y="27432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6" name="Shape 4"/>
          <p:cNvSpPr/>
          <p:nvPr/>
        </p:nvSpPr>
        <p:spPr>
          <a:xfrm>
            <a:off x="2331720" y="27432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7" name="Shape 5"/>
          <p:cNvSpPr/>
          <p:nvPr/>
        </p:nvSpPr>
        <p:spPr>
          <a:xfrm>
            <a:off x="3017520" y="27432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8" name="Shape 6"/>
          <p:cNvSpPr/>
          <p:nvPr/>
        </p:nvSpPr>
        <p:spPr>
          <a:xfrm>
            <a:off x="3703320" y="27432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9" name="Shape 7"/>
          <p:cNvSpPr/>
          <p:nvPr/>
        </p:nvSpPr>
        <p:spPr>
          <a:xfrm>
            <a:off x="274320" y="93268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10" name="Shape 8"/>
          <p:cNvSpPr/>
          <p:nvPr/>
        </p:nvSpPr>
        <p:spPr>
          <a:xfrm>
            <a:off x="960120" y="93268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11" name="Shape 9"/>
          <p:cNvSpPr/>
          <p:nvPr/>
        </p:nvSpPr>
        <p:spPr>
          <a:xfrm>
            <a:off x="1645920" y="93268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12" name="Shape 10"/>
          <p:cNvSpPr/>
          <p:nvPr/>
        </p:nvSpPr>
        <p:spPr>
          <a:xfrm>
            <a:off x="2331720" y="93268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13" name="Shape 11"/>
          <p:cNvSpPr/>
          <p:nvPr/>
        </p:nvSpPr>
        <p:spPr>
          <a:xfrm>
            <a:off x="3017520" y="93268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14" name="Shape 12"/>
          <p:cNvSpPr/>
          <p:nvPr/>
        </p:nvSpPr>
        <p:spPr>
          <a:xfrm>
            <a:off x="3703320" y="93268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15" name="Shape 13"/>
          <p:cNvSpPr/>
          <p:nvPr/>
        </p:nvSpPr>
        <p:spPr>
          <a:xfrm>
            <a:off x="274320" y="159105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16" name="Shape 14"/>
          <p:cNvSpPr/>
          <p:nvPr/>
        </p:nvSpPr>
        <p:spPr>
          <a:xfrm>
            <a:off x="960120" y="159105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17" name="Shape 15"/>
          <p:cNvSpPr/>
          <p:nvPr/>
        </p:nvSpPr>
        <p:spPr>
          <a:xfrm>
            <a:off x="1645920" y="159105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18" name="Shape 16"/>
          <p:cNvSpPr/>
          <p:nvPr/>
        </p:nvSpPr>
        <p:spPr>
          <a:xfrm>
            <a:off x="2331720" y="159105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19" name="Shape 17"/>
          <p:cNvSpPr/>
          <p:nvPr/>
        </p:nvSpPr>
        <p:spPr>
          <a:xfrm>
            <a:off x="3017520" y="159105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20" name="Shape 18"/>
          <p:cNvSpPr/>
          <p:nvPr/>
        </p:nvSpPr>
        <p:spPr>
          <a:xfrm>
            <a:off x="3703320" y="159105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21" name="Shape 19"/>
          <p:cNvSpPr/>
          <p:nvPr/>
        </p:nvSpPr>
        <p:spPr>
          <a:xfrm>
            <a:off x="274320" y="2249424"/>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22" name="Shape 20"/>
          <p:cNvSpPr/>
          <p:nvPr/>
        </p:nvSpPr>
        <p:spPr>
          <a:xfrm>
            <a:off x="960120" y="2249424"/>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23" name="Shape 21"/>
          <p:cNvSpPr/>
          <p:nvPr/>
        </p:nvSpPr>
        <p:spPr>
          <a:xfrm>
            <a:off x="1645920" y="2249424"/>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24" name="Shape 22"/>
          <p:cNvSpPr/>
          <p:nvPr/>
        </p:nvSpPr>
        <p:spPr>
          <a:xfrm>
            <a:off x="2331720" y="2249424"/>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25" name="Shape 23"/>
          <p:cNvSpPr/>
          <p:nvPr/>
        </p:nvSpPr>
        <p:spPr>
          <a:xfrm>
            <a:off x="3017520" y="2249424"/>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26" name="Shape 24"/>
          <p:cNvSpPr/>
          <p:nvPr/>
        </p:nvSpPr>
        <p:spPr>
          <a:xfrm>
            <a:off x="3703320" y="2249424"/>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27" name="Shape 25"/>
          <p:cNvSpPr/>
          <p:nvPr/>
        </p:nvSpPr>
        <p:spPr>
          <a:xfrm>
            <a:off x="274320" y="2907792"/>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28" name="Shape 26"/>
          <p:cNvSpPr/>
          <p:nvPr/>
        </p:nvSpPr>
        <p:spPr>
          <a:xfrm>
            <a:off x="960120" y="2907792"/>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29" name="Shape 27"/>
          <p:cNvSpPr/>
          <p:nvPr/>
        </p:nvSpPr>
        <p:spPr>
          <a:xfrm>
            <a:off x="1645920" y="2907792"/>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30" name="Shape 28"/>
          <p:cNvSpPr/>
          <p:nvPr/>
        </p:nvSpPr>
        <p:spPr>
          <a:xfrm>
            <a:off x="2331720" y="2907792"/>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31" name="Shape 29"/>
          <p:cNvSpPr/>
          <p:nvPr/>
        </p:nvSpPr>
        <p:spPr>
          <a:xfrm>
            <a:off x="3017520" y="2907792"/>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32" name="Shape 30"/>
          <p:cNvSpPr/>
          <p:nvPr/>
        </p:nvSpPr>
        <p:spPr>
          <a:xfrm>
            <a:off x="3703320" y="2907792"/>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33" name="Shape 31"/>
          <p:cNvSpPr/>
          <p:nvPr/>
        </p:nvSpPr>
        <p:spPr>
          <a:xfrm>
            <a:off x="274320" y="356616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34" name="Shape 32"/>
          <p:cNvSpPr/>
          <p:nvPr/>
        </p:nvSpPr>
        <p:spPr>
          <a:xfrm>
            <a:off x="960120" y="356616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35" name="Shape 33"/>
          <p:cNvSpPr/>
          <p:nvPr/>
        </p:nvSpPr>
        <p:spPr>
          <a:xfrm>
            <a:off x="1645920" y="356616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36" name="Shape 34"/>
          <p:cNvSpPr/>
          <p:nvPr/>
        </p:nvSpPr>
        <p:spPr>
          <a:xfrm>
            <a:off x="2331720" y="356616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37" name="Shape 35"/>
          <p:cNvSpPr/>
          <p:nvPr/>
        </p:nvSpPr>
        <p:spPr>
          <a:xfrm>
            <a:off x="3017520" y="356616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38" name="Shape 36"/>
          <p:cNvSpPr/>
          <p:nvPr/>
        </p:nvSpPr>
        <p:spPr>
          <a:xfrm>
            <a:off x="3703320" y="3566160"/>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39" name="Shape 37"/>
          <p:cNvSpPr/>
          <p:nvPr/>
        </p:nvSpPr>
        <p:spPr>
          <a:xfrm>
            <a:off x="274320" y="422452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40" name="Shape 38"/>
          <p:cNvSpPr/>
          <p:nvPr/>
        </p:nvSpPr>
        <p:spPr>
          <a:xfrm>
            <a:off x="960120" y="422452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41" name="Shape 39"/>
          <p:cNvSpPr/>
          <p:nvPr/>
        </p:nvSpPr>
        <p:spPr>
          <a:xfrm>
            <a:off x="1645920" y="422452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42" name="Shape 40"/>
          <p:cNvSpPr/>
          <p:nvPr/>
        </p:nvSpPr>
        <p:spPr>
          <a:xfrm>
            <a:off x="2331720" y="422452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43" name="Shape 41"/>
          <p:cNvSpPr/>
          <p:nvPr/>
        </p:nvSpPr>
        <p:spPr>
          <a:xfrm>
            <a:off x="3017520" y="422452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44" name="Shape 42"/>
          <p:cNvSpPr/>
          <p:nvPr/>
        </p:nvSpPr>
        <p:spPr>
          <a:xfrm>
            <a:off x="3703320" y="4224528"/>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45" name="Shape 43"/>
          <p:cNvSpPr/>
          <p:nvPr/>
        </p:nvSpPr>
        <p:spPr>
          <a:xfrm>
            <a:off x="274320" y="488289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46" name="Shape 44"/>
          <p:cNvSpPr/>
          <p:nvPr/>
        </p:nvSpPr>
        <p:spPr>
          <a:xfrm>
            <a:off x="960120" y="488289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47" name="Shape 45"/>
          <p:cNvSpPr/>
          <p:nvPr/>
        </p:nvSpPr>
        <p:spPr>
          <a:xfrm>
            <a:off x="1645920" y="488289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48" name="Shape 46"/>
          <p:cNvSpPr/>
          <p:nvPr/>
        </p:nvSpPr>
        <p:spPr>
          <a:xfrm>
            <a:off x="2331720" y="488289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49" name="Shape 47"/>
          <p:cNvSpPr/>
          <p:nvPr/>
        </p:nvSpPr>
        <p:spPr>
          <a:xfrm>
            <a:off x="3017520" y="488289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50" name="Shape 48"/>
          <p:cNvSpPr/>
          <p:nvPr/>
        </p:nvSpPr>
        <p:spPr>
          <a:xfrm>
            <a:off x="3703320" y="4882896"/>
            <a:ext cx="73152" cy="73152"/>
          </a:xfrm>
          <a:prstGeom prst="ellipse">
            <a:avLst/>
          </a:prstGeom>
          <a:solidFill>
            <a:srgbClr val="FF2222">
              <a:alpha val="50000"/>
            </a:srgbClr>
          </a:solidFill>
          <a:ln w="12700">
            <a:solidFill>
              <a:srgbClr val="FF2222">
                <a:alpha val="50000"/>
              </a:srgbClr>
            </a:solidFill>
            <a:prstDash val="solid"/>
          </a:ln>
        </p:spPr>
        <p:txBody>
          <a:bodyPr/>
          <a:lstStyle/>
          <a:p>
            <a:endParaRPr lang="en-US"/>
          </a:p>
        </p:txBody>
      </p:sp>
      <p:sp>
        <p:nvSpPr>
          <p:cNvPr id="51" name="Text 49"/>
          <p:cNvSpPr/>
          <p:nvPr/>
        </p:nvSpPr>
        <p:spPr>
          <a:xfrm>
            <a:off x="365760" y="1371600"/>
            <a:ext cx="3840480" cy="1371600"/>
          </a:xfrm>
          <a:prstGeom prst="rect">
            <a:avLst/>
          </a:prstGeom>
          <a:noFill/>
          <a:ln/>
        </p:spPr>
        <p:txBody>
          <a:bodyPr wrap="square" lIns="0" tIns="0" rIns="0" bIns="0" rtlCol="0" anchor="ctr"/>
          <a:lstStyle/>
          <a:p>
            <a:pPr marL="0" indent="0" algn="ctr">
              <a:buNone/>
            </a:pPr>
            <a:r>
              <a:rPr lang="en-US" sz="7200" b="1" dirty="0">
                <a:solidFill>
                  <a:srgbClr val="FFFFFF"/>
                </a:solidFill>
                <a:latin typeface="Calibri" pitchFamily="34" charset="0"/>
                <a:ea typeface="Calibri" pitchFamily="34" charset="-122"/>
                <a:cs typeface="Calibri" pitchFamily="34" charset="-120"/>
              </a:rPr>
              <a:t>Q&amp;A</a:t>
            </a:r>
            <a:endParaRPr lang="en-US" sz="7200" dirty="0"/>
          </a:p>
        </p:txBody>
      </p:sp>
      <p:sp>
        <p:nvSpPr>
          <p:cNvPr id="52" name="Text 50"/>
          <p:cNvSpPr/>
          <p:nvPr/>
        </p:nvSpPr>
        <p:spPr>
          <a:xfrm>
            <a:off x="365760" y="2743200"/>
            <a:ext cx="3840480" cy="411480"/>
          </a:xfrm>
          <a:prstGeom prst="rect">
            <a:avLst/>
          </a:prstGeom>
          <a:noFill/>
          <a:ln/>
        </p:spPr>
        <p:txBody>
          <a:bodyPr wrap="square" lIns="0" tIns="0" rIns="0" bIns="0" rtlCol="0" anchor="ctr"/>
          <a:lstStyle/>
          <a:p>
            <a:pPr marL="0" indent="0" algn="ctr">
              <a:buNone/>
            </a:pPr>
            <a:r>
              <a:rPr lang="en-US" sz="1600" dirty="0">
                <a:solidFill>
                  <a:srgbClr val="FFAAAA"/>
                </a:solidFill>
                <a:latin typeface="Calibri" pitchFamily="34" charset="0"/>
                <a:ea typeface="Calibri" pitchFamily="34" charset="-122"/>
                <a:cs typeface="Calibri" pitchFamily="34" charset="-120"/>
              </a:rPr>
              <a:t>Questions &amp; Discussion</a:t>
            </a:r>
            <a:endParaRPr lang="en-US" sz="1600" dirty="0"/>
          </a:p>
        </p:txBody>
      </p:sp>
      <p:pic>
        <p:nvPicPr>
          <p:cNvPr id="53" name="Image 0" descr="preencoded.png"/>
          <p:cNvPicPr>
            <a:picLocks noChangeAspect="1"/>
          </p:cNvPicPr>
          <p:nvPr/>
        </p:nvPicPr>
        <p:blipFill>
          <a:blip r:embed="rId3"/>
          <a:stretch>
            <a:fillRect/>
          </a:stretch>
        </p:blipFill>
        <p:spPr>
          <a:xfrm>
            <a:off x="4937760" y="274320"/>
            <a:ext cx="457200" cy="457200"/>
          </a:xfrm>
          <a:prstGeom prst="rect">
            <a:avLst/>
          </a:prstGeom>
        </p:spPr>
      </p:pic>
      <p:sp>
        <p:nvSpPr>
          <p:cNvPr id="54" name="Text 51"/>
          <p:cNvSpPr/>
          <p:nvPr/>
        </p:nvSpPr>
        <p:spPr>
          <a:xfrm>
            <a:off x="5468112" y="320040"/>
            <a:ext cx="32004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OpenShift VPA</a:t>
            </a:r>
            <a:endParaRPr lang="en-US" sz="1600" dirty="0"/>
          </a:p>
        </p:txBody>
      </p:sp>
      <p:sp>
        <p:nvSpPr>
          <p:cNvPr id="55" name="Text 52"/>
          <p:cNvSpPr/>
          <p:nvPr/>
        </p:nvSpPr>
        <p:spPr>
          <a:xfrm>
            <a:off x="5468112" y="658368"/>
            <a:ext cx="3383280" cy="274320"/>
          </a:xfrm>
          <a:prstGeom prst="rect">
            <a:avLst/>
          </a:prstGeom>
          <a:noFill/>
          <a:ln/>
        </p:spPr>
        <p:txBody>
          <a:bodyPr wrap="square" lIns="0" tIns="0" rIns="0" bIns="0" rtlCol="0" anchor="ctr"/>
          <a:lstStyle/>
          <a:p>
            <a:pPr marL="0" indent="0">
              <a:buNone/>
            </a:pPr>
            <a:r>
              <a:rPr lang="en-US" sz="1000" dirty="0">
                <a:solidFill>
                  <a:srgbClr val="6B6B6B"/>
                </a:solidFill>
                <a:latin typeface="Calibri" pitchFamily="34" charset="0"/>
                <a:ea typeface="Calibri" pitchFamily="34" charset="-122"/>
                <a:cs typeface="Calibri" pitchFamily="34" charset="-120"/>
              </a:rPr>
              <a:t>Step-by-Step Implementation</a:t>
            </a:r>
            <a:endParaRPr lang="en-US" sz="1000" dirty="0"/>
          </a:p>
        </p:txBody>
      </p:sp>
      <p:sp>
        <p:nvSpPr>
          <p:cNvPr id="56" name="Shape 53"/>
          <p:cNvSpPr/>
          <p:nvPr/>
        </p:nvSpPr>
        <p:spPr>
          <a:xfrm>
            <a:off x="4846320" y="1024128"/>
            <a:ext cx="4023360" cy="27432"/>
          </a:xfrm>
          <a:prstGeom prst="rect">
            <a:avLst/>
          </a:prstGeom>
          <a:solidFill>
            <a:srgbClr val="333333"/>
          </a:solidFill>
          <a:ln/>
        </p:spPr>
        <p:txBody>
          <a:bodyPr/>
          <a:lstStyle/>
          <a:p>
            <a:endParaRPr lang="en-US"/>
          </a:p>
        </p:txBody>
      </p:sp>
      <p:sp>
        <p:nvSpPr>
          <p:cNvPr id="57" name="Text 54"/>
          <p:cNvSpPr/>
          <p:nvPr/>
        </p:nvSpPr>
        <p:spPr>
          <a:xfrm>
            <a:off x="4892040" y="1143000"/>
            <a:ext cx="3200400" cy="274320"/>
          </a:xfrm>
          <a:prstGeom prst="rect">
            <a:avLst/>
          </a:prstGeom>
          <a:noFill/>
          <a:ln/>
        </p:spPr>
        <p:txBody>
          <a:bodyPr wrap="square" lIns="0" tIns="0" rIns="0" bIns="0" rtlCol="0" anchor="ctr"/>
          <a:lstStyle/>
          <a:p>
            <a:pPr marL="0" indent="0">
              <a:buNone/>
            </a:pPr>
            <a:r>
              <a:rPr lang="en-US" sz="1000" b="1" kern="0" spc="200" dirty="0">
                <a:solidFill>
                  <a:srgbClr val="CC0000"/>
                </a:solidFill>
                <a:latin typeface="Calibri" pitchFamily="34" charset="0"/>
                <a:ea typeface="Calibri" pitchFamily="34" charset="-122"/>
                <a:cs typeface="Calibri" pitchFamily="34" charset="-120"/>
              </a:rPr>
              <a:t>RESOURCES</a:t>
            </a:r>
            <a:endParaRPr lang="en-US" sz="1000" dirty="0"/>
          </a:p>
        </p:txBody>
      </p:sp>
      <p:sp>
        <p:nvSpPr>
          <p:cNvPr id="58" name="Shape 55"/>
          <p:cNvSpPr/>
          <p:nvPr/>
        </p:nvSpPr>
        <p:spPr>
          <a:xfrm>
            <a:off x="4919472" y="1508760"/>
            <a:ext cx="73152" cy="73152"/>
          </a:xfrm>
          <a:prstGeom prst="ellipse">
            <a:avLst/>
          </a:prstGeom>
          <a:solidFill>
            <a:srgbClr val="CC0000"/>
          </a:solidFill>
          <a:ln w="12700">
            <a:solidFill>
              <a:srgbClr val="CC0000"/>
            </a:solidFill>
            <a:prstDash val="solid"/>
          </a:ln>
        </p:spPr>
        <p:txBody>
          <a:bodyPr/>
          <a:lstStyle/>
          <a:p>
            <a:endParaRPr lang="en-US"/>
          </a:p>
        </p:txBody>
      </p:sp>
      <p:sp>
        <p:nvSpPr>
          <p:cNvPr id="59" name="Text 56"/>
          <p:cNvSpPr/>
          <p:nvPr/>
        </p:nvSpPr>
        <p:spPr>
          <a:xfrm>
            <a:off x="5056632" y="1463040"/>
            <a:ext cx="3749040" cy="274320"/>
          </a:xfrm>
          <a:prstGeom prst="rect">
            <a:avLst/>
          </a:prstGeom>
          <a:noFill/>
          <a:ln/>
        </p:spPr>
        <p:txBody>
          <a:bodyPr wrap="square" lIns="0" tIns="0" rIns="0" bIns="0" rtlCol="0" anchor="ctr"/>
          <a:lstStyle/>
          <a:p>
            <a:pPr marL="0" indent="0">
              <a:buNone/>
            </a:pPr>
            <a:r>
              <a:rPr lang="en-US" sz="850" dirty="0">
                <a:solidFill>
                  <a:srgbClr val="6B6B6B"/>
                </a:solidFill>
                <a:latin typeface="Calibri" pitchFamily="34" charset="0"/>
                <a:ea typeface="Calibri" pitchFamily="34" charset="-122"/>
                <a:cs typeface="Calibri" pitchFamily="34" charset="-120"/>
              </a:rPr>
              <a:t>docs.openshift.com/container-platform/vpa</a:t>
            </a:r>
            <a:endParaRPr lang="en-US" sz="850" dirty="0"/>
          </a:p>
        </p:txBody>
      </p:sp>
      <p:sp>
        <p:nvSpPr>
          <p:cNvPr id="60" name="Shape 57"/>
          <p:cNvSpPr/>
          <p:nvPr/>
        </p:nvSpPr>
        <p:spPr>
          <a:xfrm>
            <a:off x="4919472" y="1920240"/>
            <a:ext cx="73152" cy="73152"/>
          </a:xfrm>
          <a:prstGeom prst="ellipse">
            <a:avLst/>
          </a:prstGeom>
          <a:solidFill>
            <a:srgbClr val="CC0000"/>
          </a:solidFill>
          <a:ln w="12700">
            <a:solidFill>
              <a:srgbClr val="CC0000"/>
            </a:solidFill>
            <a:prstDash val="solid"/>
          </a:ln>
        </p:spPr>
        <p:txBody>
          <a:bodyPr/>
          <a:lstStyle/>
          <a:p>
            <a:endParaRPr lang="en-US"/>
          </a:p>
        </p:txBody>
      </p:sp>
      <p:sp>
        <p:nvSpPr>
          <p:cNvPr id="61" name="Text 58"/>
          <p:cNvSpPr/>
          <p:nvPr/>
        </p:nvSpPr>
        <p:spPr>
          <a:xfrm>
            <a:off x="5056632" y="1874520"/>
            <a:ext cx="3749040" cy="274320"/>
          </a:xfrm>
          <a:prstGeom prst="rect">
            <a:avLst/>
          </a:prstGeom>
          <a:noFill/>
          <a:ln/>
        </p:spPr>
        <p:txBody>
          <a:bodyPr wrap="square" lIns="0" tIns="0" rIns="0" bIns="0" rtlCol="0" anchor="ctr"/>
          <a:lstStyle/>
          <a:p>
            <a:pPr marL="0" indent="0">
              <a:buNone/>
            </a:pPr>
            <a:r>
              <a:rPr lang="en-US" sz="850" dirty="0">
                <a:solidFill>
                  <a:srgbClr val="6B6B6B"/>
                </a:solidFill>
                <a:latin typeface="Calibri" pitchFamily="34" charset="0"/>
                <a:ea typeface="Calibri" pitchFamily="34" charset="-122"/>
                <a:cs typeface="Calibri" pitchFamily="34" charset="-120"/>
              </a:rPr>
              <a:t>kubernetes.io/docs/tasks/configure-pod-container/resize-container-resources</a:t>
            </a:r>
            <a:endParaRPr lang="en-US" sz="850" dirty="0"/>
          </a:p>
        </p:txBody>
      </p:sp>
      <p:sp>
        <p:nvSpPr>
          <p:cNvPr id="62" name="Shape 59"/>
          <p:cNvSpPr/>
          <p:nvPr/>
        </p:nvSpPr>
        <p:spPr>
          <a:xfrm>
            <a:off x="4919472" y="2331720"/>
            <a:ext cx="73152" cy="73152"/>
          </a:xfrm>
          <a:prstGeom prst="ellipse">
            <a:avLst/>
          </a:prstGeom>
          <a:solidFill>
            <a:srgbClr val="CC0000"/>
          </a:solidFill>
          <a:ln w="12700">
            <a:solidFill>
              <a:srgbClr val="CC0000"/>
            </a:solidFill>
            <a:prstDash val="solid"/>
          </a:ln>
        </p:spPr>
        <p:txBody>
          <a:bodyPr/>
          <a:lstStyle/>
          <a:p>
            <a:endParaRPr lang="en-US"/>
          </a:p>
        </p:txBody>
      </p:sp>
      <p:sp>
        <p:nvSpPr>
          <p:cNvPr id="63" name="Text 60"/>
          <p:cNvSpPr/>
          <p:nvPr/>
        </p:nvSpPr>
        <p:spPr>
          <a:xfrm>
            <a:off x="5056632" y="2286000"/>
            <a:ext cx="3749040" cy="274320"/>
          </a:xfrm>
          <a:prstGeom prst="rect">
            <a:avLst/>
          </a:prstGeom>
          <a:noFill/>
          <a:ln/>
        </p:spPr>
        <p:txBody>
          <a:bodyPr wrap="square" lIns="0" tIns="0" rIns="0" bIns="0" rtlCol="0" anchor="ctr"/>
          <a:lstStyle/>
          <a:p>
            <a:pPr marL="0" indent="0">
              <a:buNone/>
            </a:pPr>
            <a:r>
              <a:rPr lang="en-US" sz="850" dirty="0">
                <a:solidFill>
                  <a:srgbClr val="6B6B6B"/>
                </a:solidFill>
                <a:latin typeface="Calibri" pitchFamily="34" charset="0"/>
                <a:ea typeface="Calibri" pitchFamily="34" charset="-122"/>
                <a:cs typeface="Calibri" pitchFamily="34" charset="-120"/>
              </a:rPr>
              <a:t>github.com/kubernetes/autoscaler/tree/master/vertical-pod-autoscaler</a:t>
            </a:r>
            <a:endParaRPr lang="en-US" sz="850" dirty="0"/>
          </a:p>
        </p:txBody>
      </p:sp>
      <p:sp>
        <p:nvSpPr>
          <p:cNvPr id="64" name="Shape 61"/>
          <p:cNvSpPr/>
          <p:nvPr/>
        </p:nvSpPr>
        <p:spPr>
          <a:xfrm>
            <a:off x="4919472" y="2743200"/>
            <a:ext cx="73152" cy="73152"/>
          </a:xfrm>
          <a:prstGeom prst="ellipse">
            <a:avLst/>
          </a:prstGeom>
          <a:solidFill>
            <a:srgbClr val="CC0000"/>
          </a:solidFill>
          <a:ln w="12700">
            <a:solidFill>
              <a:srgbClr val="CC0000"/>
            </a:solidFill>
            <a:prstDash val="solid"/>
          </a:ln>
        </p:spPr>
        <p:txBody>
          <a:bodyPr/>
          <a:lstStyle/>
          <a:p>
            <a:endParaRPr lang="en-US"/>
          </a:p>
        </p:txBody>
      </p:sp>
      <p:sp>
        <p:nvSpPr>
          <p:cNvPr id="65" name="Text 62"/>
          <p:cNvSpPr/>
          <p:nvPr/>
        </p:nvSpPr>
        <p:spPr>
          <a:xfrm>
            <a:off x="5056632" y="2697480"/>
            <a:ext cx="3749040" cy="274320"/>
          </a:xfrm>
          <a:prstGeom prst="rect">
            <a:avLst/>
          </a:prstGeom>
          <a:noFill/>
          <a:ln/>
        </p:spPr>
        <p:txBody>
          <a:bodyPr wrap="square" lIns="0" tIns="0" rIns="0" bIns="0" rtlCol="0" anchor="ctr"/>
          <a:lstStyle/>
          <a:p>
            <a:pPr marL="0" indent="0">
              <a:buNone/>
            </a:pPr>
            <a:r>
              <a:rPr lang="en-US" sz="850" dirty="0">
                <a:solidFill>
                  <a:srgbClr val="6B6B6B"/>
                </a:solidFill>
                <a:latin typeface="Calibri" pitchFamily="34" charset="0"/>
                <a:ea typeface="Calibri" pitchFamily="34" charset="-122"/>
                <a:cs typeface="Calibri" pitchFamily="34" charset="-120"/>
              </a:rPr>
              <a:t>access.redhat.com/documentation/openshift</a:t>
            </a:r>
            <a:endParaRPr lang="en-US" sz="850" dirty="0"/>
          </a:p>
        </p:txBody>
      </p:sp>
      <p:sp>
        <p:nvSpPr>
          <p:cNvPr id="66" name="Shape 63"/>
          <p:cNvSpPr/>
          <p:nvPr/>
        </p:nvSpPr>
        <p:spPr>
          <a:xfrm>
            <a:off x="4846320" y="3246120"/>
            <a:ext cx="4023360" cy="27432"/>
          </a:xfrm>
          <a:prstGeom prst="rect">
            <a:avLst/>
          </a:prstGeom>
          <a:solidFill>
            <a:srgbClr val="333333"/>
          </a:solidFill>
          <a:ln/>
        </p:spPr>
        <p:txBody>
          <a:bodyPr/>
          <a:lstStyle/>
          <a:p>
            <a:endParaRPr lang="en-US"/>
          </a:p>
        </p:txBody>
      </p:sp>
      <p:sp>
        <p:nvSpPr>
          <p:cNvPr id="67" name="Shape 64"/>
          <p:cNvSpPr/>
          <p:nvPr/>
        </p:nvSpPr>
        <p:spPr>
          <a:xfrm>
            <a:off x="4846320" y="3337560"/>
            <a:ext cx="4023360" cy="1600200"/>
          </a:xfrm>
          <a:prstGeom prst="rect">
            <a:avLst/>
          </a:prstGeom>
          <a:solidFill>
            <a:srgbClr val="0D0D0D"/>
          </a:solidFill>
          <a:ln w="6350">
            <a:solidFill>
              <a:srgbClr val="333333"/>
            </a:solidFill>
            <a:prstDash val="solid"/>
          </a:ln>
        </p:spPr>
        <p:txBody>
          <a:bodyPr/>
          <a:lstStyle/>
          <a:p>
            <a:endParaRPr lang="en-US"/>
          </a:p>
        </p:txBody>
      </p:sp>
      <p:sp>
        <p:nvSpPr>
          <p:cNvPr id="68" name="Text 65"/>
          <p:cNvSpPr/>
          <p:nvPr/>
        </p:nvSpPr>
        <p:spPr>
          <a:xfrm>
            <a:off x="4983480" y="3401568"/>
            <a:ext cx="347472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Workshop Summary</a:t>
            </a:r>
            <a:endParaRPr lang="en-US" sz="1000" dirty="0"/>
          </a:p>
        </p:txBody>
      </p:sp>
      <p:pic>
        <p:nvPicPr>
          <p:cNvPr id="69" name="Image 1" descr="preencoded.png"/>
          <p:cNvPicPr>
            <a:picLocks noChangeAspect="1"/>
          </p:cNvPicPr>
          <p:nvPr/>
        </p:nvPicPr>
        <p:blipFill>
          <a:blip r:embed="rId4"/>
          <a:stretch>
            <a:fillRect/>
          </a:stretch>
        </p:blipFill>
        <p:spPr>
          <a:xfrm>
            <a:off x="4956048" y="3730752"/>
            <a:ext cx="201168" cy="201168"/>
          </a:xfrm>
          <a:prstGeom prst="rect">
            <a:avLst/>
          </a:prstGeom>
        </p:spPr>
      </p:pic>
      <p:sp>
        <p:nvSpPr>
          <p:cNvPr id="70" name="Text 66"/>
          <p:cNvSpPr/>
          <p:nvPr/>
        </p:nvSpPr>
        <p:spPr>
          <a:xfrm>
            <a:off x="5212080" y="3749040"/>
            <a:ext cx="3566160" cy="219456"/>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Deployed cpu-app with intentionally low 50m CPU</a:t>
            </a:r>
            <a:endParaRPr lang="en-US" sz="900" dirty="0"/>
          </a:p>
        </p:txBody>
      </p:sp>
      <p:pic>
        <p:nvPicPr>
          <p:cNvPr id="71" name="Image 2" descr="preencoded.png"/>
          <p:cNvPicPr>
            <a:picLocks noChangeAspect="1"/>
          </p:cNvPicPr>
          <p:nvPr/>
        </p:nvPicPr>
        <p:blipFill>
          <a:blip r:embed="rId4"/>
          <a:stretch>
            <a:fillRect/>
          </a:stretch>
        </p:blipFill>
        <p:spPr>
          <a:xfrm>
            <a:off x="4956048" y="4032504"/>
            <a:ext cx="201168" cy="201168"/>
          </a:xfrm>
          <a:prstGeom prst="rect">
            <a:avLst/>
          </a:prstGeom>
        </p:spPr>
      </p:pic>
      <p:sp>
        <p:nvSpPr>
          <p:cNvPr id="72" name="Text 67"/>
          <p:cNvSpPr/>
          <p:nvPr/>
        </p:nvSpPr>
        <p:spPr>
          <a:xfrm>
            <a:off x="5212080" y="4050792"/>
            <a:ext cx="3566160" cy="219456"/>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Applied VPA and observed 500m recommendation</a:t>
            </a:r>
            <a:endParaRPr lang="en-US" sz="900" dirty="0"/>
          </a:p>
        </p:txBody>
      </p:sp>
      <p:pic>
        <p:nvPicPr>
          <p:cNvPr id="73" name="Image 3" descr="preencoded.png"/>
          <p:cNvPicPr>
            <a:picLocks noChangeAspect="1"/>
          </p:cNvPicPr>
          <p:nvPr/>
        </p:nvPicPr>
        <p:blipFill>
          <a:blip r:embed="rId4"/>
          <a:stretch>
            <a:fillRect/>
          </a:stretch>
        </p:blipFill>
        <p:spPr>
          <a:xfrm>
            <a:off x="4956048" y="4334256"/>
            <a:ext cx="201168" cy="201168"/>
          </a:xfrm>
          <a:prstGeom prst="rect">
            <a:avLst/>
          </a:prstGeom>
        </p:spPr>
      </p:pic>
      <p:sp>
        <p:nvSpPr>
          <p:cNvPr id="74" name="Text 68"/>
          <p:cNvSpPr/>
          <p:nvPr/>
        </p:nvSpPr>
        <p:spPr>
          <a:xfrm>
            <a:off x="5212080" y="4352544"/>
            <a:ext cx="3566160" cy="219456"/>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Explored minAllowed / maxAllowed governance</a:t>
            </a:r>
            <a:endParaRPr lang="en-US" sz="900" dirty="0"/>
          </a:p>
        </p:txBody>
      </p:sp>
      <p:pic>
        <p:nvPicPr>
          <p:cNvPr id="75" name="Image 4" descr="preencoded.png"/>
          <p:cNvPicPr>
            <a:picLocks noChangeAspect="1"/>
          </p:cNvPicPr>
          <p:nvPr/>
        </p:nvPicPr>
        <p:blipFill>
          <a:blip r:embed="rId4"/>
          <a:stretch>
            <a:fillRect/>
          </a:stretch>
        </p:blipFill>
        <p:spPr>
          <a:xfrm>
            <a:off x="4956048" y="4636008"/>
            <a:ext cx="201168" cy="201168"/>
          </a:xfrm>
          <a:prstGeom prst="rect">
            <a:avLst/>
          </a:prstGeom>
        </p:spPr>
      </p:pic>
      <p:sp>
        <p:nvSpPr>
          <p:cNvPr id="76" name="Text 69"/>
          <p:cNvSpPr/>
          <p:nvPr/>
        </p:nvSpPr>
        <p:spPr>
          <a:xfrm>
            <a:off x="5212080" y="4654296"/>
            <a:ext cx="3566160" cy="219456"/>
          </a:xfrm>
          <a:prstGeom prst="rect">
            <a:avLst/>
          </a:prstGeom>
          <a:noFill/>
          <a:ln/>
        </p:spPr>
        <p:txBody>
          <a:bodyPr wrap="square" lIns="0" tIns="0" rIns="0" bIns="0" rtlCol="0" anchor="ctr"/>
          <a:lstStyle/>
          <a:p>
            <a:pPr marL="0" indent="0">
              <a:buNone/>
            </a:pPr>
            <a:r>
              <a:rPr lang="en-US" sz="900" dirty="0">
                <a:solidFill>
                  <a:srgbClr val="D8D8D8"/>
                </a:solidFill>
                <a:latin typeface="Calibri" pitchFamily="34" charset="0"/>
                <a:ea typeface="Calibri" pitchFamily="34" charset="-122"/>
                <a:cs typeface="Calibri" pitchFamily="34" charset="-120"/>
              </a:rPr>
              <a:t>Wired Prometheus + Grafana for observability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difference between liveness and readiness pro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6158240" cy="3225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4755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1546</Words>
  <Application>Microsoft Office PowerPoint</Application>
  <PresentationFormat>On-screen Show (16:9)</PresentationFormat>
  <Paragraphs>240</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OpenShift VPA – Step-by-Step Implementation</dc:title>
  <dc:subject>PptxGenJS Presentation</dc:subject>
  <dc:creator>Red Hat OpenShift</dc:creator>
  <cp:lastModifiedBy>Office</cp:lastModifiedBy>
  <cp:revision>6</cp:revision>
  <dcterms:created xsi:type="dcterms:W3CDTF">2026-05-16T18:45:51Z</dcterms:created>
  <dcterms:modified xsi:type="dcterms:W3CDTF">2026-05-18T17:15:37Z</dcterms:modified>
</cp:coreProperties>
</file>